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project in one sentence: MeetingAI listens to a meeting (audio or transcript) and turns it into who-said-what, a summary, action items with owners and deadlines, decisions, calendar events, a chat you can ask questions to, and professional minutes. It is live on Streamlit Community Cloud.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parts, roughly in the order the data flows through the system: problem, idea, architecture, NLP, LLM, speakers/search, product, and engineering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been in the meeting where nobody remembers who owned the follow-up. Our rule from day one: when the system does not know, it says so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nine capabilities quickly - each one has its own screen later in the deck. Stress that everything runs on free tiers.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user actually does. Everything between step 1 and step 3 happens automatically in the pipeline we explain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design decision. LLMs alone are impressive but can invent things; classical NLP alone is explainable but rigid. We use each for what it is best at and let plain code verify the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top to bottom. The UI layer calls pure-Python modules in core/. core/ reads and writes SQLite and ChromaDB, and optionally calls free external APIs. Nothing in core/ imports a Streamlit page and only db.py writes SQL.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3 and 4 only apply to audio/video - a text transcript skips them. Steps 7-10 are the NLP + LLM heart of the project and are explained in detail in the next sections. The whole thing runs automatically after one click.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upload screen. Emphasise the chunking decision: free API plans limit file size, so audio is compressed to 32 kbps mono and cut into 10-minute pieces - speech quality is unaffected.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separate training job. When the app starts it generates 610 template sentences, trains the model in about a second and caches it. Be honest about why: no labelled meeting corpus is available, so templates give a working baseline, and the NLP Lab measures it on 42 hand-written sentences that are NOT in the training 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sentence is judged by a rules expert (weighted regex cues such as 'will', 'by Friday', 'we decided') and a statistics expert (Naive Bayes). Their scores are averaged 50/50 because Naive Bayes alone is over-confident. Hedged language ('maybe', 'might') multiplies the score by 0.8.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extracted owner and date carries its own confidence. The gateway later uses these numbers to decide whether to trust the NLP or ask the LLM. Note that vague deadlines are deliberately left empty.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hybrid. Four yes/no questions are asked about every candidate. If all four pass, the classical result is accepted for free. If any fails it simply means 'not sure' - not 'wrong' - and the item is sent to ONE batched LLM call. With no LLM configured, items scoring at least 0.55 are kept but marked Needs review.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rows. Row 2: the sentence is clearly a task (score 0.87) but there is no owner word, so Q3 fails and the LLM is asked. Row 4: 'we' means nobody specific, and 'soon' is vague, yet that does not fail Q4 on purpose - an LLM cannot invent a date that was never said.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free service is reliable enough, so llm.py tries providers in order. A rate limit (HTTP 429) puts a provider on a 45-second cool-down and the next is tried. Gemini is preferred for very long transcripts because of its large context window.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LLM is never trusted as an authority - it is a language engine. The prompts force it to quote the transcript verbatim and to copy date phrases rather than compute dates; that is what makes mechanical validation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pipeline.py checks everything the LLM returns against the real transcript before saving. This is why the system is safe to rely on: a hallucinated task has no matching quote and is dropped.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Whisper gives words with timestamps but not speakers; pyannote gives speaker turns but not words. We align them: each word goes to the speaker turn that contains its midpoint. Names are then suggested from three sources, and the user always confirms.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stores, each for what it does best. SQLite is the source of truth for structured data and also provides FTS5 keyword search. ChromaDB stores meaning vectors for semantic search. We deliberately avoid Postgres/Supabase to stay free and self-contained.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Retrieval-augmented generation with two safety gates. Hybrid retrieval combines meaning search and keyword search with Reciprocal Rank Fusion. A relevance gate refuses to answer, without calling the LLM, if nothing relevant was retrieved. Finally citations are verified against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question needs retrieval. 'Who is responsible for the report?' is answered straight from the tasks table; 'Who said budget?' uses hybrid search. Routing by intent makes answers faster and more accurate.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live demo here. Show that the numbers are real data from the processed meetings.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'How it was analysed' tab is the transparency feature - it shows the gateway reason codes for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pyannote feature - names rather than 'Speaker 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one task and show its evidence quote and method badge.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are only applied after the user confirms.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Tasks from every meeting appear here.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ASSUMPTION: links and .ics files instead of OAuth - simpler, safer, works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are generated only when asked - a deliberate choice so nothing is shared unreviewed.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SMTP details are typed in Settings or stored as secrets - never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principle: side effects need an explicit click.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what makes the project NLP-centric rather than 'just an LLM wrapper'.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choice answers the same constraints: free to run, fits in about 1 GB of memory, and easy to deploy. For example ONNX embeddings instead of PyTorch, and hosted pyannoteAI instead of a local GPU model.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assumption is documented with its reason and where to change it. The full table of 23 assumptions is in section 16 of the written report.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assumption is documented with its reason and where to change it. The full table of 23 assumptions is in section 16 of the written report.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assumption is documented with its reason and where to change it. The full table of 23 assumptions is in section 16 of the written report.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here is mostly about not doing unrequested things. Keys never reach the database or repository; side effects need a click; and the system says 'I don't know' rather than inventing.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deployment flow is just git push. Streamlit Cloud installs requirements.txt (Python) and packages.txt (FFmpeg), runs app.py, and redeploys on every push. API keys live in the app's Secrets box.</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numbers and the three-line takeaway.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The live app and the source code are linked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1828800" y="-2743200"/>
            <a:ext cx="7315200" cy="73152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2926080"/>
            <a:ext cx="6858000" cy="685800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548640"/>
            <a:ext cx="566928" cy="566928"/>
          </a:xfrm>
          <a:prstGeom prst="roundRect">
            <a:avLst>
              <a:gd name="adj" fmla="val 25000"/>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48640"/>
            <a:ext cx="566928" cy="566928"/>
          </a:xfrm>
          <a:prstGeom prst="rect">
            <a:avLst/>
          </a:prstGeom>
          <a:noFill/>
        </p:spPr>
        <p:txBody>
          <a:bodyPr wrap="square" lIns="36576" rIns="36576" tIns="18288" bIns="18288" anchor="ctr">
            <a:spAutoFit/>
          </a:bodyPr>
          <a:lstStyle/>
          <a:p>
            <a:pPr algn="ctr"/>
            <a:r>
              <a:rPr sz="1400" b="1" i="0">
                <a:solidFill>
                  <a:srgbClr val="FFFFFF"/>
                </a:solidFill>
                <a:latin typeface="Segoe UI"/>
              </a:rPr>
              <a:t>|||</a:t>
            </a:r>
          </a:p>
        </p:txBody>
      </p:sp>
      <p:sp>
        <p:nvSpPr>
          <p:cNvPr id="8" name="TextBox 7"/>
          <p:cNvSpPr txBox="1"/>
          <p:nvPr/>
        </p:nvSpPr>
        <p:spPr>
          <a:xfrm>
            <a:off x="1325880" y="512064"/>
            <a:ext cx="3657600" cy="365760"/>
          </a:xfrm>
          <a:prstGeom prst="rect">
            <a:avLst/>
          </a:prstGeom>
          <a:noFill/>
        </p:spPr>
        <p:txBody>
          <a:bodyPr wrap="square" lIns="36576" rIns="36576" tIns="18288" bIns="18288" anchor="t">
            <a:spAutoFit/>
          </a:bodyPr>
          <a:lstStyle/>
          <a:p>
            <a:pPr algn="l"/>
            <a:r>
              <a:rPr sz="2000" b="1" i="0">
                <a:solidFill>
                  <a:srgbClr val="FFFFFF"/>
                </a:solidFill>
                <a:latin typeface="Segoe UI"/>
              </a:rPr>
              <a:t>MeetingAI</a:t>
            </a:r>
          </a:p>
        </p:txBody>
      </p:sp>
      <p:sp>
        <p:nvSpPr>
          <p:cNvPr id="9" name="TextBox 8"/>
          <p:cNvSpPr txBox="1"/>
          <p:nvPr/>
        </p:nvSpPr>
        <p:spPr>
          <a:xfrm>
            <a:off x="1325880" y="841248"/>
            <a:ext cx="3657600" cy="274320"/>
          </a:xfrm>
          <a:prstGeom prst="rect">
            <a:avLst/>
          </a:prstGeom>
          <a:noFill/>
        </p:spPr>
        <p:txBody>
          <a:bodyPr wrap="square" lIns="36576" rIns="36576" tIns="18288" bIns="18288" anchor="t">
            <a:spAutoFit/>
          </a:bodyPr>
          <a:lstStyle/>
          <a:p>
            <a:pPr algn="l"/>
            <a:r>
              <a:rPr sz="900" b="0" i="0">
                <a:solidFill>
                  <a:srgbClr val="8E99E0"/>
                </a:solidFill>
                <a:latin typeface="Segoe UI"/>
              </a:rPr>
              <a:t>MEETING INTELLIGENCE</a:t>
            </a:r>
          </a:p>
        </p:txBody>
      </p:sp>
      <p:sp>
        <p:nvSpPr>
          <p:cNvPr id="10" name="TextBox 9"/>
          <p:cNvSpPr txBox="1"/>
          <p:nvPr/>
        </p:nvSpPr>
        <p:spPr>
          <a:xfrm>
            <a:off x="640080" y="1783080"/>
            <a:ext cx="5852160" cy="365760"/>
          </a:xfrm>
          <a:prstGeom prst="rect">
            <a:avLst/>
          </a:prstGeom>
          <a:noFill/>
        </p:spPr>
        <p:txBody>
          <a:bodyPr wrap="square" lIns="36576" rIns="36576" tIns="18288" bIns="18288" anchor="t">
            <a:spAutoFit/>
          </a:bodyPr>
          <a:lstStyle/>
          <a:p>
            <a:pPr algn="l"/>
            <a:r>
              <a:rPr sz="1200" b="1" i="0">
                <a:solidFill>
                  <a:srgbClr val="A78BFA"/>
                </a:solidFill>
                <a:latin typeface="Segoe UI"/>
              </a:rPr>
              <a:t>HYBRID NLP + LLM  ·  PROJECT PRESENTATION</a:t>
            </a:r>
          </a:p>
        </p:txBody>
      </p:sp>
      <p:sp>
        <p:nvSpPr>
          <p:cNvPr id="11" name="TextBox 10"/>
          <p:cNvSpPr txBox="1"/>
          <p:nvPr/>
        </p:nvSpPr>
        <p:spPr>
          <a:xfrm>
            <a:off x="640080" y="2148840"/>
            <a:ext cx="5852160" cy="1737360"/>
          </a:xfrm>
          <a:prstGeom prst="rect">
            <a:avLst/>
          </a:prstGeom>
          <a:noFill/>
        </p:spPr>
        <p:txBody>
          <a:bodyPr wrap="square" lIns="36576" rIns="36576" tIns="18288" bIns="18288" anchor="t">
            <a:spAutoFit/>
          </a:bodyPr>
          <a:lstStyle/>
          <a:p>
            <a:pPr algn="l"/>
            <a:r>
              <a:rPr sz="3600" b="1" i="0">
                <a:solidFill>
                  <a:srgbClr val="FFFFFF"/>
                </a:solidFill>
                <a:latin typeface="Segoe UI"/>
              </a:rPr>
              <a:t>Turn every meeting</a:t>
            </a:r>
          </a:p>
          <a:p>
            <a:pPr algn="l"/>
            <a:r>
              <a:rPr sz="3600" b="1" i="0">
                <a:solidFill>
                  <a:srgbClr val="FFFFFF"/>
                </a:solidFill>
                <a:latin typeface="Segoe UI"/>
              </a:rPr>
              <a:t>into decisions,</a:t>
            </a:r>
          </a:p>
          <a:p>
            <a:pPr algn="l"/>
            <a:r>
              <a:rPr sz="3600" b="1" i="0">
                <a:solidFill>
                  <a:srgbClr val="A78BFA"/>
                </a:solidFill>
                <a:latin typeface="Segoe UI"/>
              </a:rPr>
              <a:t>tasks and answers</a:t>
            </a:r>
          </a:p>
        </p:txBody>
      </p:sp>
      <p:sp>
        <p:nvSpPr>
          <p:cNvPr id="12" name="TextBox 11"/>
          <p:cNvSpPr txBox="1"/>
          <p:nvPr/>
        </p:nvSpPr>
        <p:spPr>
          <a:xfrm>
            <a:off x="640080" y="4023360"/>
            <a:ext cx="5394960" cy="822960"/>
          </a:xfrm>
          <a:prstGeom prst="rect">
            <a:avLst/>
          </a:prstGeom>
          <a:noFill/>
        </p:spPr>
        <p:txBody>
          <a:bodyPr wrap="square" lIns="36576" rIns="36576" tIns="18288" bIns="18288" anchor="t">
            <a:spAutoFit/>
          </a:bodyPr>
          <a:lstStyle/>
          <a:p>
            <a:pPr algn="l"/>
            <a:r>
              <a:rPr sz="1400" b="0" i="0">
                <a:solidFill>
                  <a:srgbClr val="C9D0FF"/>
                </a:solidFill>
                <a:latin typeface="Segoe UI"/>
              </a:rPr>
              <a:t>Upload a recording or transcript - get speaker names, a summary, action items with owners and deadlines, a calendar, chat and ready-to-send minutes.</a:t>
            </a:r>
          </a:p>
        </p:txBody>
      </p:sp>
      <p:sp>
        <p:nvSpPr>
          <p:cNvPr id="13" name="Rectangle 12"/>
          <p:cNvSpPr/>
          <p:nvPr/>
        </p:nvSpPr>
        <p:spPr>
          <a:xfrm>
            <a:off x="640080" y="4983480"/>
            <a:ext cx="1280160" cy="45720"/>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120640"/>
            <a:ext cx="3657600" cy="274320"/>
          </a:xfrm>
          <a:prstGeom prst="rect">
            <a:avLst/>
          </a:prstGeom>
          <a:noFill/>
        </p:spPr>
        <p:txBody>
          <a:bodyPr wrap="square" lIns="36576" rIns="36576" tIns="18288" bIns="18288" anchor="t">
            <a:spAutoFit/>
          </a:bodyPr>
          <a:lstStyle/>
          <a:p>
            <a:pPr algn="l"/>
            <a:r>
              <a:rPr sz="900" b="1" i="0">
                <a:solidFill>
                  <a:srgbClr val="8E99E0"/>
                </a:solidFill>
                <a:latin typeface="Segoe UI"/>
              </a:rPr>
              <a:t>TEAM</a:t>
            </a:r>
          </a:p>
        </p:txBody>
      </p:sp>
      <p:sp>
        <p:nvSpPr>
          <p:cNvPr id="15" name="TextBox 14"/>
          <p:cNvSpPr txBox="1"/>
          <p:nvPr/>
        </p:nvSpPr>
        <p:spPr>
          <a:xfrm>
            <a:off x="640080" y="5376672"/>
            <a:ext cx="2834640" cy="310896"/>
          </a:xfrm>
          <a:prstGeom prst="rect">
            <a:avLst/>
          </a:prstGeom>
          <a:noFill/>
        </p:spPr>
        <p:txBody>
          <a:bodyPr wrap="square" lIns="36576" rIns="36576" tIns="18288" bIns="18288" anchor="t">
            <a:spAutoFit/>
          </a:bodyPr>
          <a:lstStyle/>
          <a:p>
            <a:pPr algn="l"/>
            <a:r>
              <a:rPr sz="1250" b="0" i="0">
                <a:solidFill>
                  <a:srgbClr val="FFFFFF"/>
                </a:solidFill>
                <a:latin typeface="Segoe UI"/>
              </a:rPr>
              <a:t>Nidhi Tiwari  </a:t>
            </a:r>
            <a:r>
              <a:rPr sz="1250" b="1" i="0">
                <a:solidFill>
                  <a:srgbClr val="A78BFA"/>
                </a:solidFill>
                <a:latin typeface="Segoe UI"/>
              </a:rPr>
              <a:t>A033</a:t>
            </a:r>
          </a:p>
        </p:txBody>
      </p:sp>
      <p:sp>
        <p:nvSpPr>
          <p:cNvPr id="16" name="TextBox 15"/>
          <p:cNvSpPr txBox="1"/>
          <p:nvPr/>
        </p:nvSpPr>
        <p:spPr>
          <a:xfrm>
            <a:off x="3474720" y="5376672"/>
            <a:ext cx="2834640" cy="310896"/>
          </a:xfrm>
          <a:prstGeom prst="rect">
            <a:avLst/>
          </a:prstGeom>
          <a:noFill/>
        </p:spPr>
        <p:txBody>
          <a:bodyPr wrap="square" lIns="36576" rIns="36576" tIns="18288" bIns="18288" anchor="t">
            <a:spAutoFit/>
          </a:bodyPr>
          <a:lstStyle/>
          <a:p>
            <a:pPr algn="l"/>
            <a:r>
              <a:rPr sz="1250" b="0" i="0">
                <a:solidFill>
                  <a:srgbClr val="FFFFFF"/>
                </a:solidFill>
                <a:latin typeface="Segoe UI"/>
              </a:rPr>
              <a:t>Dhruvi Devalia  </a:t>
            </a:r>
            <a:r>
              <a:rPr sz="1250" b="1" i="0">
                <a:solidFill>
                  <a:srgbClr val="A78BFA"/>
                </a:solidFill>
                <a:latin typeface="Segoe UI"/>
              </a:rPr>
              <a:t>A044</a:t>
            </a:r>
          </a:p>
        </p:txBody>
      </p:sp>
      <p:sp>
        <p:nvSpPr>
          <p:cNvPr id="17" name="TextBox 16"/>
          <p:cNvSpPr txBox="1"/>
          <p:nvPr/>
        </p:nvSpPr>
        <p:spPr>
          <a:xfrm>
            <a:off x="640080" y="5705856"/>
            <a:ext cx="2834640" cy="310896"/>
          </a:xfrm>
          <a:prstGeom prst="rect">
            <a:avLst/>
          </a:prstGeom>
          <a:noFill/>
        </p:spPr>
        <p:txBody>
          <a:bodyPr wrap="square" lIns="36576" rIns="36576" tIns="18288" bIns="18288" anchor="t">
            <a:spAutoFit/>
          </a:bodyPr>
          <a:lstStyle/>
          <a:p>
            <a:pPr algn="l"/>
            <a:r>
              <a:rPr sz="1250" b="0" i="0">
                <a:solidFill>
                  <a:srgbClr val="FFFFFF"/>
                </a:solidFill>
                <a:latin typeface="Segoe UI"/>
              </a:rPr>
              <a:t>Jivesh Gawde  </a:t>
            </a:r>
            <a:r>
              <a:rPr sz="1250" b="1" i="0">
                <a:solidFill>
                  <a:srgbClr val="A78BFA"/>
                </a:solidFill>
                <a:latin typeface="Segoe UI"/>
              </a:rPr>
              <a:t>A057</a:t>
            </a:r>
          </a:p>
        </p:txBody>
      </p:sp>
      <p:sp>
        <p:nvSpPr>
          <p:cNvPr id="18" name="TextBox 17"/>
          <p:cNvSpPr txBox="1"/>
          <p:nvPr/>
        </p:nvSpPr>
        <p:spPr>
          <a:xfrm>
            <a:off x="3474720" y="5705856"/>
            <a:ext cx="2834640" cy="310896"/>
          </a:xfrm>
          <a:prstGeom prst="rect">
            <a:avLst/>
          </a:prstGeom>
          <a:noFill/>
        </p:spPr>
        <p:txBody>
          <a:bodyPr wrap="square" lIns="36576" rIns="36576" tIns="18288" bIns="18288" anchor="t">
            <a:spAutoFit/>
          </a:bodyPr>
          <a:lstStyle/>
          <a:p>
            <a:pPr algn="l"/>
            <a:r>
              <a:rPr sz="1250" b="0" i="0">
                <a:solidFill>
                  <a:srgbClr val="FFFFFF"/>
                </a:solidFill>
                <a:latin typeface="Segoe UI"/>
              </a:rPr>
              <a:t>Yashika Parmar  </a:t>
            </a:r>
            <a:r>
              <a:rPr sz="1250" b="1" i="0">
                <a:solidFill>
                  <a:srgbClr val="A78BFA"/>
                </a:solidFill>
                <a:latin typeface="Segoe UI"/>
              </a:rPr>
              <a:t>A061</a:t>
            </a:r>
          </a:p>
        </p:txBody>
      </p:sp>
      <p:pic>
        <p:nvPicPr>
          <p:cNvPr id="19" name="Picture 18" descr="01_dashboard.jpg"/>
          <p:cNvPicPr>
            <a:picLocks noChangeAspect="1"/>
          </p:cNvPicPr>
          <p:nvPr/>
        </p:nvPicPr>
        <p:blipFill>
          <a:blip r:embed="rId2"/>
          <a:stretch>
            <a:fillRect/>
          </a:stretch>
        </p:blipFill>
        <p:spPr>
          <a:xfrm>
            <a:off x="6492240" y="1417320"/>
            <a:ext cx="5303520" cy="3314700"/>
          </a:xfrm>
          <a:prstGeom prst="rect">
            <a:avLst/>
          </a:prstGeom>
          <a:ln w="25400">
            <a:solidFill>
              <a:srgbClr val="6D4AFF"/>
            </a:solidFill>
          </a:ln>
        </p:spPr>
      </p:pic>
      <p:sp>
        <p:nvSpPr>
          <p:cNvPr id="20" name="TextBox 19"/>
          <p:cNvSpPr txBox="1"/>
          <p:nvPr/>
        </p:nvSpPr>
        <p:spPr>
          <a:xfrm>
            <a:off x="6492240" y="5029200"/>
            <a:ext cx="5303520" cy="274320"/>
          </a:xfrm>
          <a:prstGeom prst="rect">
            <a:avLst/>
          </a:prstGeom>
          <a:noFill/>
        </p:spPr>
        <p:txBody>
          <a:bodyPr wrap="square" lIns="36576" rIns="36576" tIns="18288" bIns="18288" anchor="t">
            <a:spAutoFit/>
          </a:bodyPr>
          <a:lstStyle/>
          <a:p>
            <a:pPr algn="l"/>
            <a:r>
              <a:rPr sz="1050" b="0" i="0">
                <a:solidFill>
                  <a:srgbClr val="8E99E0"/>
                </a:solidFill>
                <a:latin typeface="Segoe UI"/>
              </a:rPr>
              <a:t>Live app:  gd4n8x8sjkkxmdhfptkc9m.streamlit.app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AGENDA</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What we will cover</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a:t>
            </a:r>
          </a:p>
        </p:txBody>
      </p:sp>
      <p:sp>
        <p:nvSpPr>
          <p:cNvPr id="10" name="Rounded Rectangle 9"/>
          <p:cNvSpPr/>
          <p:nvPr/>
        </p:nvSpPr>
        <p:spPr>
          <a:xfrm>
            <a:off x="548640" y="137160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51114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1554480"/>
            <a:ext cx="384048" cy="38404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5448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1</a:t>
            </a:r>
          </a:p>
        </p:txBody>
      </p:sp>
      <p:sp>
        <p:nvSpPr>
          <p:cNvPr id="14" name="TextBox 13"/>
          <p:cNvSpPr txBox="1"/>
          <p:nvPr/>
        </p:nvSpPr>
        <p:spPr>
          <a:xfrm>
            <a:off x="1234440" y="150876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The problem and our idea</a:t>
            </a:r>
          </a:p>
        </p:txBody>
      </p:sp>
      <p:sp>
        <p:nvSpPr>
          <p:cNvPr id="15" name="TextBox 14"/>
          <p:cNvSpPr txBox="1"/>
          <p:nvPr/>
        </p:nvSpPr>
        <p:spPr>
          <a:xfrm>
            <a:off x="731520" y="205740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Why meetings lose information</a:t>
            </a:r>
          </a:p>
        </p:txBody>
      </p:sp>
      <p:sp>
        <p:nvSpPr>
          <p:cNvPr id="16" name="Rounded Rectangle 15"/>
          <p:cNvSpPr/>
          <p:nvPr/>
        </p:nvSpPr>
        <p:spPr>
          <a:xfrm>
            <a:off x="6172200" y="137160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792" y="1371600"/>
            <a:ext cx="51114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55080" y="1554480"/>
            <a:ext cx="384048" cy="38404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55448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2</a:t>
            </a:r>
          </a:p>
        </p:txBody>
      </p:sp>
      <p:sp>
        <p:nvSpPr>
          <p:cNvPr id="20" name="TextBox 19"/>
          <p:cNvSpPr txBox="1"/>
          <p:nvPr/>
        </p:nvSpPr>
        <p:spPr>
          <a:xfrm>
            <a:off x="6858000" y="150876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Why hybrid NLP + LLM</a:t>
            </a:r>
          </a:p>
        </p:txBody>
      </p:sp>
      <p:sp>
        <p:nvSpPr>
          <p:cNvPr id="21" name="TextBox 20"/>
          <p:cNvSpPr txBox="1"/>
          <p:nvPr/>
        </p:nvSpPr>
        <p:spPr>
          <a:xfrm>
            <a:off x="6355080" y="205740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Each part does what it is best at</a:t>
            </a:r>
          </a:p>
        </p:txBody>
      </p:sp>
      <p:sp>
        <p:nvSpPr>
          <p:cNvPr id="22" name="Rounded Rectangle 21"/>
          <p:cNvSpPr/>
          <p:nvPr/>
        </p:nvSpPr>
        <p:spPr>
          <a:xfrm>
            <a:off x="548640" y="260604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2606040"/>
            <a:ext cx="51114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2788920"/>
            <a:ext cx="384048" cy="38404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78892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3</a:t>
            </a:r>
          </a:p>
        </p:txBody>
      </p:sp>
      <p:sp>
        <p:nvSpPr>
          <p:cNvPr id="26" name="TextBox 25"/>
          <p:cNvSpPr txBox="1"/>
          <p:nvPr/>
        </p:nvSpPr>
        <p:spPr>
          <a:xfrm>
            <a:off x="1234440" y="274320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Architecture and pipeline</a:t>
            </a:r>
          </a:p>
        </p:txBody>
      </p:sp>
      <p:sp>
        <p:nvSpPr>
          <p:cNvPr id="27" name="TextBox 26"/>
          <p:cNvSpPr txBox="1"/>
          <p:nvPr/>
        </p:nvSpPr>
        <p:spPr>
          <a:xfrm>
            <a:off x="731520" y="329184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From upload to saved results</a:t>
            </a:r>
          </a:p>
        </p:txBody>
      </p:sp>
      <p:sp>
        <p:nvSpPr>
          <p:cNvPr id="28" name="Rounded Rectangle 27"/>
          <p:cNvSpPr/>
          <p:nvPr/>
        </p:nvSpPr>
        <p:spPr>
          <a:xfrm>
            <a:off x="6172200" y="260604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36792" y="2606040"/>
            <a:ext cx="51114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55080" y="2788920"/>
            <a:ext cx="384048" cy="38404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278892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4</a:t>
            </a:r>
          </a:p>
        </p:txBody>
      </p:sp>
      <p:sp>
        <p:nvSpPr>
          <p:cNvPr id="32" name="TextBox 31"/>
          <p:cNvSpPr txBox="1"/>
          <p:nvPr/>
        </p:nvSpPr>
        <p:spPr>
          <a:xfrm>
            <a:off x="6858000" y="274320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The NLP core</a:t>
            </a:r>
          </a:p>
        </p:txBody>
      </p:sp>
      <p:sp>
        <p:nvSpPr>
          <p:cNvPr id="33" name="TextBox 32"/>
          <p:cNvSpPr txBox="1"/>
          <p:nvPr/>
        </p:nvSpPr>
        <p:spPr>
          <a:xfrm>
            <a:off x="6355080" y="329184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Classifier, rules, confidence gateway</a:t>
            </a:r>
          </a:p>
        </p:txBody>
      </p:sp>
      <p:sp>
        <p:nvSpPr>
          <p:cNvPr id="34" name="Rounded Rectangle 33"/>
          <p:cNvSpPr/>
          <p:nvPr/>
        </p:nvSpPr>
        <p:spPr>
          <a:xfrm>
            <a:off x="548640" y="384048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 y="3840480"/>
            <a:ext cx="51114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1520" y="4023360"/>
            <a:ext cx="384048" cy="384048"/>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02336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5</a:t>
            </a:r>
          </a:p>
        </p:txBody>
      </p:sp>
      <p:sp>
        <p:nvSpPr>
          <p:cNvPr id="38" name="TextBox 37"/>
          <p:cNvSpPr txBox="1"/>
          <p:nvPr/>
        </p:nvSpPr>
        <p:spPr>
          <a:xfrm>
            <a:off x="1234440" y="397764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LLM layer and validation</a:t>
            </a:r>
          </a:p>
        </p:txBody>
      </p:sp>
      <p:sp>
        <p:nvSpPr>
          <p:cNvPr id="39" name="TextBox 38"/>
          <p:cNvSpPr txBox="1"/>
          <p:nvPr/>
        </p:nvSpPr>
        <p:spPr>
          <a:xfrm>
            <a:off x="731520" y="452628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Free models, checked by code</a:t>
            </a:r>
          </a:p>
        </p:txBody>
      </p:sp>
      <p:sp>
        <p:nvSpPr>
          <p:cNvPr id="40" name="Rounded Rectangle 39"/>
          <p:cNvSpPr/>
          <p:nvPr/>
        </p:nvSpPr>
        <p:spPr>
          <a:xfrm>
            <a:off x="6172200" y="384048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36792" y="3840480"/>
            <a:ext cx="51114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55080" y="4023360"/>
            <a:ext cx="384048" cy="384048"/>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402336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6</a:t>
            </a:r>
          </a:p>
        </p:txBody>
      </p:sp>
      <p:sp>
        <p:nvSpPr>
          <p:cNvPr id="44" name="TextBox 43"/>
          <p:cNvSpPr txBox="1"/>
          <p:nvPr/>
        </p:nvSpPr>
        <p:spPr>
          <a:xfrm>
            <a:off x="6858000" y="397764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Speakers, search and chat</a:t>
            </a:r>
          </a:p>
        </p:txBody>
      </p:sp>
      <p:sp>
        <p:nvSpPr>
          <p:cNvPr id="45" name="TextBox 44"/>
          <p:cNvSpPr txBox="1"/>
          <p:nvPr/>
        </p:nvSpPr>
        <p:spPr>
          <a:xfrm>
            <a:off x="6355080" y="452628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Names on voices, grounded answers</a:t>
            </a:r>
          </a:p>
        </p:txBody>
      </p:sp>
      <p:sp>
        <p:nvSpPr>
          <p:cNvPr id="46" name="Rounded Rectangle 45"/>
          <p:cNvSpPr/>
          <p:nvPr/>
        </p:nvSpPr>
        <p:spPr>
          <a:xfrm>
            <a:off x="548640" y="507492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13232" y="5074920"/>
            <a:ext cx="51114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31520" y="5257800"/>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525780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7</a:t>
            </a:r>
          </a:p>
        </p:txBody>
      </p:sp>
      <p:sp>
        <p:nvSpPr>
          <p:cNvPr id="50" name="TextBox 49"/>
          <p:cNvSpPr txBox="1"/>
          <p:nvPr/>
        </p:nvSpPr>
        <p:spPr>
          <a:xfrm>
            <a:off x="1234440" y="521208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The product</a:t>
            </a:r>
          </a:p>
        </p:txBody>
      </p:sp>
      <p:sp>
        <p:nvSpPr>
          <p:cNvPr id="51" name="TextBox 50"/>
          <p:cNvSpPr txBox="1"/>
          <p:nvPr/>
        </p:nvSpPr>
        <p:spPr>
          <a:xfrm>
            <a:off x="731520" y="576072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Screens, minutes, e-mail, calendar</a:t>
            </a:r>
          </a:p>
        </p:txBody>
      </p:sp>
      <p:sp>
        <p:nvSpPr>
          <p:cNvPr id="52" name="Rounded Rectangle 51"/>
          <p:cNvSpPr/>
          <p:nvPr/>
        </p:nvSpPr>
        <p:spPr>
          <a:xfrm>
            <a:off x="6172200" y="5074920"/>
            <a:ext cx="5440680" cy="1097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36792" y="5074920"/>
            <a:ext cx="51114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355080" y="5257800"/>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5080" y="5257800"/>
            <a:ext cx="384048" cy="384048"/>
          </a:xfrm>
          <a:prstGeom prst="rect">
            <a:avLst/>
          </a:prstGeom>
          <a:noFill/>
        </p:spPr>
        <p:txBody>
          <a:bodyPr wrap="square" lIns="36576" rIns="36576" tIns="18288" bIns="18288" anchor="ctr">
            <a:spAutoFit/>
          </a:bodyPr>
          <a:lstStyle/>
          <a:p>
            <a:pPr algn="ctr"/>
            <a:r>
              <a:rPr sz="1200" b="1" i="0">
                <a:solidFill>
                  <a:srgbClr val="0B1030"/>
                </a:solidFill>
                <a:latin typeface="Segoe UI"/>
              </a:rPr>
              <a:t>8</a:t>
            </a:r>
          </a:p>
        </p:txBody>
      </p:sp>
      <p:sp>
        <p:nvSpPr>
          <p:cNvPr id="56" name="TextBox 55"/>
          <p:cNvSpPr txBox="1"/>
          <p:nvPr/>
        </p:nvSpPr>
        <p:spPr>
          <a:xfrm>
            <a:off x="6858000" y="5212080"/>
            <a:ext cx="461772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Engineering decisions</a:t>
            </a:r>
          </a:p>
        </p:txBody>
      </p:sp>
      <p:sp>
        <p:nvSpPr>
          <p:cNvPr id="57" name="TextBox 56"/>
          <p:cNvSpPr txBox="1"/>
          <p:nvPr/>
        </p:nvSpPr>
        <p:spPr>
          <a:xfrm>
            <a:off x="6355080" y="5760720"/>
            <a:ext cx="5074920" cy="365759"/>
          </a:xfrm>
          <a:prstGeom prst="rect">
            <a:avLst/>
          </a:prstGeom>
          <a:noFill/>
        </p:spPr>
        <p:txBody>
          <a:bodyPr wrap="square" lIns="36576" rIns="36576" tIns="18288" bIns="18288" anchor="t">
            <a:spAutoFit/>
          </a:bodyPr>
          <a:lstStyle/>
          <a:p>
            <a:pPr algn="l"/>
            <a:r>
              <a:rPr sz="1250" b="0" i="0">
                <a:solidFill>
                  <a:srgbClr val="C9D0FF"/>
                </a:solidFill>
                <a:latin typeface="Segoe UI"/>
              </a:rPr>
              <a:t>Assumptions, security, deployment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1 · THE PROBLEM</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Important things get lost in meetings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a:t>
            </a:r>
          </a:p>
        </p:txBody>
      </p:sp>
      <p:sp>
        <p:nvSpPr>
          <p:cNvPr id="10" name="Rounded Rectangle 9"/>
          <p:cNvSpPr/>
          <p:nvPr/>
        </p:nvSpPr>
        <p:spPr>
          <a:xfrm>
            <a:off x="548640" y="1371600"/>
            <a:ext cx="5440680" cy="16002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51114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51206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Who owns it?</a:t>
            </a:r>
          </a:p>
        </p:txBody>
      </p:sp>
      <p:sp>
        <p:nvSpPr>
          <p:cNvPr id="13" name="TextBox 12"/>
          <p:cNvSpPr txBox="1"/>
          <p:nvPr/>
        </p:nvSpPr>
        <p:spPr>
          <a:xfrm>
            <a:off x="731520" y="2057400"/>
            <a:ext cx="5074920" cy="868680"/>
          </a:xfrm>
          <a:prstGeom prst="rect">
            <a:avLst/>
          </a:prstGeom>
          <a:noFill/>
        </p:spPr>
        <p:txBody>
          <a:bodyPr wrap="square" lIns="36576" rIns="36576" tIns="18288" bIns="18288" anchor="t">
            <a:spAutoFit/>
          </a:bodyPr>
          <a:lstStyle/>
          <a:p>
            <a:pPr algn="l"/>
            <a:r>
              <a:rPr sz="1350" b="0" i="0">
                <a:solidFill>
                  <a:srgbClr val="C9D0FF"/>
                </a:solidFill>
                <a:latin typeface="Segoe UI"/>
              </a:rPr>
              <a:t>"Who was going to send that report?" - nobody remembers, so nobody does it.</a:t>
            </a:r>
          </a:p>
        </p:txBody>
      </p:sp>
      <p:sp>
        <p:nvSpPr>
          <p:cNvPr id="14" name="Rounded Rectangle 13"/>
          <p:cNvSpPr/>
          <p:nvPr/>
        </p:nvSpPr>
        <p:spPr>
          <a:xfrm>
            <a:off x="6172200" y="1371600"/>
            <a:ext cx="5440680" cy="16002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6792" y="1371600"/>
            <a:ext cx="5111496"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51206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By when?</a:t>
            </a:r>
          </a:p>
        </p:txBody>
      </p:sp>
      <p:sp>
        <p:nvSpPr>
          <p:cNvPr id="17" name="TextBox 16"/>
          <p:cNvSpPr txBox="1"/>
          <p:nvPr/>
        </p:nvSpPr>
        <p:spPr>
          <a:xfrm>
            <a:off x="6355080" y="2057400"/>
            <a:ext cx="5074920" cy="868680"/>
          </a:xfrm>
          <a:prstGeom prst="rect">
            <a:avLst/>
          </a:prstGeom>
          <a:noFill/>
        </p:spPr>
        <p:txBody>
          <a:bodyPr wrap="square" lIns="36576" rIns="36576" tIns="18288" bIns="18288" anchor="t">
            <a:spAutoFit/>
          </a:bodyPr>
          <a:lstStyle/>
          <a:p>
            <a:pPr algn="l"/>
            <a:r>
              <a:rPr sz="1350" b="0" i="0">
                <a:solidFill>
                  <a:srgbClr val="C9D0FF"/>
                </a:solidFill>
                <a:latin typeface="Segoe UI"/>
              </a:rPr>
              <a:t>"What deadline did we agree on?" - three people, three different answers.</a:t>
            </a:r>
          </a:p>
        </p:txBody>
      </p:sp>
      <p:sp>
        <p:nvSpPr>
          <p:cNvPr id="18" name="Rounded Rectangle 17"/>
          <p:cNvSpPr/>
          <p:nvPr/>
        </p:nvSpPr>
        <p:spPr>
          <a:xfrm>
            <a:off x="548640" y="3154680"/>
            <a:ext cx="5440680" cy="16002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3154680"/>
            <a:ext cx="51114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291840"/>
            <a:ext cx="51206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What was decided?</a:t>
            </a:r>
          </a:p>
        </p:txBody>
      </p:sp>
      <p:sp>
        <p:nvSpPr>
          <p:cNvPr id="21" name="TextBox 20"/>
          <p:cNvSpPr txBox="1"/>
          <p:nvPr/>
        </p:nvSpPr>
        <p:spPr>
          <a:xfrm>
            <a:off x="731520" y="3840480"/>
            <a:ext cx="5074920" cy="868680"/>
          </a:xfrm>
          <a:prstGeom prst="rect">
            <a:avLst/>
          </a:prstGeom>
          <a:noFill/>
        </p:spPr>
        <p:txBody>
          <a:bodyPr wrap="square" lIns="36576" rIns="36576" tIns="18288" bIns="18288" anchor="t">
            <a:spAutoFit/>
          </a:bodyPr>
          <a:lstStyle/>
          <a:p>
            <a:pPr algn="l"/>
            <a:r>
              <a:rPr sz="1350" b="0" i="0">
                <a:solidFill>
                  <a:srgbClr val="C9D0FF"/>
                </a:solidFill>
                <a:latin typeface="Segoe UI"/>
              </a:rPr>
              <a:t>"Did we decide to hire the agency?" - someone re-watches an hour of video to find out.</a:t>
            </a:r>
          </a:p>
        </p:txBody>
      </p:sp>
      <p:sp>
        <p:nvSpPr>
          <p:cNvPr id="22" name="Rounded Rectangle 21"/>
          <p:cNvSpPr/>
          <p:nvPr/>
        </p:nvSpPr>
        <p:spPr>
          <a:xfrm>
            <a:off x="6172200" y="3154680"/>
            <a:ext cx="5440680" cy="16002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3154680"/>
            <a:ext cx="51114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291840"/>
            <a:ext cx="51206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Notes cost time</a:t>
            </a:r>
          </a:p>
        </p:txBody>
      </p:sp>
      <p:sp>
        <p:nvSpPr>
          <p:cNvPr id="25" name="TextBox 24"/>
          <p:cNvSpPr txBox="1"/>
          <p:nvPr/>
        </p:nvSpPr>
        <p:spPr>
          <a:xfrm>
            <a:off x="6355080" y="3840480"/>
            <a:ext cx="5074920" cy="868680"/>
          </a:xfrm>
          <a:prstGeom prst="rect">
            <a:avLst/>
          </a:prstGeom>
          <a:noFill/>
        </p:spPr>
        <p:txBody>
          <a:bodyPr wrap="square" lIns="36576" rIns="36576" tIns="18288" bIns="18288" anchor="t">
            <a:spAutoFit/>
          </a:bodyPr>
          <a:lstStyle/>
          <a:p>
            <a:pPr algn="l"/>
            <a:r>
              <a:rPr sz="1350" b="0" i="0">
                <a:solidFill>
                  <a:srgbClr val="C9D0FF"/>
                </a:solidFill>
                <a:latin typeface="Segoe UI"/>
              </a:rPr>
              <a:t>Minutes by hand take hours; plain transcription tools only give a wall of text with "Speaker 1".</a:t>
            </a:r>
          </a:p>
        </p:txBody>
      </p:sp>
      <p:sp>
        <p:nvSpPr>
          <p:cNvPr id="26" name="Rounded Rectangle 25"/>
          <p:cNvSpPr/>
          <p:nvPr/>
        </p:nvSpPr>
        <p:spPr>
          <a:xfrm>
            <a:off x="548640" y="5029200"/>
            <a:ext cx="11109960" cy="105156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102352"/>
            <a:ext cx="64008" cy="905255"/>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065776"/>
            <a:ext cx="10789920" cy="978407"/>
          </a:xfrm>
          <a:prstGeom prst="rect">
            <a:avLst/>
          </a:prstGeom>
          <a:noFill/>
        </p:spPr>
        <p:txBody>
          <a:bodyPr wrap="square" lIns="36576" rIns="36576" tIns="18288" bIns="18288" anchor="ctr">
            <a:spAutoFit/>
          </a:bodyPr>
          <a:lstStyle/>
          <a:p>
            <a:pPr algn="l"/>
            <a:r>
              <a:rPr sz="1300" b="1" i="0">
                <a:solidFill>
                  <a:srgbClr val="D4C8FF"/>
                </a:solidFill>
                <a:latin typeface="Segoe UI"/>
              </a:rPr>
              <a:t>OUR RULE   </a:t>
            </a:r>
            <a:r>
              <a:rPr sz="1400" b="0" i="0">
                <a:solidFill>
                  <a:srgbClr val="C9D0FF"/>
                </a:solidFill>
                <a:latin typeface="Segoe UI"/>
              </a:rPr>
              <a:t>When MeetingAI does not know something it says so: owner = Unassigned, deadline = Not specified, answer = not found. It never invents names or dates to look clever.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2 · THE SOLUTION</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MeetingAI: an assistant that attended every meeting</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4</a:t>
            </a:r>
          </a:p>
        </p:txBody>
      </p:sp>
      <p:sp>
        <p:nvSpPr>
          <p:cNvPr id="10" name="Rounded Rectangle 9"/>
          <p:cNvSpPr/>
          <p:nvPr/>
        </p:nvSpPr>
        <p:spPr>
          <a:xfrm>
            <a:off x="548640" y="137160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32826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Transcribe</a:t>
            </a:r>
          </a:p>
        </p:txBody>
      </p:sp>
      <p:sp>
        <p:nvSpPr>
          <p:cNvPr id="13" name="TextBox 12"/>
          <p:cNvSpPr txBox="1"/>
          <p:nvPr/>
        </p:nvSpPr>
        <p:spPr>
          <a:xfrm>
            <a:off x="731520" y="205740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Audio / video to timestamped text (Whisper)</a:t>
            </a:r>
          </a:p>
        </p:txBody>
      </p:sp>
      <p:sp>
        <p:nvSpPr>
          <p:cNvPr id="14" name="Rounded Rectangle 13"/>
          <p:cNvSpPr/>
          <p:nvPr/>
        </p:nvSpPr>
        <p:spPr>
          <a:xfrm>
            <a:off x="4297679" y="137160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62271" y="1371600"/>
            <a:ext cx="32826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1508760"/>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Who said what</a:t>
            </a:r>
          </a:p>
        </p:txBody>
      </p:sp>
      <p:sp>
        <p:nvSpPr>
          <p:cNvPr id="17" name="TextBox 16"/>
          <p:cNvSpPr txBox="1"/>
          <p:nvPr/>
        </p:nvSpPr>
        <p:spPr>
          <a:xfrm>
            <a:off x="4480559" y="205740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Real names on every voice via pyannote</a:t>
            </a:r>
          </a:p>
        </p:txBody>
      </p:sp>
      <p:sp>
        <p:nvSpPr>
          <p:cNvPr id="18" name="Rounded Rectangle 17"/>
          <p:cNvSpPr/>
          <p:nvPr/>
        </p:nvSpPr>
        <p:spPr>
          <a:xfrm>
            <a:off x="8046719" y="137160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11311" y="1371600"/>
            <a:ext cx="32826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9" y="1508760"/>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Summarise</a:t>
            </a:r>
          </a:p>
        </p:txBody>
      </p:sp>
      <p:sp>
        <p:nvSpPr>
          <p:cNvPr id="21" name="TextBox 20"/>
          <p:cNvSpPr txBox="1"/>
          <p:nvPr/>
        </p:nvSpPr>
        <p:spPr>
          <a:xfrm>
            <a:off x="8229599" y="205740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Overview, key points, topics, conclusions</a:t>
            </a:r>
          </a:p>
        </p:txBody>
      </p:sp>
      <p:sp>
        <p:nvSpPr>
          <p:cNvPr id="22" name="Rounded Rectangle 21"/>
          <p:cNvSpPr/>
          <p:nvPr/>
        </p:nvSpPr>
        <p:spPr>
          <a:xfrm>
            <a:off x="548640" y="301752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3017520"/>
            <a:ext cx="32826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154679"/>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Action items</a:t>
            </a:r>
          </a:p>
        </p:txBody>
      </p:sp>
      <p:sp>
        <p:nvSpPr>
          <p:cNvPr id="25" name="TextBox 24"/>
          <p:cNvSpPr txBox="1"/>
          <p:nvPr/>
        </p:nvSpPr>
        <p:spPr>
          <a:xfrm>
            <a:off x="731520" y="370332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Owner, deadline, priority, evidence quote</a:t>
            </a:r>
          </a:p>
        </p:txBody>
      </p:sp>
      <p:sp>
        <p:nvSpPr>
          <p:cNvPr id="26" name="Rounded Rectangle 25"/>
          <p:cNvSpPr/>
          <p:nvPr/>
        </p:nvSpPr>
        <p:spPr>
          <a:xfrm>
            <a:off x="4297679" y="301752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62271" y="3017520"/>
            <a:ext cx="3282696"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59" y="3154679"/>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Decisions &amp; events</a:t>
            </a:r>
          </a:p>
        </p:txBody>
      </p:sp>
      <p:sp>
        <p:nvSpPr>
          <p:cNvPr id="29" name="TextBox 28"/>
          <p:cNvSpPr txBox="1"/>
          <p:nvPr/>
        </p:nvSpPr>
        <p:spPr>
          <a:xfrm>
            <a:off x="4480559" y="370332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Detected, dated and put on a calendar</a:t>
            </a:r>
          </a:p>
        </p:txBody>
      </p:sp>
      <p:sp>
        <p:nvSpPr>
          <p:cNvPr id="30" name="Rounded Rectangle 29"/>
          <p:cNvSpPr/>
          <p:nvPr/>
        </p:nvSpPr>
        <p:spPr>
          <a:xfrm>
            <a:off x="8046719" y="301752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11311" y="3017520"/>
            <a:ext cx="32826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9" y="3154679"/>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Ask AI</a:t>
            </a:r>
          </a:p>
        </p:txBody>
      </p:sp>
      <p:sp>
        <p:nvSpPr>
          <p:cNvPr id="33" name="TextBox 32"/>
          <p:cNvSpPr txBox="1"/>
          <p:nvPr/>
        </p:nvSpPr>
        <p:spPr>
          <a:xfrm>
            <a:off x="8229599" y="370332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Chat over every meeting, with sources</a:t>
            </a:r>
          </a:p>
        </p:txBody>
      </p:sp>
      <p:sp>
        <p:nvSpPr>
          <p:cNvPr id="34" name="Rounded Rectangle 33"/>
          <p:cNvSpPr/>
          <p:nvPr/>
        </p:nvSpPr>
        <p:spPr>
          <a:xfrm>
            <a:off x="548640" y="466344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 y="4663440"/>
            <a:ext cx="32826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800600"/>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Search</a:t>
            </a:r>
          </a:p>
        </p:txBody>
      </p:sp>
      <p:sp>
        <p:nvSpPr>
          <p:cNvPr id="37" name="TextBox 36"/>
          <p:cNvSpPr txBox="1"/>
          <p:nvPr/>
        </p:nvSpPr>
        <p:spPr>
          <a:xfrm>
            <a:off x="731520" y="534924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Keyword + meaning across all meetings</a:t>
            </a:r>
          </a:p>
        </p:txBody>
      </p:sp>
      <p:sp>
        <p:nvSpPr>
          <p:cNvPr id="38" name="Rounded Rectangle 37"/>
          <p:cNvSpPr/>
          <p:nvPr/>
        </p:nvSpPr>
        <p:spPr>
          <a:xfrm>
            <a:off x="4297679" y="466344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62271" y="4663440"/>
            <a:ext cx="32826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80559" y="4800600"/>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Minutes (MoM)</a:t>
            </a:r>
          </a:p>
        </p:txBody>
      </p:sp>
      <p:sp>
        <p:nvSpPr>
          <p:cNvPr id="41" name="TextBox 40"/>
          <p:cNvSpPr txBox="1"/>
          <p:nvPr/>
        </p:nvSpPr>
        <p:spPr>
          <a:xfrm>
            <a:off x="4480559" y="534924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Edit, download Word / PDF, e-mail</a:t>
            </a:r>
          </a:p>
        </p:txBody>
      </p:sp>
      <p:sp>
        <p:nvSpPr>
          <p:cNvPr id="42" name="Rounded Rectangle 41"/>
          <p:cNvSpPr/>
          <p:nvPr/>
        </p:nvSpPr>
        <p:spPr>
          <a:xfrm>
            <a:off x="8046719" y="4663440"/>
            <a:ext cx="3611880" cy="14630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11311" y="4663440"/>
            <a:ext cx="32826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599" y="4800600"/>
            <a:ext cx="3291840" cy="457200"/>
          </a:xfrm>
          <a:prstGeom prst="rect">
            <a:avLst/>
          </a:prstGeom>
          <a:noFill/>
        </p:spPr>
        <p:txBody>
          <a:bodyPr wrap="square" lIns="36576" rIns="36576" tIns="18288" bIns="18288" anchor="ctr">
            <a:spAutoFit/>
          </a:bodyPr>
          <a:lstStyle/>
          <a:p>
            <a:pPr algn="l"/>
            <a:r>
              <a:rPr sz="1600" b="1" i="0">
                <a:solidFill>
                  <a:srgbClr val="FFFFFF"/>
                </a:solidFill>
                <a:latin typeface="Segoe UI"/>
              </a:rPr>
              <a:t>Follow-ups</a:t>
            </a:r>
          </a:p>
        </p:txBody>
      </p:sp>
      <p:sp>
        <p:nvSpPr>
          <p:cNvPr id="45" name="TextBox 44"/>
          <p:cNvSpPr txBox="1"/>
          <p:nvPr/>
        </p:nvSpPr>
        <p:spPr>
          <a:xfrm>
            <a:off x="8229599" y="5349240"/>
            <a:ext cx="3246120" cy="731520"/>
          </a:xfrm>
          <a:prstGeom prst="rect">
            <a:avLst/>
          </a:prstGeom>
          <a:noFill/>
        </p:spPr>
        <p:txBody>
          <a:bodyPr wrap="square" lIns="36576" rIns="36576" tIns="18288" bIns="18288" anchor="t">
            <a:spAutoFit/>
          </a:bodyPr>
          <a:lstStyle/>
          <a:p>
            <a:pPr algn="l"/>
            <a:r>
              <a:rPr sz="1300" b="0" i="0">
                <a:solidFill>
                  <a:srgbClr val="C9D0FF"/>
                </a:solidFill>
                <a:latin typeface="Segoe UI"/>
              </a:rPr>
              <a:t>Reminders drafted - sent only after approval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2 · THE SOLUTION</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The user journey: five steps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5</a:t>
            </a:r>
          </a:p>
        </p:txBody>
      </p:sp>
      <p:sp>
        <p:nvSpPr>
          <p:cNvPr id="10" name="Rounded Rectangle 9"/>
          <p:cNvSpPr/>
          <p:nvPr/>
        </p:nvSpPr>
        <p:spPr>
          <a:xfrm>
            <a:off x="548640" y="1600200"/>
            <a:ext cx="2011680" cy="73152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173736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645920"/>
            <a:ext cx="1920240" cy="640080"/>
          </a:xfrm>
          <a:prstGeom prst="rect">
            <a:avLst/>
          </a:prstGeom>
          <a:noFill/>
        </p:spPr>
        <p:txBody>
          <a:bodyPr wrap="square" lIns="36576" rIns="36576" tIns="18288" bIns="18288" anchor="ctr">
            <a:spAutoFit/>
          </a:bodyPr>
          <a:lstStyle/>
          <a:p>
            <a:pPr algn="ctr"/>
            <a:r>
              <a:rPr sz="1500" b="1" i="0">
                <a:solidFill>
                  <a:srgbClr val="FFFFFF"/>
                </a:solidFill>
                <a:latin typeface="Segoe UI"/>
              </a:rPr>
              <a:t>1  Upload</a:t>
            </a:r>
          </a:p>
        </p:txBody>
      </p:sp>
      <p:sp>
        <p:nvSpPr>
          <p:cNvPr id="13" name="Rounded Rectangle 12"/>
          <p:cNvSpPr/>
          <p:nvPr/>
        </p:nvSpPr>
        <p:spPr>
          <a:xfrm>
            <a:off x="548640" y="2468880"/>
            <a:ext cx="2011680" cy="1920240"/>
          </a:xfrm>
          <a:prstGeom prst="roundRect">
            <a:avLst>
              <a:gd name="adj" fmla="val 6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560320"/>
            <a:ext cx="1792224" cy="1783080"/>
          </a:xfrm>
          <a:prstGeom prst="rect">
            <a:avLst/>
          </a:prstGeom>
          <a:noFill/>
        </p:spPr>
        <p:txBody>
          <a:bodyPr wrap="square" lIns="36576" rIns="36576" tIns="18288" bIns="18288" anchor="t">
            <a:spAutoFit/>
          </a:bodyPr>
          <a:lstStyle/>
          <a:p>
            <a:pPr algn="l"/>
            <a:r>
              <a:rPr sz="1350" b="0" i="0">
                <a:solidFill>
                  <a:srgbClr val="C9D0FF"/>
                </a:solidFill>
                <a:latin typeface="Segoe UI"/>
              </a:rPr>
              <a:t>Drop a recording or paste / upload a transcript. Optionally add a title, date and tags.</a:t>
            </a:r>
          </a:p>
        </p:txBody>
      </p:sp>
      <p:cxnSp>
        <p:nvCxnSpPr>
          <p:cNvPr id="15" name="Connector 14"/>
          <p:cNvCxnSpPr/>
          <p:nvPr/>
        </p:nvCxnSpPr>
        <p:spPr>
          <a:xfrm>
            <a:off x="2560320" y="1965960"/>
            <a:ext cx="2286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88920" y="1600200"/>
            <a:ext cx="2011680" cy="73152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26080" y="1600200"/>
            <a:ext cx="173736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1645920"/>
            <a:ext cx="1920240" cy="640080"/>
          </a:xfrm>
          <a:prstGeom prst="rect">
            <a:avLst/>
          </a:prstGeom>
          <a:noFill/>
        </p:spPr>
        <p:txBody>
          <a:bodyPr wrap="square" lIns="36576" rIns="36576" tIns="18288" bIns="18288" anchor="ctr">
            <a:spAutoFit/>
          </a:bodyPr>
          <a:lstStyle/>
          <a:p>
            <a:pPr algn="ctr"/>
            <a:r>
              <a:rPr sz="1500" b="1" i="0">
                <a:solidFill>
                  <a:srgbClr val="FFFFFF"/>
                </a:solidFill>
                <a:latin typeface="Segoe UI"/>
              </a:rPr>
              <a:t>2  Wait</a:t>
            </a:r>
          </a:p>
        </p:txBody>
      </p:sp>
      <p:sp>
        <p:nvSpPr>
          <p:cNvPr id="19" name="Rounded Rectangle 18"/>
          <p:cNvSpPr/>
          <p:nvPr/>
        </p:nvSpPr>
        <p:spPr>
          <a:xfrm>
            <a:off x="2788920" y="2468880"/>
            <a:ext cx="2011680" cy="1920240"/>
          </a:xfrm>
          <a:prstGeom prst="roundRect">
            <a:avLst>
              <a:gd name="adj" fmla="val 6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98648" y="2560320"/>
            <a:ext cx="1792224" cy="1783080"/>
          </a:xfrm>
          <a:prstGeom prst="rect">
            <a:avLst/>
          </a:prstGeom>
          <a:noFill/>
        </p:spPr>
        <p:txBody>
          <a:bodyPr wrap="square" lIns="36576" rIns="36576" tIns="18288" bIns="18288" anchor="t">
            <a:spAutoFit/>
          </a:bodyPr>
          <a:lstStyle/>
          <a:p>
            <a:pPr algn="l"/>
            <a:r>
              <a:rPr sz="1350" b="0" i="0">
                <a:solidFill>
                  <a:srgbClr val="C9D0FF"/>
                </a:solidFill>
                <a:latin typeface="Segoe UI"/>
              </a:rPr>
              <a:t>The pipeline transcribes, labels speakers, extracts insights and indexes everything.</a:t>
            </a:r>
          </a:p>
        </p:txBody>
      </p:sp>
      <p:cxnSp>
        <p:nvCxnSpPr>
          <p:cNvPr id="21" name="Connector 20"/>
          <p:cNvCxnSpPr/>
          <p:nvPr/>
        </p:nvCxnSpPr>
        <p:spPr>
          <a:xfrm>
            <a:off x="4800600" y="1965960"/>
            <a:ext cx="2286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29200" y="1600200"/>
            <a:ext cx="2011680" cy="73152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66360" y="1600200"/>
            <a:ext cx="173736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74920" y="1645920"/>
            <a:ext cx="1920240" cy="640080"/>
          </a:xfrm>
          <a:prstGeom prst="rect">
            <a:avLst/>
          </a:prstGeom>
          <a:noFill/>
        </p:spPr>
        <p:txBody>
          <a:bodyPr wrap="square" lIns="36576" rIns="36576" tIns="18288" bIns="18288" anchor="ctr">
            <a:spAutoFit/>
          </a:bodyPr>
          <a:lstStyle/>
          <a:p>
            <a:pPr algn="ctr"/>
            <a:r>
              <a:rPr sz="1500" b="1" i="0">
                <a:solidFill>
                  <a:srgbClr val="FFFFFF"/>
                </a:solidFill>
                <a:latin typeface="Segoe UI"/>
              </a:rPr>
              <a:t>3  Review</a:t>
            </a:r>
          </a:p>
        </p:txBody>
      </p:sp>
      <p:sp>
        <p:nvSpPr>
          <p:cNvPr id="25" name="Rounded Rectangle 24"/>
          <p:cNvSpPr/>
          <p:nvPr/>
        </p:nvSpPr>
        <p:spPr>
          <a:xfrm>
            <a:off x="5029200" y="2468880"/>
            <a:ext cx="2011680" cy="1920240"/>
          </a:xfrm>
          <a:prstGeom prst="roundRect">
            <a:avLst>
              <a:gd name="adj" fmla="val 6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38928" y="2560320"/>
            <a:ext cx="1792224" cy="1783080"/>
          </a:xfrm>
          <a:prstGeom prst="rect">
            <a:avLst/>
          </a:prstGeom>
          <a:noFill/>
        </p:spPr>
        <p:txBody>
          <a:bodyPr wrap="square" lIns="36576" rIns="36576" tIns="18288" bIns="18288" anchor="t">
            <a:spAutoFit/>
          </a:bodyPr>
          <a:lstStyle/>
          <a:p>
            <a:pPr algn="l"/>
            <a:r>
              <a:rPr sz="1350" b="0" i="0">
                <a:solidFill>
                  <a:srgbClr val="C9D0FF"/>
                </a:solidFill>
                <a:latin typeface="Segoe UI"/>
              </a:rPr>
              <a:t>Read the summary, fix any "Needs review" item, name the anonymous voices.</a:t>
            </a:r>
          </a:p>
        </p:txBody>
      </p:sp>
      <p:cxnSp>
        <p:nvCxnSpPr>
          <p:cNvPr id="27" name="Connector 26"/>
          <p:cNvCxnSpPr/>
          <p:nvPr/>
        </p:nvCxnSpPr>
        <p:spPr>
          <a:xfrm>
            <a:off x="7040880" y="1965960"/>
            <a:ext cx="2286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69480" y="1600200"/>
            <a:ext cx="2011680" cy="73152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06640" y="1600200"/>
            <a:ext cx="173736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0" y="1645920"/>
            <a:ext cx="1920240" cy="640080"/>
          </a:xfrm>
          <a:prstGeom prst="rect">
            <a:avLst/>
          </a:prstGeom>
          <a:noFill/>
        </p:spPr>
        <p:txBody>
          <a:bodyPr wrap="square" lIns="36576" rIns="36576" tIns="18288" bIns="18288" anchor="ctr">
            <a:spAutoFit/>
          </a:bodyPr>
          <a:lstStyle/>
          <a:p>
            <a:pPr algn="ctr"/>
            <a:r>
              <a:rPr sz="1500" b="1" i="0">
                <a:solidFill>
                  <a:srgbClr val="FFFFFF"/>
                </a:solidFill>
                <a:latin typeface="Segoe UI"/>
              </a:rPr>
              <a:t>4  Ask &amp; track</a:t>
            </a:r>
          </a:p>
        </p:txBody>
      </p:sp>
      <p:sp>
        <p:nvSpPr>
          <p:cNvPr id="31" name="Rounded Rectangle 30"/>
          <p:cNvSpPr/>
          <p:nvPr/>
        </p:nvSpPr>
        <p:spPr>
          <a:xfrm>
            <a:off x="7269480" y="2468880"/>
            <a:ext cx="2011680" cy="1920240"/>
          </a:xfrm>
          <a:prstGeom prst="roundRect">
            <a:avLst>
              <a:gd name="adj" fmla="val 6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79208" y="2560320"/>
            <a:ext cx="1792224" cy="1783080"/>
          </a:xfrm>
          <a:prstGeom prst="rect">
            <a:avLst/>
          </a:prstGeom>
          <a:noFill/>
        </p:spPr>
        <p:txBody>
          <a:bodyPr wrap="square" lIns="36576" rIns="36576" tIns="18288" bIns="18288" anchor="t">
            <a:spAutoFit/>
          </a:bodyPr>
          <a:lstStyle/>
          <a:p>
            <a:pPr algn="l"/>
            <a:r>
              <a:rPr sz="1350" b="0" i="0">
                <a:solidFill>
                  <a:srgbClr val="C9D0FF"/>
                </a:solidFill>
                <a:latin typeface="Segoe UI"/>
              </a:rPr>
              <a:t>Chat or search across meetings; manage tasks on the tracker and calendar.</a:t>
            </a:r>
          </a:p>
        </p:txBody>
      </p:sp>
      <p:cxnSp>
        <p:nvCxnSpPr>
          <p:cNvPr id="33" name="Connector 32"/>
          <p:cNvCxnSpPr/>
          <p:nvPr/>
        </p:nvCxnSpPr>
        <p:spPr>
          <a:xfrm>
            <a:off x="9281160" y="1965960"/>
            <a:ext cx="2286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09760" y="1600200"/>
            <a:ext cx="2011680" cy="73152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46920" y="1600200"/>
            <a:ext cx="173736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55480" y="1645920"/>
            <a:ext cx="1920240" cy="640080"/>
          </a:xfrm>
          <a:prstGeom prst="rect">
            <a:avLst/>
          </a:prstGeom>
          <a:noFill/>
        </p:spPr>
        <p:txBody>
          <a:bodyPr wrap="square" lIns="36576" rIns="36576" tIns="18288" bIns="18288" anchor="ctr">
            <a:spAutoFit/>
          </a:bodyPr>
          <a:lstStyle/>
          <a:p>
            <a:pPr algn="ctr"/>
            <a:r>
              <a:rPr sz="1500" b="1" i="0">
                <a:solidFill>
                  <a:srgbClr val="FFFFFF"/>
                </a:solidFill>
                <a:latin typeface="Segoe UI"/>
              </a:rPr>
              <a:t>5  Share</a:t>
            </a:r>
          </a:p>
        </p:txBody>
      </p:sp>
      <p:sp>
        <p:nvSpPr>
          <p:cNvPr id="37" name="Rounded Rectangle 36"/>
          <p:cNvSpPr/>
          <p:nvPr/>
        </p:nvSpPr>
        <p:spPr>
          <a:xfrm>
            <a:off x="9509760" y="2468880"/>
            <a:ext cx="2011680" cy="1920240"/>
          </a:xfrm>
          <a:prstGeom prst="roundRect">
            <a:avLst>
              <a:gd name="adj" fmla="val 6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19488" y="2560320"/>
            <a:ext cx="1792224" cy="1783080"/>
          </a:xfrm>
          <a:prstGeom prst="rect">
            <a:avLst/>
          </a:prstGeom>
          <a:noFill/>
        </p:spPr>
        <p:txBody>
          <a:bodyPr wrap="square" lIns="36576" rIns="36576" tIns="18288" bIns="18288" anchor="t">
            <a:spAutoFit/>
          </a:bodyPr>
          <a:lstStyle/>
          <a:p>
            <a:pPr algn="l"/>
            <a:r>
              <a:rPr sz="1350" b="0" i="0">
                <a:solidFill>
                  <a:srgbClr val="C9D0FF"/>
                </a:solidFill>
                <a:latin typeface="Segoe UI"/>
              </a:rPr>
              <a:t>Generate minutes, download Word / PDF, e-mail them, send follow-ups.</a:t>
            </a:r>
          </a:p>
        </p:txBody>
      </p:sp>
      <p:sp>
        <p:nvSpPr>
          <p:cNvPr id="39" name="Rounded Rectangle 38"/>
          <p:cNvSpPr/>
          <p:nvPr/>
        </p:nvSpPr>
        <p:spPr>
          <a:xfrm>
            <a:off x="548640" y="4754880"/>
            <a:ext cx="11109960" cy="118872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4828032"/>
            <a:ext cx="64008" cy="104241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8" y="4791456"/>
            <a:ext cx="10789920" cy="1115568"/>
          </a:xfrm>
          <a:prstGeom prst="rect">
            <a:avLst/>
          </a:prstGeom>
          <a:noFill/>
        </p:spPr>
        <p:txBody>
          <a:bodyPr wrap="square" lIns="36576" rIns="36576" tIns="18288" bIns="18288" anchor="ctr">
            <a:spAutoFit/>
          </a:bodyPr>
          <a:lstStyle/>
          <a:p>
            <a:pPr algn="l"/>
            <a:r>
              <a:rPr sz="1200" b="1" i="0">
                <a:solidFill>
                  <a:srgbClr val="D4C8FF"/>
                </a:solidFill>
                <a:latin typeface="Segoe UI"/>
              </a:rPr>
              <a:t>USER STAYS IN CONTROL   </a:t>
            </a:r>
            <a:r>
              <a:rPr sz="1300" b="0" i="0">
                <a:solidFill>
                  <a:srgbClr val="C9D0FF"/>
                </a:solidFill>
                <a:latin typeface="Segoe UI"/>
              </a:rPr>
              <a:t>A demo meeting set can be loaded from Settings, so every page has data to explore. Confirmation is always required before anything leaves the app (e-mail, follow-ups).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3 · DESIGN IDEA</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Why hybrid: classical NLP + free LLMs + code checks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6</a:t>
            </a:r>
          </a:p>
        </p:txBody>
      </p:sp>
      <p:sp>
        <p:nvSpPr>
          <p:cNvPr id="10" name="Rounded Rectangle 9"/>
          <p:cNvSpPr/>
          <p:nvPr/>
        </p:nvSpPr>
        <p:spPr>
          <a:xfrm>
            <a:off x="548640" y="1371600"/>
            <a:ext cx="3611880" cy="30632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32826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1 · Classical NLP first</a:t>
            </a:r>
          </a:p>
        </p:txBody>
      </p:sp>
      <p:sp>
        <p:nvSpPr>
          <p:cNvPr id="13" name="TextBox 12"/>
          <p:cNvSpPr txBox="1"/>
          <p:nvPr/>
        </p:nvSpPr>
        <p:spPr>
          <a:xfrm>
            <a:off x="731520" y="2057400"/>
            <a:ext cx="3246120" cy="2331720"/>
          </a:xfrm>
          <a:prstGeom prst="rect">
            <a:avLst/>
          </a:prstGeom>
          <a:noFill/>
        </p:spPr>
        <p:txBody>
          <a:bodyPr wrap="square" lIns="36576" rIns="36576" tIns="18288" bIns="18288" anchor="t">
            <a:spAutoFit/>
          </a:bodyPr>
          <a:lstStyle/>
          <a:p>
            <a:pPr algn="l">
              <a:spcAft>
                <a:spcPts val="400"/>
              </a:spcAft>
            </a:pPr>
            <a:r>
              <a:rPr sz="1350" b="1" i="0">
                <a:solidFill>
                  <a:srgbClr val="A78BFA"/>
                </a:solidFill>
                <a:latin typeface="Segoe UI"/>
              </a:rPr>
              <a:t>▸  </a:t>
            </a:r>
            <a:r>
              <a:rPr sz="1350" b="0" i="0">
                <a:solidFill>
                  <a:srgbClr val="C9D0FF"/>
                </a:solidFill>
                <a:latin typeface="Segoe UI"/>
              </a:rPr>
              <a:t>Fast, free, runs offline</a:t>
            </a:r>
          </a:p>
          <a:p>
            <a:pPr algn="l">
              <a:spcAft>
                <a:spcPts val="400"/>
              </a:spcAft>
            </a:pPr>
            <a:r>
              <a:rPr sz="1350" b="1" i="0">
                <a:solidFill>
                  <a:srgbClr val="A78BFA"/>
                </a:solidFill>
                <a:latin typeface="Segoe UI"/>
              </a:rPr>
              <a:t>▸  </a:t>
            </a:r>
            <a:r>
              <a:rPr sz="1350" b="0" i="0">
                <a:solidFill>
                  <a:srgbClr val="C9D0FF"/>
                </a:solidFill>
                <a:latin typeface="Segoe UI"/>
              </a:rPr>
              <a:t>TF-IDF + Naive Bayes + rules</a:t>
            </a:r>
          </a:p>
          <a:p>
            <a:pPr algn="l">
              <a:spcAft>
                <a:spcPts val="400"/>
              </a:spcAft>
            </a:pPr>
            <a:r>
              <a:rPr sz="1350" b="1" i="0">
                <a:solidFill>
                  <a:srgbClr val="A78BFA"/>
                </a:solidFill>
                <a:latin typeface="Segoe UI"/>
              </a:rPr>
              <a:t>▸  </a:t>
            </a:r>
            <a:r>
              <a:rPr sz="1350" b="0" i="0">
                <a:solidFill>
                  <a:srgbClr val="C9D0FF"/>
                </a:solidFill>
                <a:latin typeface="Segoe UI"/>
              </a:rPr>
              <a:t>Scores every sentence</a:t>
            </a:r>
          </a:p>
          <a:p>
            <a:pPr algn="l">
              <a:spcAft>
                <a:spcPts val="400"/>
              </a:spcAft>
            </a:pPr>
            <a:r>
              <a:rPr sz="1350" b="1" i="0">
                <a:solidFill>
                  <a:srgbClr val="A78BFA"/>
                </a:solidFill>
                <a:latin typeface="Segoe UI"/>
              </a:rPr>
              <a:t>▸  </a:t>
            </a:r>
            <a:r>
              <a:rPr sz="1350" b="0" i="0">
                <a:solidFill>
                  <a:srgbClr val="C9D0FF"/>
                </a:solidFill>
                <a:latin typeface="Segoe UI"/>
              </a:rPr>
              <a:t>Explainable: reason codes</a:t>
            </a:r>
          </a:p>
          <a:p>
            <a:pPr algn="l">
              <a:spcAft>
                <a:spcPts val="400"/>
              </a:spcAft>
            </a:pPr>
            <a:r>
              <a:rPr sz="1350" b="1" i="0">
                <a:solidFill>
                  <a:srgbClr val="A78BFA"/>
                </a:solidFill>
                <a:latin typeface="Segoe UI"/>
              </a:rPr>
              <a:t>▸  </a:t>
            </a:r>
            <a:r>
              <a:rPr sz="1350" b="0" i="0">
                <a:solidFill>
                  <a:srgbClr val="C9D0FF"/>
                </a:solidFill>
                <a:latin typeface="Segoe UI"/>
              </a:rPr>
              <a:t>Weak on nuance</a:t>
            </a:r>
          </a:p>
        </p:txBody>
      </p:sp>
      <p:sp>
        <p:nvSpPr>
          <p:cNvPr id="14" name="Rounded Rectangle 13"/>
          <p:cNvSpPr/>
          <p:nvPr/>
        </p:nvSpPr>
        <p:spPr>
          <a:xfrm>
            <a:off x="4297680" y="1371600"/>
            <a:ext cx="3611880" cy="30632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62272" y="1371600"/>
            <a:ext cx="3282696"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150876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2 · LLM only if unsure</a:t>
            </a:r>
          </a:p>
        </p:txBody>
      </p:sp>
      <p:sp>
        <p:nvSpPr>
          <p:cNvPr id="17" name="TextBox 16"/>
          <p:cNvSpPr txBox="1"/>
          <p:nvPr/>
        </p:nvSpPr>
        <p:spPr>
          <a:xfrm>
            <a:off x="4480560" y="2057400"/>
            <a:ext cx="3246120" cy="2331720"/>
          </a:xfrm>
          <a:prstGeom prst="rect">
            <a:avLst/>
          </a:prstGeom>
          <a:noFill/>
        </p:spPr>
        <p:txBody>
          <a:bodyPr wrap="square" lIns="36576" rIns="36576" tIns="18288" bIns="18288" anchor="t">
            <a:spAutoFit/>
          </a:bodyPr>
          <a:lstStyle/>
          <a:p>
            <a:pPr algn="l">
              <a:spcAft>
                <a:spcPts val="400"/>
              </a:spcAft>
            </a:pPr>
            <a:r>
              <a:rPr sz="1350" b="1" i="0">
                <a:solidFill>
                  <a:srgbClr val="A78BFA"/>
                </a:solidFill>
                <a:latin typeface="Segoe UI"/>
              </a:rPr>
              <a:t>▸  </a:t>
            </a:r>
            <a:r>
              <a:rPr sz="1350" b="0" i="0">
                <a:solidFill>
                  <a:srgbClr val="C9D0FF"/>
                </a:solidFill>
                <a:latin typeface="Segoe UI"/>
              </a:rPr>
              <a:t>One batched call, not one per sentence</a:t>
            </a:r>
          </a:p>
          <a:p>
            <a:pPr algn="l">
              <a:spcAft>
                <a:spcPts val="400"/>
              </a:spcAft>
            </a:pPr>
            <a:r>
              <a:rPr sz="1350" b="1" i="0">
                <a:solidFill>
                  <a:srgbClr val="A78BFA"/>
                </a:solidFill>
                <a:latin typeface="Segoe UI"/>
              </a:rPr>
              <a:t>▸  </a:t>
            </a:r>
            <a:r>
              <a:rPr sz="1350" b="0" i="0">
                <a:solidFill>
                  <a:srgbClr val="C9D0FF"/>
                </a:solidFill>
                <a:latin typeface="Segoe UI"/>
              </a:rPr>
              <a:t>Writes summaries and answers</a:t>
            </a:r>
          </a:p>
          <a:p>
            <a:pPr algn="l">
              <a:spcAft>
                <a:spcPts val="400"/>
              </a:spcAft>
            </a:pPr>
            <a:r>
              <a:rPr sz="1350" b="1" i="0">
                <a:solidFill>
                  <a:srgbClr val="A78BFA"/>
                </a:solidFill>
                <a:latin typeface="Segoe UI"/>
              </a:rPr>
              <a:t>▸  </a:t>
            </a:r>
            <a:r>
              <a:rPr sz="1350" b="0" i="0">
                <a:solidFill>
                  <a:srgbClr val="C9D0FF"/>
                </a:solidFill>
                <a:latin typeface="Segoe UI"/>
              </a:rPr>
              <a:t>Understands context and wording</a:t>
            </a:r>
          </a:p>
          <a:p>
            <a:pPr algn="l">
              <a:spcAft>
                <a:spcPts val="400"/>
              </a:spcAft>
            </a:pPr>
            <a:r>
              <a:rPr sz="1350" b="1" i="0">
                <a:solidFill>
                  <a:srgbClr val="A78BFA"/>
                </a:solidFill>
                <a:latin typeface="Segoe UI"/>
              </a:rPr>
              <a:t>▸  </a:t>
            </a:r>
            <a:r>
              <a:rPr sz="1350" b="0" i="0">
                <a:solidFill>
                  <a:srgbClr val="C9D0FF"/>
                </a:solidFill>
                <a:latin typeface="Segoe UI"/>
              </a:rPr>
              <a:t>Can hallucinate if unchecked</a:t>
            </a:r>
          </a:p>
          <a:p>
            <a:pPr algn="l">
              <a:spcAft>
                <a:spcPts val="400"/>
              </a:spcAft>
            </a:pPr>
            <a:r>
              <a:rPr sz="1350" b="1" i="0">
                <a:solidFill>
                  <a:srgbClr val="A78BFA"/>
                </a:solidFill>
                <a:latin typeface="Segoe UI"/>
              </a:rPr>
              <a:t>▸  </a:t>
            </a:r>
            <a:r>
              <a:rPr sz="1350" b="0" i="0">
                <a:solidFill>
                  <a:srgbClr val="C9D0FF"/>
                </a:solidFill>
                <a:latin typeface="Segoe UI"/>
              </a:rPr>
              <a:t>Rate-limited, can fail</a:t>
            </a:r>
          </a:p>
        </p:txBody>
      </p:sp>
      <p:sp>
        <p:nvSpPr>
          <p:cNvPr id="18" name="Rounded Rectangle 17"/>
          <p:cNvSpPr/>
          <p:nvPr/>
        </p:nvSpPr>
        <p:spPr>
          <a:xfrm>
            <a:off x="8046720" y="1371600"/>
            <a:ext cx="3611880" cy="306324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11312" y="1371600"/>
            <a:ext cx="32826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50876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3 · Code verifies</a:t>
            </a:r>
          </a:p>
        </p:txBody>
      </p:sp>
      <p:sp>
        <p:nvSpPr>
          <p:cNvPr id="21" name="TextBox 20"/>
          <p:cNvSpPr txBox="1"/>
          <p:nvPr/>
        </p:nvSpPr>
        <p:spPr>
          <a:xfrm>
            <a:off x="8229600" y="2057400"/>
            <a:ext cx="3246120" cy="2331720"/>
          </a:xfrm>
          <a:prstGeom prst="rect">
            <a:avLst/>
          </a:prstGeom>
          <a:noFill/>
        </p:spPr>
        <p:txBody>
          <a:bodyPr wrap="square" lIns="36576" rIns="36576" tIns="18288" bIns="18288" anchor="t">
            <a:spAutoFit/>
          </a:bodyPr>
          <a:lstStyle/>
          <a:p>
            <a:pPr algn="l">
              <a:spcAft>
                <a:spcPts val="400"/>
              </a:spcAft>
            </a:pPr>
            <a:r>
              <a:rPr sz="1350" b="1" i="0">
                <a:solidFill>
                  <a:srgbClr val="A78BFA"/>
                </a:solidFill>
                <a:latin typeface="Segoe UI"/>
              </a:rPr>
              <a:t>▸  </a:t>
            </a:r>
            <a:r>
              <a:rPr sz="1350" b="0" i="0">
                <a:solidFill>
                  <a:srgbClr val="C9D0FF"/>
                </a:solidFill>
                <a:latin typeface="Segoe UI"/>
              </a:rPr>
              <a:t>Quote must exist in the transcript</a:t>
            </a:r>
          </a:p>
          <a:p>
            <a:pPr algn="l">
              <a:spcAft>
                <a:spcPts val="400"/>
              </a:spcAft>
            </a:pPr>
            <a:r>
              <a:rPr sz="1350" b="1" i="0">
                <a:solidFill>
                  <a:srgbClr val="A78BFA"/>
                </a:solidFill>
                <a:latin typeface="Segoe UI"/>
              </a:rPr>
              <a:t>▸  </a:t>
            </a:r>
            <a:r>
              <a:rPr sz="1350" b="0" i="0">
                <a:solidFill>
                  <a:srgbClr val="C9D0FF"/>
                </a:solidFill>
                <a:latin typeface="Segoe UI"/>
              </a:rPr>
              <a:t>Owner must be a real person</a:t>
            </a:r>
          </a:p>
          <a:p>
            <a:pPr algn="l">
              <a:spcAft>
                <a:spcPts val="400"/>
              </a:spcAft>
            </a:pPr>
            <a:r>
              <a:rPr sz="1350" b="1" i="0">
                <a:solidFill>
                  <a:srgbClr val="A78BFA"/>
                </a:solidFill>
                <a:latin typeface="Segoe UI"/>
              </a:rPr>
              <a:t>▸  </a:t>
            </a:r>
            <a:r>
              <a:rPr sz="1350" b="0" i="0">
                <a:solidFill>
                  <a:srgbClr val="C9D0FF"/>
                </a:solidFill>
                <a:latin typeface="Segoe UI"/>
              </a:rPr>
              <a:t>Dates computed by our code</a:t>
            </a:r>
          </a:p>
          <a:p>
            <a:pPr algn="l">
              <a:spcAft>
                <a:spcPts val="400"/>
              </a:spcAft>
            </a:pPr>
            <a:r>
              <a:rPr sz="1350" b="1" i="0">
                <a:solidFill>
                  <a:srgbClr val="A78BFA"/>
                </a:solidFill>
                <a:latin typeface="Segoe UI"/>
              </a:rPr>
              <a:t>▸  </a:t>
            </a:r>
            <a:r>
              <a:rPr sz="1350" b="0" i="0">
                <a:solidFill>
                  <a:srgbClr val="C9D0FF"/>
                </a:solidFill>
                <a:latin typeface="Segoe UI"/>
              </a:rPr>
              <a:t>NLP + LLM agree = 0.95 confidence</a:t>
            </a:r>
          </a:p>
          <a:p>
            <a:pPr algn="l">
              <a:spcAft>
                <a:spcPts val="400"/>
              </a:spcAft>
            </a:pPr>
            <a:r>
              <a:rPr sz="1350" b="1" i="0">
                <a:solidFill>
                  <a:srgbClr val="A78BFA"/>
                </a:solidFill>
                <a:latin typeface="Segoe UI"/>
              </a:rPr>
              <a:t>▸  </a:t>
            </a:r>
            <a:r>
              <a:rPr sz="1350" b="0" i="0">
                <a:solidFill>
                  <a:srgbClr val="C9D0FF"/>
                </a:solidFill>
                <a:latin typeface="Segoe UI"/>
              </a:rPr>
              <a:t>Failures become 'Needs review'</a:t>
            </a:r>
          </a:p>
        </p:txBody>
      </p:sp>
      <p:sp>
        <p:nvSpPr>
          <p:cNvPr id="22" name="Rounded Rectangle 21"/>
          <p:cNvSpPr/>
          <p:nvPr/>
        </p:nvSpPr>
        <p:spPr>
          <a:xfrm>
            <a:off x="548640" y="4663440"/>
            <a:ext cx="11109960" cy="137160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736592"/>
            <a:ext cx="64008" cy="12252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700016"/>
            <a:ext cx="10789920" cy="1298448"/>
          </a:xfrm>
          <a:prstGeom prst="rect">
            <a:avLst/>
          </a:prstGeom>
          <a:noFill/>
        </p:spPr>
        <p:txBody>
          <a:bodyPr wrap="square" lIns="36576" rIns="36576" tIns="18288" bIns="18288" anchor="ctr">
            <a:spAutoFit/>
          </a:bodyPr>
          <a:lstStyle/>
          <a:p>
            <a:pPr algn="l"/>
            <a:r>
              <a:rPr sz="1250" b="1" i="0">
                <a:solidFill>
                  <a:srgbClr val="D4C8FF"/>
                </a:solidFill>
                <a:latin typeface="Segoe UI"/>
              </a:rPr>
              <a:t>RESULT   </a:t>
            </a:r>
            <a:r>
              <a:rPr sz="1350" b="0" i="0">
                <a:solidFill>
                  <a:srgbClr val="C9D0FF"/>
                </a:solidFill>
                <a:latin typeface="Segoe UI"/>
              </a:rPr>
              <a:t>The clear-cut cases cost nothing (no API call). Uncertain cases go to the LLM in a single batch. Everything the LLM says is checked against the transcript. If no LLM key is configured the app still works - the NLP result is shown and uncertain items are marked Needs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6949440" y="-2011680"/>
            <a:ext cx="7772400" cy="77724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3291840"/>
            <a:ext cx="5669280" cy="566928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423160"/>
            <a:ext cx="1188720" cy="1188720"/>
          </a:xfrm>
          <a:prstGeom prst="ellipse">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23160"/>
            <a:ext cx="1188720" cy="1188720"/>
          </a:xfrm>
          <a:prstGeom prst="rect">
            <a:avLst/>
          </a:prstGeom>
          <a:noFill/>
        </p:spPr>
        <p:txBody>
          <a:bodyPr wrap="square" lIns="36576" rIns="36576" tIns="18288" bIns="18288" anchor="ctr">
            <a:spAutoFit/>
          </a:bodyPr>
          <a:lstStyle/>
          <a:p>
            <a:pPr algn="ctr"/>
            <a:r>
              <a:rPr sz="3800" b="1" i="0">
                <a:solidFill>
                  <a:srgbClr val="FFFFFF"/>
                </a:solidFill>
                <a:latin typeface="Segoe UI"/>
              </a:rPr>
              <a:t>1</a:t>
            </a:r>
          </a:p>
        </p:txBody>
      </p:sp>
      <p:sp>
        <p:nvSpPr>
          <p:cNvPr id="8" name="TextBox 7"/>
          <p:cNvSpPr txBox="1"/>
          <p:nvPr/>
        </p:nvSpPr>
        <p:spPr>
          <a:xfrm>
            <a:off x="2331720" y="2331720"/>
            <a:ext cx="8686800" cy="822960"/>
          </a:xfrm>
          <a:prstGeom prst="rect">
            <a:avLst/>
          </a:prstGeom>
          <a:noFill/>
        </p:spPr>
        <p:txBody>
          <a:bodyPr wrap="square" lIns="36576" rIns="36576" tIns="18288" bIns="18288" anchor="ctr">
            <a:spAutoFit/>
          </a:bodyPr>
          <a:lstStyle/>
          <a:p>
            <a:pPr algn="l"/>
            <a:r>
              <a:rPr sz="3800" b="1" i="0">
                <a:solidFill>
                  <a:srgbClr val="FFFFFF"/>
                </a:solidFill>
                <a:latin typeface="Segoe UI"/>
              </a:rPr>
              <a:t>Architecture and pipeline</a:t>
            </a:r>
          </a:p>
        </p:txBody>
      </p:sp>
      <p:sp>
        <p:nvSpPr>
          <p:cNvPr id="9" name="TextBox 8"/>
          <p:cNvSpPr txBox="1"/>
          <p:nvPr/>
        </p:nvSpPr>
        <p:spPr>
          <a:xfrm>
            <a:off x="2331720" y="3154680"/>
            <a:ext cx="8046720" cy="822960"/>
          </a:xfrm>
          <a:prstGeom prst="rect">
            <a:avLst/>
          </a:prstGeom>
          <a:noFill/>
        </p:spPr>
        <p:txBody>
          <a:bodyPr wrap="square" lIns="36576" rIns="36576" tIns="18288" bIns="18288" anchor="t">
            <a:spAutoFit/>
          </a:bodyPr>
          <a:lstStyle/>
          <a:p>
            <a:pPr algn="l"/>
            <a:r>
              <a:rPr sz="1700" b="0" i="0">
                <a:solidFill>
                  <a:srgbClr val="C9D0FF"/>
                </a:solidFill>
                <a:latin typeface="Segoe UI"/>
              </a:rPr>
              <a:t>Four layers, fourteen steps, one rule: pages draw, core thinks.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SYSTEM DESIGN</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Architecture: four simple layers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8</a:t>
            </a:r>
          </a:p>
        </p:txBody>
      </p:sp>
      <p:sp>
        <p:nvSpPr>
          <p:cNvPr id="10" name="Rounded Rectangle 9"/>
          <p:cNvSpPr/>
          <p:nvPr/>
        </p:nvSpPr>
        <p:spPr>
          <a:xfrm>
            <a:off x="548640" y="1325880"/>
            <a:ext cx="11109960" cy="914400"/>
          </a:xfrm>
          <a:prstGeom prst="roundRect">
            <a:avLst>
              <a:gd name="adj" fmla="val 5000"/>
            </a:avLst>
          </a:prstGeom>
          <a:noFill/>
          <a:ln w="13970">
            <a:solidFill>
              <a:srgbClr val="8B5CF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62456"/>
            <a:ext cx="10835640" cy="274320"/>
          </a:xfrm>
          <a:prstGeom prst="rect">
            <a:avLst/>
          </a:prstGeom>
          <a:noFill/>
        </p:spPr>
        <p:txBody>
          <a:bodyPr wrap="square" lIns="36576" rIns="36576" tIns="18288" bIns="18288" anchor="t">
            <a:spAutoFit/>
          </a:bodyPr>
          <a:lstStyle/>
          <a:p>
            <a:pPr algn="l"/>
            <a:r>
              <a:rPr sz="950" b="1" i="0">
                <a:solidFill>
                  <a:srgbClr val="D4C8FF"/>
                </a:solidFill>
                <a:latin typeface="Segoe UI"/>
              </a:rPr>
              <a:t>1 · PRESENTATION - STREAMLIT APP (APP.PY · VIEWS/ · UI/)</a:t>
            </a:r>
          </a:p>
        </p:txBody>
      </p:sp>
      <p:sp>
        <p:nvSpPr>
          <p:cNvPr id="12" name="Rounded Rectangle 11"/>
          <p:cNvSpPr/>
          <p:nvPr/>
        </p:nvSpPr>
        <p:spPr>
          <a:xfrm>
            <a:off x="62179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Dashboard</a:t>
            </a:r>
          </a:p>
        </p:txBody>
      </p:sp>
      <p:sp>
        <p:nvSpPr>
          <p:cNvPr id="14" name="Rounded Rectangle 13"/>
          <p:cNvSpPr/>
          <p:nvPr/>
        </p:nvSpPr>
        <p:spPr>
          <a:xfrm>
            <a:off x="152476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76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New Meeting</a:t>
            </a:r>
          </a:p>
        </p:txBody>
      </p:sp>
      <p:sp>
        <p:nvSpPr>
          <p:cNvPr id="16" name="Rounded Rectangle 15"/>
          <p:cNvSpPr/>
          <p:nvPr/>
        </p:nvSpPr>
        <p:spPr>
          <a:xfrm>
            <a:off x="242773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2773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Library</a:t>
            </a:r>
          </a:p>
        </p:txBody>
      </p:sp>
      <p:sp>
        <p:nvSpPr>
          <p:cNvPr id="18" name="Rounded Rectangle 17"/>
          <p:cNvSpPr/>
          <p:nvPr/>
        </p:nvSpPr>
        <p:spPr>
          <a:xfrm>
            <a:off x="333070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070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Meeting</a:t>
            </a:r>
          </a:p>
        </p:txBody>
      </p:sp>
      <p:sp>
        <p:nvSpPr>
          <p:cNvPr id="20" name="Rounded Rectangle 19"/>
          <p:cNvSpPr/>
          <p:nvPr/>
        </p:nvSpPr>
        <p:spPr>
          <a:xfrm>
            <a:off x="423367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3367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Ask AI</a:t>
            </a:r>
          </a:p>
        </p:txBody>
      </p:sp>
      <p:sp>
        <p:nvSpPr>
          <p:cNvPr id="22" name="Rounded Rectangle 21"/>
          <p:cNvSpPr/>
          <p:nvPr/>
        </p:nvSpPr>
        <p:spPr>
          <a:xfrm>
            <a:off x="513664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664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Search</a:t>
            </a:r>
          </a:p>
        </p:txBody>
      </p:sp>
      <p:sp>
        <p:nvSpPr>
          <p:cNvPr id="24" name="Rounded Rectangle 23"/>
          <p:cNvSpPr/>
          <p:nvPr/>
        </p:nvSpPr>
        <p:spPr>
          <a:xfrm>
            <a:off x="603961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961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Tracker</a:t>
            </a:r>
          </a:p>
        </p:txBody>
      </p:sp>
      <p:sp>
        <p:nvSpPr>
          <p:cNvPr id="26" name="Rounded Rectangle 25"/>
          <p:cNvSpPr/>
          <p:nvPr/>
        </p:nvSpPr>
        <p:spPr>
          <a:xfrm>
            <a:off x="6942581"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2581"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Calendar</a:t>
            </a:r>
          </a:p>
        </p:txBody>
      </p:sp>
      <p:sp>
        <p:nvSpPr>
          <p:cNvPr id="28" name="Rounded Rectangle 27"/>
          <p:cNvSpPr/>
          <p:nvPr/>
        </p:nvSpPr>
        <p:spPr>
          <a:xfrm>
            <a:off x="784555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4555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Minutes</a:t>
            </a:r>
          </a:p>
        </p:txBody>
      </p:sp>
      <p:sp>
        <p:nvSpPr>
          <p:cNvPr id="30" name="Rounded Rectangle 29"/>
          <p:cNvSpPr/>
          <p:nvPr/>
        </p:nvSpPr>
        <p:spPr>
          <a:xfrm>
            <a:off x="874852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4852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Follow-ups</a:t>
            </a:r>
          </a:p>
        </p:txBody>
      </p:sp>
      <p:sp>
        <p:nvSpPr>
          <p:cNvPr id="32" name="Rounded Rectangle 31"/>
          <p:cNvSpPr/>
          <p:nvPr/>
        </p:nvSpPr>
        <p:spPr>
          <a:xfrm>
            <a:off x="9651492"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51492"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NLP Lab</a:t>
            </a:r>
          </a:p>
        </p:txBody>
      </p:sp>
      <p:sp>
        <p:nvSpPr>
          <p:cNvPr id="34" name="Rounded Rectangle 33"/>
          <p:cNvSpPr/>
          <p:nvPr/>
        </p:nvSpPr>
        <p:spPr>
          <a:xfrm>
            <a:off x="10554461" y="1755648"/>
            <a:ext cx="838962" cy="34747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54461" y="1755648"/>
            <a:ext cx="838962" cy="347472"/>
          </a:xfrm>
          <a:prstGeom prst="rect">
            <a:avLst/>
          </a:prstGeom>
          <a:noFill/>
        </p:spPr>
        <p:txBody>
          <a:bodyPr wrap="square" lIns="36576" rIns="36576" tIns="18288" bIns="18288" anchor="ctr">
            <a:spAutoFit/>
          </a:bodyPr>
          <a:lstStyle/>
          <a:p>
            <a:pPr algn="ctr"/>
            <a:r>
              <a:rPr sz="850" b="1" i="0">
                <a:solidFill>
                  <a:srgbClr val="FFFFFF"/>
                </a:solidFill>
                <a:latin typeface="Segoe UI"/>
              </a:rPr>
              <a:t>Settings</a:t>
            </a:r>
          </a:p>
        </p:txBody>
      </p:sp>
      <p:cxnSp>
        <p:nvCxnSpPr>
          <p:cNvPr id="36" name="Connector 35"/>
          <p:cNvCxnSpPr/>
          <p:nvPr/>
        </p:nvCxnSpPr>
        <p:spPr>
          <a:xfrm>
            <a:off x="6099048" y="2240280"/>
            <a:ext cx="0" cy="301752"/>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779008" y="2267712"/>
            <a:ext cx="640080" cy="256032"/>
          </a:xfrm>
          <a:prstGeom prst="roundRect">
            <a:avLst>
              <a:gd name="adj" fmla="val 50000"/>
            </a:avLst>
          </a:prstGeom>
          <a:solidFill>
            <a:srgbClr val="151D5C"/>
          </a:solidFill>
          <a:ln w="11430">
            <a:solidFill>
              <a:srgbClr val="8F9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79008" y="2267712"/>
            <a:ext cx="64008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calls</a:t>
            </a:r>
          </a:p>
        </p:txBody>
      </p:sp>
      <p:sp>
        <p:nvSpPr>
          <p:cNvPr id="39" name="Rounded Rectangle 38"/>
          <p:cNvSpPr/>
          <p:nvPr/>
        </p:nvSpPr>
        <p:spPr>
          <a:xfrm>
            <a:off x="548640" y="2542032"/>
            <a:ext cx="11109960" cy="1828800"/>
          </a:xfrm>
          <a:prstGeom prst="roundRect">
            <a:avLst>
              <a:gd name="adj" fmla="val 5000"/>
            </a:avLst>
          </a:prstGeom>
          <a:noFill/>
          <a:ln w="13970">
            <a:solidFill>
              <a:srgbClr val="3B82F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2578608"/>
            <a:ext cx="10835640" cy="274320"/>
          </a:xfrm>
          <a:prstGeom prst="rect">
            <a:avLst/>
          </a:prstGeom>
          <a:noFill/>
        </p:spPr>
        <p:txBody>
          <a:bodyPr wrap="square" lIns="36576" rIns="36576" tIns="18288" bIns="18288" anchor="t">
            <a:spAutoFit/>
          </a:bodyPr>
          <a:lstStyle/>
          <a:p>
            <a:pPr algn="l"/>
            <a:r>
              <a:rPr sz="950" b="1" i="0">
                <a:solidFill>
                  <a:srgbClr val="A9CCFF"/>
                </a:solidFill>
                <a:latin typeface="Segoe UI"/>
              </a:rPr>
              <a:t>2 · APPLICATION LOGIC - CORE/ (PURE PYTHON, NO UI CODE)</a:t>
            </a:r>
          </a:p>
        </p:txBody>
      </p:sp>
      <p:sp>
        <p:nvSpPr>
          <p:cNvPr id="41" name="Rounded Rectangle 40"/>
          <p:cNvSpPr/>
          <p:nvPr/>
        </p:nvSpPr>
        <p:spPr>
          <a:xfrm>
            <a:off x="731520" y="2880360"/>
            <a:ext cx="2103120" cy="64008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8680" y="2880360"/>
            <a:ext cx="1828799"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294436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parsing.py</a:t>
            </a:r>
          </a:p>
        </p:txBody>
      </p:sp>
      <p:sp>
        <p:nvSpPr>
          <p:cNvPr id="44" name="TextBox 43"/>
          <p:cNvSpPr txBox="1"/>
          <p:nvPr/>
        </p:nvSpPr>
        <p:spPr>
          <a:xfrm>
            <a:off x="795528" y="3213201"/>
            <a:ext cx="1975103" cy="261518"/>
          </a:xfrm>
          <a:prstGeom prst="rect">
            <a:avLst/>
          </a:prstGeom>
          <a:noFill/>
        </p:spPr>
        <p:txBody>
          <a:bodyPr wrap="square" lIns="36576" rIns="36576" tIns="18288" bIns="18288" anchor="ctr">
            <a:spAutoFit/>
          </a:bodyPr>
          <a:lstStyle/>
          <a:p>
            <a:pPr algn="ctr"/>
            <a:r>
              <a:rPr sz="950" b="0" i="0">
                <a:solidFill>
                  <a:srgbClr val="A9CCFF"/>
                </a:solidFill>
                <a:latin typeface="Segoe UI"/>
              </a:rPr>
              <a:t>txt · vtt · srt · docx · pdf</a:t>
            </a:r>
          </a:p>
        </p:txBody>
      </p:sp>
      <p:sp>
        <p:nvSpPr>
          <p:cNvPr id="45" name="Rounded Rectangle 44"/>
          <p:cNvSpPr/>
          <p:nvPr/>
        </p:nvSpPr>
        <p:spPr>
          <a:xfrm>
            <a:off x="2926080" y="2880360"/>
            <a:ext cx="2103120" cy="6400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063240" y="2880360"/>
            <a:ext cx="1828799"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71800" y="294436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stt.py · diarize.py</a:t>
            </a:r>
          </a:p>
        </p:txBody>
      </p:sp>
      <p:sp>
        <p:nvSpPr>
          <p:cNvPr id="48" name="TextBox 47"/>
          <p:cNvSpPr txBox="1"/>
          <p:nvPr/>
        </p:nvSpPr>
        <p:spPr>
          <a:xfrm>
            <a:off x="2990088" y="3213201"/>
            <a:ext cx="1975103" cy="261518"/>
          </a:xfrm>
          <a:prstGeom prst="rect">
            <a:avLst/>
          </a:prstGeom>
          <a:noFill/>
        </p:spPr>
        <p:txBody>
          <a:bodyPr wrap="square" lIns="36576" rIns="36576" tIns="18288" bIns="18288" anchor="ctr">
            <a:spAutoFit/>
          </a:bodyPr>
          <a:lstStyle/>
          <a:p>
            <a:pPr algn="ctr"/>
            <a:r>
              <a:rPr sz="950" b="0" i="0">
                <a:solidFill>
                  <a:srgbClr val="7DF0DF"/>
                </a:solidFill>
                <a:latin typeface="Segoe UI"/>
              </a:rPr>
              <a:t>Whisper · pyannote · voiceprints</a:t>
            </a:r>
          </a:p>
        </p:txBody>
      </p:sp>
      <p:sp>
        <p:nvSpPr>
          <p:cNvPr id="49" name="Rounded Rectangle 48"/>
          <p:cNvSpPr/>
          <p:nvPr/>
        </p:nvSpPr>
        <p:spPr>
          <a:xfrm>
            <a:off x="5120640" y="2880360"/>
            <a:ext cx="2103120" cy="6400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257800" y="2880360"/>
            <a:ext cx="1828799"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66359" y="294436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nlp.py · dates.py</a:t>
            </a:r>
          </a:p>
        </p:txBody>
      </p:sp>
      <p:sp>
        <p:nvSpPr>
          <p:cNvPr id="52" name="TextBox 51"/>
          <p:cNvSpPr txBox="1"/>
          <p:nvPr/>
        </p:nvSpPr>
        <p:spPr>
          <a:xfrm>
            <a:off x="5184648" y="3213201"/>
            <a:ext cx="1975103" cy="261518"/>
          </a:xfrm>
          <a:prstGeom prst="rect">
            <a:avLst/>
          </a:prstGeom>
          <a:noFill/>
        </p:spPr>
        <p:txBody>
          <a:bodyPr wrap="square" lIns="36576" rIns="36576" tIns="18288" bIns="18288" anchor="ctr">
            <a:spAutoFit/>
          </a:bodyPr>
          <a:lstStyle/>
          <a:p>
            <a:pPr algn="ctr"/>
            <a:r>
              <a:rPr sz="950" b="0" i="0">
                <a:solidFill>
                  <a:srgbClr val="7DF0DF"/>
                </a:solidFill>
                <a:latin typeface="Segoe UI"/>
              </a:rPr>
              <a:t>rules · Naive Bayes · dates</a:t>
            </a:r>
          </a:p>
        </p:txBody>
      </p:sp>
      <p:sp>
        <p:nvSpPr>
          <p:cNvPr id="53" name="Rounded Rectangle 52"/>
          <p:cNvSpPr/>
          <p:nvPr/>
        </p:nvSpPr>
        <p:spPr>
          <a:xfrm>
            <a:off x="7315199" y="2880360"/>
            <a:ext cx="2103120" cy="64008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452359" y="2880360"/>
            <a:ext cx="1828799"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60919" y="294436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gateway.py</a:t>
            </a:r>
          </a:p>
        </p:txBody>
      </p:sp>
      <p:sp>
        <p:nvSpPr>
          <p:cNvPr id="56" name="TextBox 55"/>
          <p:cNvSpPr txBox="1"/>
          <p:nvPr/>
        </p:nvSpPr>
        <p:spPr>
          <a:xfrm>
            <a:off x="7379207" y="3213201"/>
            <a:ext cx="1975103" cy="261518"/>
          </a:xfrm>
          <a:prstGeom prst="rect">
            <a:avLst/>
          </a:prstGeom>
          <a:noFill/>
        </p:spPr>
        <p:txBody>
          <a:bodyPr wrap="square" lIns="36576" rIns="36576" tIns="18288" bIns="18288" anchor="ctr">
            <a:spAutoFit/>
          </a:bodyPr>
          <a:lstStyle/>
          <a:p>
            <a:pPr algn="ctr"/>
            <a:r>
              <a:rPr sz="950" b="0" i="0">
                <a:solidFill>
                  <a:srgbClr val="FFD978"/>
                </a:solidFill>
                <a:latin typeface="Segoe UI"/>
              </a:rPr>
              <a:t>confidence checkpoint</a:t>
            </a:r>
          </a:p>
        </p:txBody>
      </p:sp>
      <p:sp>
        <p:nvSpPr>
          <p:cNvPr id="57" name="Rounded Rectangle 56"/>
          <p:cNvSpPr/>
          <p:nvPr/>
        </p:nvSpPr>
        <p:spPr>
          <a:xfrm>
            <a:off x="9509760" y="2880360"/>
            <a:ext cx="2103120" cy="6400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646920" y="2880360"/>
            <a:ext cx="1828799"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555480" y="294436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speakers.py</a:t>
            </a:r>
          </a:p>
        </p:txBody>
      </p:sp>
      <p:sp>
        <p:nvSpPr>
          <p:cNvPr id="60" name="TextBox 59"/>
          <p:cNvSpPr txBox="1"/>
          <p:nvPr/>
        </p:nvSpPr>
        <p:spPr>
          <a:xfrm>
            <a:off x="9573768" y="3213201"/>
            <a:ext cx="1975103" cy="261518"/>
          </a:xfrm>
          <a:prstGeom prst="rect">
            <a:avLst/>
          </a:prstGeom>
          <a:noFill/>
        </p:spPr>
        <p:txBody>
          <a:bodyPr wrap="square" lIns="36576" rIns="36576" tIns="18288" bIns="18288" anchor="ctr">
            <a:spAutoFit/>
          </a:bodyPr>
          <a:lstStyle/>
          <a:p>
            <a:pPr algn="ctr"/>
            <a:r>
              <a:rPr sz="950" b="0" i="0">
                <a:solidFill>
                  <a:srgbClr val="7DF0DF"/>
                </a:solidFill>
                <a:latin typeface="Segoe UI"/>
              </a:rPr>
              <a:t>name suggestions</a:t>
            </a:r>
          </a:p>
        </p:txBody>
      </p:sp>
      <p:sp>
        <p:nvSpPr>
          <p:cNvPr id="61" name="Rounded Rectangle 60"/>
          <p:cNvSpPr/>
          <p:nvPr/>
        </p:nvSpPr>
        <p:spPr>
          <a:xfrm>
            <a:off x="731520" y="3611880"/>
            <a:ext cx="2103120" cy="64008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 y="3611880"/>
            <a:ext cx="1828799"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7240" y="367588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llm.py · llm_tasks.py</a:t>
            </a:r>
          </a:p>
        </p:txBody>
      </p:sp>
      <p:sp>
        <p:nvSpPr>
          <p:cNvPr id="64" name="TextBox 63"/>
          <p:cNvSpPr txBox="1"/>
          <p:nvPr/>
        </p:nvSpPr>
        <p:spPr>
          <a:xfrm>
            <a:off x="795528" y="3944721"/>
            <a:ext cx="1975103" cy="261518"/>
          </a:xfrm>
          <a:prstGeom prst="rect">
            <a:avLst/>
          </a:prstGeom>
          <a:noFill/>
        </p:spPr>
        <p:txBody>
          <a:bodyPr wrap="square" lIns="36576" rIns="36576" tIns="18288" bIns="18288" anchor="ctr">
            <a:spAutoFit/>
          </a:bodyPr>
          <a:lstStyle/>
          <a:p>
            <a:pPr algn="ctr"/>
            <a:r>
              <a:rPr sz="950" b="0" i="0">
                <a:solidFill>
                  <a:srgbClr val="FFB7DE"/>
                </a:solidFill>
                <a:latin typeface="Segoe UI"/>
              </a:rPr>
              <a:t>free-LLM router · prompts</a:t>
            </a:r>
          </a:p>
        </p:txBody>
      </p:sp>
      <p:sp>
        <p:nvSpPr>
          <p:cNvPr id="65" name="Rounded Rectangle 64"/>
          <p:cNvSpPr/>
          <p:nvPr/>
        </p:nvSpPr>
        <p:spPr>
          <a:xfrm>
            <a:off x="2926080" y="3611880"/>
            <a:ext cx="2103120" cy="6400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063240" y="3611880"/>
            <a:ext cx="1828799"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971800" y="367588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pipeline.py</a:t>
            </a:r>
          </a:p>
        </p:txBody>
      </p:sp>
      <p:sp>
        <p:nvSpPr>
          <p:cNvPr id="68" name="TextBox 67"/>
          <p:cNvSpPr txBox="1"/>
          <p:nvPr/>
        </p:nvSpPr>
        <p:spPr>
          <a:xfrm>
            <a:off x="2990088" y="3944721"/>
            <a:ext cx="1975103" cy="261518"/>
          </a:xfrm>
          <a:prstGeom prst="rect">
            <a:avLst/>
          </a:prstGeom>
          <a:noFill/>
        </p:spPr>
        <p:txBody>
          <a:bodyPr wrap="square" lIns="36576" rIns="36576" tIns="18288" bIns="18288" anchor="ctr">
            <a:spAutoFit/>
          </a:bodyPr>
          <a:lstStyle/>
          <a:p>
            <a:pPr algn="ctr"/>
            <a:r>
              <a:rPr sz="950" b="0" i="0">
                <a:solidFill>
                  <a:srgbClr val="D4C8FF"/>
                </a:solidFill>
                <a:latin typeface="Segoe UI"/>
              </a:rPr>
              <a:t>orchestrates + validates</a:t>
            </a:r>
          </a:p>
        </p:txBody>
      </p:sp>
      <p:sp>
        <p:nvSpPr>
          <p:cNvPr id="69" name="Rounded Rectangle 68"/>
          <p:cNvSpPr/>
          <p:nvPr/>
        </p:nvSpPr>
        <p:spPr>
          <a:xfrm>
            <a:off x="5120640" y="3611880"/>
            <a:ext cx="2103120" cy="6400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257800" y="3611880"/>
            <a:ext cx="1828799"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166359" y="367588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rag.py</a:t>
            </a:r>
          </a:p>
        </p:txBody>
      </p:sp>
      <p:sp>
        <p:nvSpPr>
          <p:cNvPr id="72" name="TextBox 71"/>
          <p:cNvSpPr txBox="1"/>
          <p:nvPr/>
        </p:nvSpPr>
        <p:spPr>
          <a:xfrm>
            <a:off x="5184648" y="3944721"/>
            <a:ext cx="1975103" cy="261518"/>
          </a:xfrm>
          <a:prstGeom prst="rect">
            <a:avLst/>
          </a:prstGeom>
          <a:noFill/>
        </p:spPr>
        <p:txBody>
          <a:bodyPr wrap="square" lIns="36576" rIns="36576" tIns="18288" bIns="18288" anchor="ctr">
            <a:spAutoFit/>
          </a:bodyPr>
          <a:lstStyle/>
          <a:p>
            <a:pPr algn="ctr"/>
            <a:r>
              <a:rPr sz="950" b="0" i="0">
                <a:solidFill>
                  <a:srgbClr val="8CF0C6"/>
                </a:solidFill>
                <a:latin typeface="Segoe UI"/>
              </a:rPr>
              <a:t>index · search · chat</a:t>
            </a:r>
          </a:p>
        </p:txBody>
      </p:sp>
      <p:sp>
        <p:nvSpPr>
          <p:cNvPr id="73" name="Rounded Rectangle 72"/>
          <p:cNvSpPr/>
          <p:nvPr/>
        </p:nvSpPr>
        <p:spPr>
          <a:xfrm>
            <a:off x="7315199" y="3611880"/>
            <a:ext cx="2103120" cy="64008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452359" y="3611880"/>
            <a:ext cx="1828799"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360919" y="367588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mom.py · mailer.py · ics.py</a:t>
            </a:r>
          </a:p>
        </p:txBody>
      </p:sp>
      <p:sp>
        <p:nvSpPr>
          <p:cNvPr id="76" name="TextBox 75"/>
          <p:cNvSpPr txBox="1"/>
          <p:nvPr/>
        </p:nvSpPr>
        <p:spPr>
          <a:xfrm>
            <a:off x="7379207" y="3944721"/>
            <a:ext cx="1975103" cy="261518"/>
          </a:xfrm>
          <a:prstGeom prst="rect">
            <a:avLst/>
          </a:prstGeom>
          <a:noFill/>
        </p:spPr>
        <p:txBody>
          <a:bodyPr wrap="square" lIns="36576" rIns="36576" tIns="18288" bIns="18288" anchor="ctr">
            <a:spAutoFit/>
          </a:bodyPr>
          <a:lstStyle/>
          <a:p>
            <a:pPr algn="ctr"/>
            <a:r>
              <a:rPr sz="950" b="0" i="0">
                <a:solidFill>
                  <a:srgbClr val="A9CCFF"/>
                </a:solidFill>
                <a:latin typeface="Segoe UI"/>
              </a:rPr>
              <a:t>minutes · e-mail · calendar</a:t>
            </a:r>
          </a:p>
        </p:txBody>
      </p:sp>
      <p:sp>
        <p:nvSpPr>
          <p:cNvPr id="77" name="Rounded Rectangle 76"/>
          <p:cNvSpPr/>
          <p:nvPr/>
        </p:nvSpPr>
        <p:spPr>
          <a:xfrm>
            <a:off x="9509760" y="3611880"/>
            <a:ext cx="2103120" cy="64008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646920" y="3611880"/>
            <a:ext cx="1828799"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555480" y="3675888"/>
            <a:ext cx="2011679" cy="268833"/>
          </a:xfrm>
          <a:prstGeom prst="rect">
            <a:avLst/>
          </a:prstGeom>
          <a:noFill/>
        </p:spPr>
        <p:txBody>
          <a:bodyPr wrap="square" lIns="36576" rIns="36576" tIns="18288" bIns="18288" anchor="ctr">
            <a:spAutoFit/>
          </a:bodyPr>
          <a:lstStyle/>
          <a:p>
            <a:pPr algn="ctr"/>
            <a:r>
              <a:rPr sz="1150" b="1" i="0">
                <a:solidFill>
                  <a:srgbClr val="FFFFFF"/>
                </a:solidFill>
                <a:latin typeface="Segoe UI"/>
              </a:rPr>
              <a:t>followups.py · db.py</a:t>
            </a:r>
          </a:p>
        </p:txBody>
      </p:sp>
      <p:sp>
        <p:nvSpPr>
          <p:cNvPr id="80" name="TextBox 79"/>
          <p:cNvSpPr txBox="1"/>
          <p:nvPr/>
        </p:nvSpPr>
        <p:spPr>
          <a:xfrm>
            <a:off x="9573768" y="3944721"/>
            <a:ext cx="1975103" cy="261518"/>
          </a:xfrm>
          <a:prstGeom prst="rect">
            <a:avLst/>
          </a:prstGeom>
          <a:noFill/>
        </p:spPr>
        <p:txBody>
          <a:bodyPr wrap="square" lIns="36576" rIns="36576" tIns="18288" bIns="18288" anchor="ctr">
            <a:spAutoFit/>
          </a:bodyPr>
          <a:lstStyle/>
          <a:p>
            <a:pPr algn="ctr"/>
            <a:r>
              <a:rPr sz="950" b="0" i="0">
                <a:solidFill>
                  <a:srgbClr val="D2D7F5"/>
                </a:solidFill>
                <a:latin typeface="Segoe UI"/>
              </a:rPr>
              <a:t>reminders · all SQL</a:t>
            </a:r>
          </a:p>
        </p:txBody>
      </p:sp>
      <p:cxnSp>
        <p:nvCxnSpPr>
          <p:cNvPr id="81" name="Connector 80"/>
          <p:cNvCxnSpPr/>
          <p:nvPr/>
        </p:nvCxnSpPr>
        <p:spPr>
          <a:xfrm>
            <a:off x="3200400" y="4370832"/>
            <a:ext cx="0" cy="18288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2651760" y="4334256"/>
            <a:ext cx="1097280" cy="256032"/>
          </a:xfrm>
          <a:prstGeom prst="roundRect">
            <a:avLst>
              <a:gd name="adj" fmla="val 50000"/>
            </a:avLst>
          </a:prstGeom>
          <a:solidFill>
            <a:srgbClr val="151D5C"/>
          </a:solidFill>
          <a:ln w="11430">
            <a:solidFill>
              <a:srgbClr val="8F9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51760" y="4334256"/>
            <a:ext cx="109728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SQL · vectors</a:t>
            </a:r>
          </a:p>
        </p:txBody>
      </p:sp>
      <p:cxnSp>
        <p:nvCxnSpPr>
          <p:cNvPr id="84" name="Connector 83"/>
          <p:cNvCxnSpPr/>
          <p:nvPr/>
        </p:nvCxnSpPr>
        <p:spPr>
          <a:xfrm>
            <a:off x="8961120" y="4370832"/>
            <a:ext cx="0" cy="18288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Rounded Rectangle 84"/>
          <p:cNvSpPr/>
          <p:nvPr/>
        </p:nvSpPr>
        <p:spPr>
          <a:xfrm>
            <a:off x="8618220" y="4334256"/>
            <a:ext cx="685800" cy="256032"/>
          </a:xfrm>
          <a:prstGeom prst="roundRect">
            <a:avLst>
              <a:gd name="adj" fmla="val 50000"/>
            </a:avLst>
          </a:prstGeom>
          <a:solidFill>
            <a:srgbClr val="151D5C"/>
          </a:solidFill>
          <a:ln w="11430">
            <a:solidFill>
              <a:srgbClr val="8F9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618220" y="4334256"/>
            <a:ext cx="68580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HTTPS</a:t>
            </a:r>
          </a:p>
        </p:txBody>
      </p:sp>
      <p:sp>
        <p:nvSpPr>
          <p:cNvPr id="87" name="Rounded Rectangle 86"/>
          <p:cNvSpPr/>
          <p:nvPr/>
        </p:nvSpPr>
        <p:spPr>
          <a:xfrm>
            <a:off x="548640" y="4553712"/>
            <a:ext cx="5394960" cy="1097280"/>
          </a:xfrm>
          <a:prstGeom prst="roundRect">
            <a:avLst>
              <a:gd name="adj" fmla="val 5000"/>
            </a:avLst>
          </a:prstGeom>
          <a:noFill/>
          <a:ln w="13970">
            <a:solidFill>
              <a:srgbClr val="34D3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58368" y="4590288"/>
            <a:ext cx="5120640" cy="274320"/>
          </a:xfrm>
          <a:prstGeom prst="rect">
            <a:avLst/>
          </a:prstGeom>
          <a:noFill/>
        </p:spPr>
        <p:txBody>
          <a:bodyPr wrap="square" lIns="36576" rIns="36576" tIns="18288" bIns="18288" anchor="t">
            <a:spAutoFit/>
          </a:bodyPr>
          <a:lstStyle/>
          <a:p>
            <a:pPr algn="l"/>
            <a:r>
              <a:rPr sz="950" b="1" i="0">
                <a:solidFill>
                  <a:srgbClr val="8CF0C6"/>
                </a:solidFill>
                <a:latin typeface="Segoe UI"/>
              </a:rPr>
              <a:t>3 · STORAGE  (DATA/ FOLDER)</a:t>
            </a:r>
          </a:p>
        </p:txBody>
      </p:sp>
      <p:sp>
        <p:nvSpPr>
          <p:cNvPr id="89" name="Rounded Rectangle 88"/>
          <p:cNvSpPr/>
          <p:nvPr/>
        </p:nvSpPr>
        <p:spPr>
          <a:xfrm>
            <a:off x="685800" y="4919472"/>
            <a:ext cx="1664208" cy="6400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22960" y="4919472"/>
            <a:ext cx="1389888"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31520" y="4983480"/>
            <a:ext cx="1572768" cy="268833"/>
          </a:xfrm>
          <a:prstGeom prst="rect">
            <a:avLst/>
          </a:prstGeom>
          <a:noFill/>
        </p:spPr>
        <p:txBody>
          <a:bodyPr wrap="square" lIns="36576" rIns="36576" tIns="18288" bIns="18288" anchor="ctr">
            <a:spAutoFit/>
          </a:bodyPr>
          <a:lstStyle/>
          <a:p>
            <a:pPr algn="ctr"/>
            <a:r>
              <a:rPr sz="1100" b="1" i="0">
                <a:solidFill>
                  <a:srgbClr val="FFFFFF"/>
                </a:solidFill>
                <a:latin typeface="Segoe UI"/>
              </a:rPr>
              <a:t>SQLite + FTS5</a:t>
            </a:r>
          </a:p>
        </p:txBody>
      </p:sp>
      <p:sp>
        <p:nvSpPr>
          <p:cNvPr id="92" name="TextBox 91"/>
          <p:cNvSpPr txBox="1"/>
          <p:nvPr/>
        </p:nvSpPr>
        <p:spPr>
          <a:xfrm>
            <a:off x="749808" y="5252313"/>
            <a:ext cx="1536192" cy="261518"/>
          </a:xfrm>
          <a:prstGeom prst="rect">
            <a:avLst/>
          </a:prstGeom>
          <a:noFill/>
        </p:spPr>
        <p:txBody>
          <a:bodyPr wrap="square" lIns="36576" rIns="36576" tIns="18288" bIns="18288" anchor="ctr">
            <a:spAutoFit/>
          </a:bodyPr>
          <a:lstStyle/>
          <a:p>
            <a:pPr algn="ctr"/>
            <a:r>
              <a:rPr sz="900" b="0" i="0">
                <a:solidFill>
                  <a:srgbClr val="8CF0C6"/>
                </a:solidFill>
                <a:latin typeface="Segoe UI"/>
              </a:rPr>
              <a:t>meetings · tasks · chats</a:t>
            </a:r>
          </a:p>
        </p:txBody>
      </p:sp>
      <p:sp>
        <p:nvSpPr>
          <p:cNvPr id="93" name="Rounded Rectangle 92"/>
          <p:cNvSpPr/>
          <p:nvPr/>
        </p:nvSpPr>
        <p:spPr>
          <a:xfrm>
            <a:off x="2441448" y="4919472"/>
            <a:ext cx="1664208" cy="6400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2578608" y="4919472"/>
            <a:ext cx="1389888"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487168" y="4983480"/>
            <a:ext cx="1572768" cy="268833"/>
          </a:xfrm>
          <a:prstGeom prst="rect">
            <a:avLst/>
          </a:prstGeom>
          <a:noFill/>
        </p:spPr>
        <p:txBody>
          <a:bodyPr wrap="square" lIns="36576" rIns="36576" tIns="18288" bIns="18288" anchor="ctr">
            <a:spAutoFit/>
          </a:bodyPr>
          <a:lstStyle/>
          <a:p>
            <a:pPr algn="ctr"/>
            <a:r>
              <a:rPr sz="1100" b="1" i="0">
                <a:solidFill>
                  <a:srgbClr val="FFFFFF"/>
                </a:solidFill>
                <a:latin typeface="Segoe UI"/>
              </a:rPr>
              <a:t>ChromaDB</a:t>
            </a:r>
          </a:p>
        </p:txBody>
      </p:sp>
      <p:sp>
        <p:nvSpPr>
          <p:cNvPr id="96" name="TextBox 95"/>
          <p:cNvSpPr txBox="1"/>
          <p:nvPr/>
        </p:nvSpPr>
        <p:spPr>
          <a:xfrm>
            <a:off x="2505456" y="5252313"/>
            <a:ext cx="1536192" cy="261518"/>
          </a:xfrm>
          <a:prstGeom prst="rect">
            <a:avLst/>
          </a:prstGeom>
          <a:noFill/>
        </p:spPr>
        <p:txBody>
          <a:bodyPr wrap="square" lIns="36576" rIns="36576" tIns="18288" bIns="18288" anchor="ctr">
            <a:spAutoFit/>
          </a:bodyPr>
          <a:lstStyle/>
          <a:p>
            <a:pPr algn="ctr"/>
            <a:r>
              <a:rPr sz="900" b="0" i="0">
                <a:solidFill>
                  <a:srgbClr val="8CF0C6"/>
                </a:solidFill>
                <a:latin typeface="Segoe UI"/>
              </a:rPr>
              <a:t>semantic vectors</a:t>
            </a:r>
          </a:p>
        </p:txBody>
      </p:sp>
      <p:sp>
        <p:nvSpPr>
          <p:cNvPr id="97" name="Rounded Rectangle 96"/>
          <p:cNvSpPr/>
          <p:nvPr/>
        </p:nvSpPr>
        <p:spPr>
          <a:xfrm>
            <a:off x="4197096" y="4919472"/>
            <a:ext cx="1664208" cy="6400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334256" y="4919472"/>
            <a:ext cx="1389888"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242816" y="4983480"/>
            <a:ext cx="1572768" cy="268833"/>
          </a:xfrm>
          <a:prstGeom prst="rect">
            <a:avLst/>
          </a:prstGeom>
          <a:noFill/>
        </p:spPr>
        <p:txBody>
          <a:bodyPr wrap="square" lIns="36576" rIns="36576" tIns="18288" bIns="18288" anchor="ctr">
            <a:spAutoFit/>
          </a:bodyPr>
          <a:lstStyle/>
          <a:p>
            <a:pPr algn="ctr"/>
            <a:r>
              <a:rPr sz="1100" b="1" i="0">
                <a:solidFill>
                  <a:srgbClr val="FFFFFF"/>
                </a:solidFill>
                <a:latin typeface="Segoe UI"/>
              </a:rPr>
              <a:t>uploads/</a:t>
            </a:r>
          </a:p>
        </p:txBody>
      </p:sp>
      <p:sp>
        <p:nvSpPr>
          <p:cNvPr id="100" name="TextBox 99"/>
          <p:cNvSpPr txBox="1"/>
          <p:nvPr/>
        </p:nvSpPr>
        <p:spPr>
          <a:xfrm>
            <a:off x="4261104" y="5252313"/>
            <a:ext cx="1536192" cy="261518"/>
          </a:xfrm>
          <a:prstGeom prst="rect">
            <a:avLst/>
          </a:prstGeom>
          <a:noFill/>
        </p:spPr>
        <p:txBody>
          <a:bodyPr wrap="square" lIns="36576" rIns="36576" tIns="18288" bIns="18288" anchor="ctr">
            <a:spAutoFit/>
          </a:bodyPr>
          <a:lstStyle/>
          <a:p>
            <a:pPr algn="ctr"/>
            <a:r>
              <a:rPr sz="900" b="0" i="0">
                <a:solidFill>
                  <a:srgbClr val="8CF0C6"/>
                </a:solidFill>
                <a:latin typeface="Segoe UI"/>
              </a:rPr>
              <a:t>recordings</a:t>
            </a:r>
          </a:p>
        </p:txBody>
      </p:sp>
      <p:sp>
        <p:nvSpPr>
          <p:cNvPr id="101" name="Rounded Rectangle 100"/>
          <p:cNvSpPr/>
          <p:nvPr/>
        </p:nvSpPr>
        <p:spPr>
          <a:xfrm>
            <a:off x="6263640" y="4553712"/>
            <a:ext cx="5394960" cy="1097280"/>
          </a:xfrm>
          <a:prstGeom prst="roundRect">
            <a:avLst>
              <a:gd name="adj" fmla="val 5000"/>
            </a:avLst>
          </a:prstGeom>
          <a:noFill/>
          <a:ln w="13970">
            <a:solidFill>
              <a:srgbClr val="F59E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373368" y="4590288"/>
            <a:ext cx="5120640" cy="274320"/>
          </a:xfrm>
          <a:prstGeom prst="rect">
            <a:avLst/>
          </a:prstGeom>
          <a:noFill/>
        </p:spPr>
        <p:txBody>
          <a:bodyPr wrap="square" lIns="36576" rIns="36576" tIns="18288" bIns="18288" anchor="t">
            <a:spAutoFit/>
          </a:bodyPr>
          <a:lstStyle/>
          <a:p>
            <a:pPr algn="l"/>
            <a:r>
              <a:rPr sz="950" b="1" i="0">
                <a:solidFill>
                  <a:srgbClr val="FFD978"/>
                </a:solidFill>
                <a:latin typeface="Segoe UI"/>
              </a:rPr>
              <a:t>4 · EXTERNAL FREE SERVICES (OPTIONAL · API KEYS)</a:t>
            </a:r>
          </a:p>
        </p:txBody>
      </p:sp>
      <p:sp>
        <p:nvSpPr>
          <p:cNvPr id="103" name="Rounded Rectangle 102"/>
          <p:cNvSpPr/>
          <p:nvPr/>
        </p:nvSpPr>
        <p:spPr>
          <a:xfrm>
            <a:off x="6400800" y="4901184"/>
            <a:ext cx="1645920" cy="292608"/>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400800" y="4901184"/>
            <a:ext cx="1645920" cy="292608"/>
          </a:xfrm>
          <a:prstGeom prst="rect">
            <a:avLst/>
          </a:prstGeom>
          <a:noFill/>
        </p:spPr>
        <p:txBody>
          <a:bodyPr wrap="square" lIns="36576" rIns="36576" tIns="18288" bIns="18288" anchor="ctr">
            <a:spAutoFit/>
          </a:bodyPr>
          <a:lstStyle/>
          <a:p>
            <a:pPr algn="ctr"/>
            <a:r>
              <a:rPr sz="950" b="1" i="0">
                <a:solidFill>
                  <a:srgbClr val="FFFFFF"/>
                </a:solidFill>
                <a:latin typeface="Segoe UI"/>
              </a:rPr>
              <a:t>Groq</a:t>
            </a:r>
          </a:p>
        </p:txBody>
      </p:sp>
      <p:sp>
        <p:nvSpPr>
          <p:cNvPr id="105" name="Rounded Rectangle 104"/>
          <p:cNvSpPr/>
          <p:nvPr/>
        </p:nvSpPr>
        <p:spPr>
          <a:xfrm>
            <a:off x="8138160" y="4901184"/>
            <a:ext cx="1645920" cy="292608"/>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138160" y="4901184"/>
            <a:ext cx="1645920" cy="292608"/>
          </a:xfrm>
          <a:prstGeom prst="rect">
            <a:avLst/>
          </a:prstGeom>
          <a:noFill/>
        </p:spPr>
        <p:txBody>
          <a:bodyPr wrap="square" lIns="36576" rIns="36576" tIns="18288" bIns="18288" anchor="ctr">
            <a:spAutoFit/>
          </a:bodyPr>
          <a:lstStyle/>
          <a:p>
            <a:pPr algn="ctr"/>
            <a:r>
              <a:rPr sz="950" b="1" i="0">
                <a:solidFill>
                  <a:srgbClr val="FFFFFF"/>
                </a:solidFill>
                <a:latin typeface="Segoe UI"/>
              </a:rPr>
              <a:t>Gemini</a:t>
            </a:r>
          </a:p>
        </p:txBody>
      </p:sp>
      <p:sp>
        <p:nvSpPr>
          <p:cNvPr id="107" name="Rounded Rectangle 106"/>
          <p:cNvSpPr/>
          <p:nvPr/>
        </p:nvSpPr>
        <p:spPr>
          <a:xfrm>
            <a:off x="9875520" y="4901184"/>
            <a:ext cx="1645920" cy="292608"/>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875520" y="4901184"/>
            <a:ext cx="1645920" cy="292608"/>
          </a:xfrm>
          <a:prstGeom prst="rect">
            <a:avLst/>
          </a:prstGeom>
          <a:noFill/>
        </p:spPr>
        <p:txBody>
          <a:bodyPr wrap="square" lIns="36576" rIns="36576" tIns="18288" bIns="18288" anchor="ctr">
            <a:spAutoFit/>
          </a:bodyPr>
          <a:lstStyle/>
          <a:p>
            <a:pPr algn="ctr"/>
            <a:r>
              <a:rPr sz="950" b="1" i="0">
                <a:solidFill>
                  <a:srgbClr val="FFFFFF"/>
                </a:solidFill>
                <a:latin typeface="Segoe UI"/>
              </a:rPr>
              <a:t>OpenRouter</a:t>
            </a:r>
          </a:p>
        </p:txBody>
      </p:sp>
      <p:sp>
        <p:nvSpPr>
          <p:cNvPr id="109" name="Rounded Rectangle 108"/>
          <p:cNvSpPr/>
          <p:nvPr/>
        </p:nvSpPr>
        <p:spPr>
          <a:xfrm>
            <a:off x="6400800" y="5248656"/>
            <a:ext cx="1645920" cy="292608"/>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400800" y="5248656"/>
            <a:ext cx="1645920" cy="292608"/>
          </a:xfrm>
          <a:prstGeom prst="rect">
            <a:avLst/>
          </a:prstGeom>
          <a:noFill/>
        </p:spPr>
        <p:txBody>
          <a:bodyPr wrap="square" lIns="36576" rIns="36576" tIns="18288" bIns="18288" anchor="ctr">
            <a:spAutoFit/>
          </a:bodyPr>
          <a:lstStyle/>
          <a:p>
            <a:pPr algn="ctr"/>
            <a:r>
              <a:rPr sz="950" b="1" i="0">
                <a:solidFill>
                  <a:srgbClr val="FFFFFF"/>
                </a:solidFill>
                <a:latin typeface="Segoe UI"/>
              </a:rPr>
              <a:t>pyannoteAI</a:t>
            </a:r>
          </a:p>
        </p:txBody>
      </p:sp>
      <p:sp>
        <p:nvSpPr>
          <p:cNvPr id="111" name="Rounded Rectangle 110"/>
          <p:cNvSpPr/>
          <p:nvPr/>
        </p:nvSpPr>
        <p:spPr>
          <a:xfrm>
            <a:off x="8138160" y="5248656"/>
            <a:ext cx="1645920" cy="292608"/>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138160" y="5248656"/>
            <a:ext cx="1645920" cy="292608"/>
          </a:xfrm>
          <a:prstGeom prst="rect">
            <a:avLst/>
          </a:prstGeom>
          <a:noFill/>
        </p:spPr>
        <p:txBody>
          <a:bodyPr wrap="square" lIns="36576" rIns="36576" tIns="18288" bIns="18288" anchor="ctr">
            <a:spAutoFit/>
          </a:bodyPr>
          <a:lstStyle/>
          <a:p>
            <a:pPr algn="ctr"/>
            <a:r>
              <a:rPr sz="950" b="1" i="0">
                <a:solidFill>
                  <a:srgbClr val="FFFFFF"/>
                </a:solidFill>
                <a:latin typeface="Segoe UI"/>
              </a:rPr>
              <a:t>AssemblyAI</a:t>
            </a:r>
          </a:p>
        </p:txBody>
      </p:sp>
      <p:sp>
        <p:nvSpPr>
          <p:cNvPr id="113" name="Rounded Rectangle 112"/>
          <p:cNvSpPr/>
          <p:nvPr/>
        </p:nvSpPr>
        <p:spPr>
          <a:xfrm>
            <a:off x="9875520" y="5248656"/>
            <a:ext cx="1645920" cy="292608"/>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875520" y="5248656"/>
            <a:ext cx="1645920" cy="292608"/>
          </a:xfrm>
          <a:prstGeom prst="rect">
            <a:avLst/>
          </a:prstGeom>
          <a:noFill/>
        </p:spPr>
        <p:txBody>
          <a:bodyPr wrap="square" lIns="36576" rIns="36576" tIns="18288" bIns="18288" anchor="ctr">
            <a:spAutoFit/>
          </a:bodyPr>
          <a:lstStyle/>
          <a:p>
            <a:pPr algn="ctr"/>
            <a:r>
              <a:rPr sz="950" b="1" i="0">
                <a:solidFill>
                  <a:srgbClr val="FFFFFF"/>
                </a:solidFill>
                <a:latin typeface="Segoe UI"/>
              </a:rPr>
              <a:t>SMTP</a:t>
            </a:r>
          </a:p>
        </p:txBody>
      </p:sp>
      <p:sp>
        <p:nvSpPr>
          <p:cNvPr id="115" name="Rounded Rectangle 114"/>
          <p:cNvSpPr/>
          <p:nvPr/>
        </p:nvSpPr>
        <p:spPr>
          <a:xfrm>
            <a:off x="548640" y="5760720"/>
            <a:ext cx="11109960" cy="54864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48640" y="5833872"/>
            <a:ext cx="64008" cy="402335"/>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49808" y="5797296"/>
            <a:ext cx="10789920" cy="475488"/>
          </a:xfrm>
          <a:prstGeom prst="rect">
            <a:avLst/>
          </a:prstGeom>
          <a:noFill/>
        </p:spPr>
        <p:txBody>
          <a:bodyPr wrap="square" lIns="36576" rIns="36576" tIns="18288" bIns="18288" anchor="ctr">
            <a:spAutoFit/>
          </a:bodyPr>
          <a:lstStyle/>
          <a:p>
            <a:pPr algn="l"/>
            <a:r>
              <a:rPr sz="1100" b="1" i="0">
                <a:solidFill>
                  <a:srgbClr val="D4C8FF"/>
                </a:solidFill>
                <a:latin typeface="Segoe UI"/>
              </a:rPr>
              <a:t>RULES   </a:t>
            </a:r>
            <a:r>
              <a:rPr sz="1200" b="0" i="0">
                <a:solidFill>
                  <a:srgbClr val="C9D0FF"/>
                </a:solidFill>
                <a:latin typeface="Segoe UI"/>
              </a:rPr>
              <a:t>views/ draw, core/ thinks  ·  db.py is the only SQL writer  ·  every external service is optional and has a fallback.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PIPELINE</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What happens to one meeting: 14 steps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9</a:t>
            </a:r>
          </a:p>
        </p:txBody>
      </p:sp>
      <p:sp>
        <p:nvSpPr>
          <p:cNvPr id="10" name="Rounded Rectangle 9"/>
          <p:cNvSpPr/>
          <p:nvPr/>
        </p:nvSpPr>
        <p:spPr>
          <a:xfrm>
            <a:off x="548640" y="1600200"/>
            <a:ext cx="1417320" cy="109728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114300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66420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Upload</a:t>
            </a:r>
          </a:p>
        </p:txBody>
      </p:sp>
      <p:sp>
        <p:nvSpPr>
          <p:cNvPr id="13" name="TextBox 12"/>
          <p:cNvSpPr txBox="1"/>
          <p:nvPr/>
        </p:nvSpPr>
        <p:spPr>
          <a:xfrm>
            <a:off x="612647" y="2121408"/>
            <a:ext cx="1289304" cy="530352"/>
          </a:xfrm>
          <a:prstGeom prst="rect">
            <a:avLst/>
          </a:prstGeom>
          <a:noFill/>
        </p:spPr>
        <p:txBody>
          <a:bodyPr wrap="square" lIns="36576" rIns="36576" tIns="18288" bIns="18288" anchor="ctr">
            <a:spAutoFit/>
          </a:bodyPr>
          <a:lstStyle/>
          <a:p>
            <a:pPr algn="ctr"/>
            <a:r>
              <a:rPr sz="1000" b="0" i="0">
                <a:solidFill>
                  <a:srgbClr val="A9CCFF"/>
                </a:solidFill>
                <a:latin typeface="Segoe UI"/>
              </a:rPr>
              <a:t>file + options</a:t>
            </a:r>
          </a:p>
        </p:txBody>
      </p:sp>
      <p:sp>
        <p:nvSpPr>
          <p:cNvPr id="14" name="Oval 13"/>
          <p:cNvSpPr/>
          <p:nvPr/>
        </p:nvSpPr>
        <p:spPr>
          <a:xfrm>
            <a:off x="429768" y="1481328"/>
            <a:ext cx="310896" cy="310896"/>
          </a:xfrm>
          <a:prstGeom prst="ellipse">
            <a:avLst/>
          </a:prstGeom>
          <a:solidFill>
            <a:srgbClr val="3B82F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48132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1</a:t>
            </a:r>
          </a:p>
        </p:txBody>
      </p:sp>
      <p:cxnSp>
        <p:nvCxnSpPr>
          <p:cNvPr id="16" name="Connector 15"/>
          <p:cNvCxnSpPr/>
          <p:nvPr/>
        </p:nvCxnSpPr>
        <p:spPr>
          <a:xfrm>
            <a:off x="1965960" y="214884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148840" y="1600200"/>
            <a:ext cx="1417320" cy="109728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0" y="1600200"/>
            <a:ext cx="114300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94560" y="166420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Read</a:t>
            </a:r>
          </a:p>
        </p:txBody>
      </p:sp>
      <p:sp>
        <p:nvSpPr>
          <p:cNvPr id="20" name="TextBox 19"/>
          <p:cNvSpPr txBox="1"/>
          <p:nvPr/>
        </p:nvSpPr>
        <p:spPr>
          <a:xfrm>
            <a:off x="2212848" y="2121408"/>
            <a:ext cx="1289304" cy="530352"/>
          </a:xfrm>
          <a:prstGeom prst="rect">
            <a:avLst/>
          </a:prstGeom>
          <a:noFill/>
        </p:spPr>
        <p:txBody>
          <a:bodyPr wrap="square" lIns="36576" rIns="36576" tIns="18288" bIns="18288" anchor="ctr">
            <a:spAutoFit/>
          </a:bodyPr>
          <a:lstStyle/>
          <a:p>
            <a:pPr algn="ctr"/>
            <a:r>
              <a:rPr sz="1000" b="0" i="0">
                <a:solidFill>
                  <a:srgbClr val="A9CCFF"/>
                </a:solidFill>
                <a:latin typeface="Segoe UI"/>
              </a:rPr>
              <a:t>parse or FFmpeg convert + chunk</a:t>
            </a:r>
          </a:p>
        </p:txBody>
      </p:sp>
      <p:sp>
        <p:nvSpPr>
          <p:cNvPr id="21" name="Oval 20"/>
          <p:cNvSpPr/>
          <p:nvPr/>
        </p:nvSpPr>
        <p:spPr>
          <a:xfrm>
            <a:off x="2029968" y="1481328"/>
            <a:ext cx="310896" cy="310896"/>
          </a:xfrm>
          <a:prstGeom prst="ellipse">
            <a:avLst/>
          </a:prstGeom>
          <a:solidFill>
            <a:srgbClr val="3B82F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29968" y="148132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2</a:t>
            </a:r>
          </a:p>
        </p:txBody>
      </p:sp>
      <p:cxnSp>
        <p:nvCxnSpPr>
          <p:cNvPr id="23" name="Connector 22"/>
          <p:cNvCxnSpPr/>
          <p:nvPr/>
        </p:nvCxnSpPr>
        <p:spPr>
          <a:xfrm>
            <a:off x="3566160" y="214884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749039" y="1600200"/>
            <a:ext cx="1417320" cy="10972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86200" y="1600200"/>
            <a:ext cx="114300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94759" y="166420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Transcribe</a:t>
            </a:r>
          </a:p>
        </p:txBody>
      </p:sp>
      <p:sp>
        <p:nvSpPr>
          <p:cNvPr id="27" name="TextBox 26"/>
          <p:cNvSpPr txBox="1"/>
          <p:nvPr/>
        </p:nvSpPr>
        <p:spPr>
          <a:xfrm>
            <a:off x="3813048" y="2121408"/>
            <a:ext cx="1289304" cy="530352"/>
          </a:xfrm>
          <a:prstGeom prst="rect">
            <a:avLst/>
          </a:prstGeom>
          <a:noFill/>
        </p:spPr>
        <p:txBody>
          <a:bodyPr wrap="square" lIns="36576" rIns="36576" tIns="18288" bIns="18288" anchor="ctr">
            <a:spAutoFit/>
          </a:bodyPr>
          <a:lstStyle/>
          <a:p>
            <a:pPr algn="ctr"/>
            <a:r>
              <a:rPr sz="1000" b="0" i="0">
                <a:solidFill>
                  <a:srgbClr val="7DF0DF"/>
                </a:solidFill>
                <a:latin typeface="Segoe UI"/>
              </a:rPr>
              <a:t>Whisper, word timestamps</a:t>
            </a:r>
          </a:p>
        </p:txBody>
      </p:sp>
      <p:sp>
        <p:nvSpPr>
          <p:cNvPr id="28" name="Oval 27"/>
          <p:cNvSpPr/>
          <p:nvPr/>
        </p:nvSpPr>
        <p:spPr>
          <a:xfrm>
            <a:off x="3630168" y="1481328"/>
            <a:ext cx="310896" cy="310896"/>
          </a:xfrm>
          <a:prstGeom prst="ellipse">
            <a:avLst/>
          </a:prstGeom>
          <a:solidFill>
            <a:srgbClr val="14B8A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30168" y="148132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3</a:t>
            </a:r>
          </a:p>
        </p:txBody>
      </p:sp>
      <p:cxnSp>
        <p:nvCxnSpPr>
          <p:cNvPr id="30" name="Connector 29"/>
          <p:cNvCxnSpPr/>
          <p:nvPr/>
        </p:nvCxnSpPr>
        <p:spPr>
          <a:xfrm>
            <a:off x="5166359" y="2148840"/>
            <a:ext cx="182881"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349240" y="1600200"/>
            <a:ext cx="1417320" cy="10972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0" y="1600200"/>
            <a:ext cx="114300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94959" y="166420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Who spoke</a:t>
            </a:r>
          </a:p>
        </p:txBody>
      </p:sp>
      <p:sp>
        <p:nvSpPr>
          <p:cNvPr id="34" name="TextBox 33"/>
          <p:cNvSpPr txBox="1"/>
          <p:nvPr/>
        </p:nvSpPr>
        <p:spPr>
          <a:xfrm>
            <a:off x="5413248" y="2121408"/>
            <a:ext cx="1289304" cy="530352"/>
          </a:xfrm>
          <a:prstGeom prst="rect">
            <a:avLst/>
          </a:prstGeom>
          <a:noFill/>
        </p:spPr>
        <p:txBody>
          <a:bodyPr wrap="square" lIns="36576" rIns="36576" tIns="18288" bIns="18288" anchor="ctr">
            <a:spAutoFit/>
          </a:bodyPr>
          <a:lstStyle/>
          <a:p>
            <a:pPr algn="ctr"/>
            <a:r>
              <a:rPr sz="1000" b="0" i="0">
                <a:solidFill>
                  <a:srgbClr val="7DF0DF"/>
                </a:solidFill>
                <a:latin typeface="Segoe UI"/>
              </a:rPr>
              <a:t>pyannote diarization</a:t>
            </a:r>
          </a:p>
        </p:txBody>
      </p:sp>
      <p:sp>
        <p:nvSpPr>
          <p:cNvPr id="35" name="Oval 34"/>
          <p:cNvSpPr/>
          <p:nvPr/>
        </p:nvSpPr>
        <p:spPr>
          <a:xfrm>
            <a:off x="5230368" y="1481328"/>
            <a:ext cx="310896" cy="310896"/>
          </a:xfrm>
          <a:prstGeom prst="ellipse">
            <a:avLst/>
          </a:prstGeom>
          <a:solidFill>
            <a:srgbClr val="14B8A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30368" y="148132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4</a:t>
            </a:r>
          </a:p>
        </p:txBody>
      </p:sp>
      <p:cxnSp>
        <p:nvCxnSpPr>
          <p:cNvPr id="37" name="Connector 36"/>
          <p:cNvCxnSpPr/>
          <p:nvPr/>
        </p:nvCxnSpPr>
        <p:spPr>
          <a:xfrm>
            <a:off x="6766559" y="2148840"/>
            <a:ext cx="182881"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949440" y="1600200"/>
            <a:ext cx="1417320" cy="10972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86600" y="1600200"/>
            <a:ext cx="114300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95159" y="166420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Segments</a:t>
            </a:r>
          </a:p>
        </p:txBody>
      </p:sp>
      <p:sp>
        <p:nvSpPr>
          <p:cNvPr id="41" name="TextBox 40"/>
          <p:cNvSpPr txBox="1"/>
          <p:nvPr/>
        </p:nvSpPr>
        <p:spPr>
          <a:xfrm>
            <a:off x="7013448" y="2121408"/>
            <a:ext cx="1289304" cy="530352"/>
          </a:xfrm>
          <a:prstGeom prst="rect">
            <a:avLst/>
          </a:prstGeom>
          <a:noFill/>
        </p:spPr>
        <p:txBody>
          <a:bodyPr wrap="square" lIns="36576" rIns="36576" tIns="18288" bIns="18288" anchor="ctr">
            <a:spAutoFit/>
          </a:bodyPr>
          <a:lstStyle/>
          <a:p>
            <a:pPr algn="ctr"/>
            <a:r>
              <a:rPr sz="1000" b="0" i="0">
                <a:solidFill>
                  <a:srgbClr val="7DF0DF"/>
                </a:solidFill>
                <a:latin typeface="Segoe UI"/>
              </a:rPr>
              <a:t>speaker-labelled lines</a:t>
            </a:r>
          </a:p>
        </p:txBody>
      </p:sp>
      <p:sp>
        <p:nvSpPr>
          <p:cNvPr id="42" name="Oval 41"/>
          <p:cNvSpPr/>
          <p:nvPr/>
        </p:nvSpPr>
        <p:spPr>
          <a:xfrm>
            <a:off x="6830568" y="1481328"/>
            <a:ext cx="310896" cy="310896"/>
          </a:xfrm>
          <a:prstGeom prst="ellipse">
            <a:avLst/>
          </a:prstGeom>
          <a:solidFill>
            <a:srgbClr val="14B8A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30568" y="148132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5</a:t>
            </a:r>
          </a:p>
        </p:txBody>
      </p:sp>
      <p:cxnSp>
        <p:nvCxnSpPr>
          <p:cNvPr id="44" name="Connector 43"/>
          <p:cNvCxnSpPr/>
          <p:nvPr/>
        </p:nvCxnSpPr>
        <p:spPr>
          <a:xfrm>
            <a:off x="8366760" y="214884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549640" y="1600200"/>
            <a:ext cx="1417320" cy="10972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686800" y="1600200"/>
            <a:ext cx="114300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95360" y="166420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Sentences</a:t>
            </a:r>
          </a:p>
        </p:txBody>
      </p:sp>
      <p:sp>
        <p:nvSpPr>
          <p:cNvPr id="48" name="TextBox 47"/>
          <p:cNvSpPr txBox="1"/>
          <p:nvPr/>
        </p:nvSpPr>
        <p:spPr>
          <a:xfrm>
            <a:off x="8613648" y="2121408"/>
            <a:ext cx="1289304" cy="530352"/>
          </a:xfrm>
          <a:prstGeom prst="rect">
            <a:avLst/>
          </a:prstGeom>
          <a:noFill/>
        </p:spPr>
        <p:txBody>
          <a:bodyPr wrap="square" lIns="36576" rIns="36576" tIns="18288" bIns="18288" anchor="ctr">
            <a:spAutoFit/>
          </a:bodyPr>
          <a:lstStyle/>
          <a:p>
            <a:pPr algn="ctr"/>
            <a:r>
              <a:rPr sz="1000" b="0" i="0">
                <a:solidFill>
                  <a:srgbClr val="D4C8FF"/>
                </a:solidFill>
                <a:latin typeface="Segoe UI"/>
              </a:rPr>
              <a:t>split · clean · time</a:t>
            </a:r>
          </a:p>
        </p:txBody>
      </p:sp>
      <p:sp>
        <p:nvSpPr>
          <p:cNvPr id="49" name="Oval 48"/>
          <p:cNvSpPr/>
          <p:nvPr/>
        </p:nvSpPr>
        <p:spPr>
          <a:xfrm>
            <a:off x="8430767" y="1481328"/>
            <a:ext cx="310896" cy="310896"/>
          </a:xfrm>
          <a:prstGeom prst="ellipse">
            <a:avLst/>
          </a:prstGeom>
          <a:solidFill>
            <a:srgbClr val="8B5CF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30767" y="148132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6</a:t>
            </a:r>
          </a:p>
        </p:txBody>
      </p:sp>
      <p:cxnSp>
        <p:nvCxnSpPr>
          <p:cNvPr id="51" name="Connector 50"/>
          <p:cNvCxnSpPr/>
          <p:nvPr/>
        </p:nvCxnSpPr>
        <p:spPr>
          <a:xfrm>
            <a:off x="9966960" y="214884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0149840" y="1600200"/>
            <a:ext cx="1417320" cy="10972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287000" y="1600200"/>
            <a:ext cx="114300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95560" y="166420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Classify</a:t>
            </a:r>
          </a:p>
        </p:txBody>
      </p:sp>
      <p:sp>
        <p:nvSpPr>
          <p:cNvPr id="55" name="TextBox 54"/>
          <p:cNvSpPr txBox="1"/>
          <p:nvPr/>
        </p:nvSpPr>
        <p:spPr>
          <a:xfrm>
            <a:off x="10213848" y="2121408"/>
            <a:ext cx="1289304" cy="530352"/>
          </a:xfrm>
          <a:prstGeom prst="rect">
            <a:avLst/>
          </a:prstGeom>
          <a:noFill/>
        </p:spPr>
        <p:txBody>
          <a:bodyPr wrap="square" lIns="36576" rIns="36576" tIns="18288" bIns="18288" anchor="ctr">
            <a:spAutoFit/>
          </a:bodyPr>
          <a:lstStyle/>
          <a:p>
            <a:pPr algn="ctr"/>
            <a:r>
              <a:rPr sz="1000" b="0" i="0">
                <a:solidFill>
                  <a:srgbClr val="D4C8FF"/>
                </a:solidFill>
                <a:latin typeface="Segoe UI"/>
              </a:rPr>
              <a:t>TF-IDF + NB + rules</a:t>
            </a:r>
          </a:p>
        </p:txBody>
      </p:sp>
      <p:sp>
        <p:nvSpPr>
          <p:cNvPr id="56" name="Oval 55"/>
          <p:cNvSpPr/>
          <p:nvPr/>
        </p:nvSpPr>
        <p:spPr>
          <a:xfrm>
            <a:off x="10030967" y="1481328"/>
            <a:ext cx="310896" cy="310896"/>
          </a:xfrm>
          <a:prstGeom prst="ellipse">
            <a:avLst/>
          </a:prstGeom>
          <a:solidFill>
            <a:srgbClr val="8B5CF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030967" y="148132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7</a:t>
            </a:r>
          </a:p>
        </p:txBody>
      </p:sp>
      <p:sp>
        <p:nvSpPr>
          <p:cNvPr id="58" name="Rounded Rectangle 57"/>
          <p:cNvSpPr/>
          <p:nvPr/>
        </p:nvSpPr>
        <p:spPr>
          <a:xfrm>
            <a:off x="548640" y="3291840"/>
            <a:ext cx="1417320" cy="109728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5800" y="3291840"/>
            <a:ext cx="114300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 y="335584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Gateway</a:t>
            </a:r>
          </a:p>
        </p:txBody>
      </p:sp>
      <p:sp>
        <p:nvSpPr>
          <p:cNvPr id="61" name="TextBox 60"/>
          <p:cNvSpPr txBox="1"/>
          <p:nvPr/>
        </p:nvSpPr>
        <p:spPr>
          <a:xfrm>
            <a:off x="612647" y="3813048"/>
            <a:ext cx="1289304" cy="530352"/>
          </a:xfrm>
          <a:prstGeom prst="rect">
            <a:avLst/>
          </a:prstGeom>
          <a:noFill/>
        </p:spPr>
        <p:txBody>
          <a:bodyPr wrap="square" lIns="36576" rIns="36576" tIns="18288" bIns="18288" anchor="ctr">
            <a:spAutoFit/>
          </a:bodyPr>
          <a:lstStyle/>
          <a:p>
            <a:pPr algn="ctr"/>
            <a:r>
              <a:rPr sz="1000" b="0" i="0">
                <a:solidFill>
                  <a:srgbClr val="FFD978"/>
                </a:solidFill>
                <a:latin typeface="Segoe UI"/>
              </a:rPr>
              <a:t>4 trust questions</a:t>
            </a:r>
          </a:p>
        </p:txBody>
      </p:sp>
      <p:sp>
        <p:nvSpPr>
          <p:cNvPr id="62" name="Oval 61"/>
          <p:cNvSpPr/>
          <p:nvPr/>
        </p:nvSpPr>
        <p:spPr>
          <a:xfrm>
            <a:off x="429768" y="3172968"/>
            <a:ext cx="310896" cy="310896"/>
          </a:xfrm>
          <a:prstGeom prst="ellipse">
            <a:avLst/>
          </a:prstGeom>
          <a:solidFill>
            <a:srgbClr val="F59E0B"/>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9768" y="317296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8</a:t>
            </a:r>
          </a:p>
        </p:txBody>
      </p:sp>
      <p:cxnSp>
        <p:nvCxnSpPr>
          <p:cNvPr id="64" name="Connector 63"/>
          <p:cNvCxnSpPr/>
          <p:nvPr/>
        </p:nvCxnSpPr>
        <p:spPr>
          <a:xfrm>
            <a:off x="1965960" y="384048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2148840" y="3291840"/>
            <a:ext cx="1417320" cy="109728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286000" y="3291840"/>
            <a:ext cx="114300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94560" y="335584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LLM (if unsure)</a:t>
            </a:r>
          </a:p>
        </p:txBody>
      </p:sp>
      <p:sp>
        <p:nvSpPr>
          <p:cNvPr id="68" name="TextBox 67"/>
          <p:cNvSpPr txBox="1"/>
          <p:nvPr/>
        </p:nvSpPr>
        <p:spPr>
          <a:xfrm>
            <a:off x="2212848" y="3813048"/>
            <a:ext cx="1289304" cy="530352"/>
          </a:xfrm>
          <a:prstGeom prst="rect">
            <a:avLst/>
          </a:prstGeom>
          <a:noFill/>
        </p:spPr>
        <p:txBody>
          <a:bodyPr wrap="square" lIns="36576" rIns="36576" tIns="18288" bIns="18288" anchor="ctr">
            <a:spAutoFit/>
          </a:bodyPr>
          <a:lstStyle/>
          <a:p>
            <a:pPr algn="ctr"/>
            <a:r>
              <a:rPr sz="1000" b="0" i="0">
                <a:solidFill>
                  <a:srgbClr val="FFB7DE"/>
                </a:solidFill>
                <a:latin typeface="Segoe UI"/>
              </a:rPr>
              <a:t>batch adjudication + summary</a:t>
            </a:r>
          </a:p>
        </p:txBody>
      </p:sp>
      <p:sp>
        <p:nvSpPr>
          <p:cNvPr id="69" name="Oval 68"/>
          <p:cNvSpPr/>
          <p:nvPr/>
        </p:nvSpPr>
        <p:spPr>
          <a:xfrm>
            <a:off x="2029968" y="3172968"/>
            <a:ext cx="310896" cy="310896"/>
          </a:xfrm>
          <a:prstGeom prst="ellipse">
            <a:avLst/>
          </a:prstGeom>
          <a:solidFill>
            <a:srgbClr val="F472B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029968" y="317296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9</a:t>
            </a:r>
          </a:p>
        </p:txBody>
      </p:sp>
      <p:cxnSp>
        <p:nvCxnSpPr>
          <p:cNvPr id="71" name="Connector 70"/>
          <p:cNvCxnSpPr/>
          <p:nvPr/>
        </p:nvCxnSpPr>
        <p:spPr>
          <a:xfrm>
            <a:off x="3566160" y="384048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3749039" y="3291840"/>
            <a:ext cx="1417320" cy="109728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886200" y="3291840"/>
            <a:ext cx="1143000"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794759" y="335584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Validate</a:t>
            </a:r>
          </a:p>
        </p:txBody>
      </p:sp>
      <p:sp>
        <p:nvSpPr>
          <p:cNvPr id="75" name="TextBox 74"/>
          <p:cNvSpPr txBox="1"/>
          <p:nvPr/>
        </p:nvSpPr>
        <p:spPr>
          <a:xfrm>
            <a:off x="3813048" y="3813048"/>
            <a:ext cx="1289304" cy="530352"/>
          </a:xfrm>
          <a:prstGeom prst="rect">
            <a:avLst/>
          </a:prstGeom>
          <a:noFill/>
        </p:spPr>
        <p:txBody>
          <a:bodyPr wrap="square" lIns="36576" rIns="36576" tIns="18288" bIns="18288" anchor="ctr">
            <a:spAutoFit/>
          </a:bodyPr>
          <a:lstStyle/>
          <a:p>
            <a:pPr algn="ctr"/>
            <a:r>
              <a:rPr sz="1000" b="0" i="0">
                <a:solidFill>
                  <a:srgbClr val="FFB4B4"/>
                </a:solidFill>
                <a:latin typeface="Segoe UI"/>
              </a:rPr>
              <a:t>quote · owner · date</a:t>
            </a:r>
          </a:p>
        </p:txBody>
      </p:sp>
      <p:sp>
        <p:nvSpPr>
          <p:cNvPr id="76" name="Oval 75"/>
          <p:cNvSpPr/>
          <p:nvPr/>
        </p:nvSpPr>
        <p:spPr>
          <a:xfrm>
            <a:off x="3630168" y="3172968"/>
            <a:ext cx="310896" cy="310896"/>
          </a:xfrm>
          <a:prstGeom prst="ellipse">
            <a:avLst/>
          </a:prstGeom>
          <a:solidFill>
            <a:srgbClr val="F87171"/>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630168" y="317296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10</a:t>
            </a:r>
          </a:p>
        </p:txBody>
      </p:sp>
      <p:cxnSp>
        <p:nvCxnSpPr>
          <p:cNvPr id="78" name="Connector 77"/>
          <p:cNvCxnSpPr/>
          <p:nvPr/>
        </p:nvCxnSpPr>
        <p:spPr>
          <a:xfrm>
            <a:off x="5166359" y="3840480"/>
            <a:ext cx="182881"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5349240" y="3291840"/>
            <a:ext cx="1417320" cy="10972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486400" y="3291840"/>
            <a:ext cx="114300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94959" y="335584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Merge</a:t>
            </a:r>
          </a:p>
        </p:txBody>
      </p:sp>
      <p:sp>
        <p:nvSpPr>
          <p:cNvPr id="82" name="TextBox 81"/>
          <p:cNvSpPr txBox="1"/>
          <p:nvPr/>
        </p:nvSpPr>
        <p:spPr>
          <a:xfrm>
            <a:off x="5413248" y="3813048"/>
            <a:ext cx="1289304" cy="530352"/>
          </a:xfrm>
          <a:prstGeom prst="rect">
            <a:avLst/>
          </a:prstGeom>
          <a:noFill/>
        </p:spPr>
        <p:txBody>
          <a:bodyPr wrap="square" lIns="36576" rIns="36576" tIns="18288" bIns="18288" anchor="ctr">
            <a:spAutoFit/>
          </a:bodyPr>
          <a:lstStyle/>
          <a:p>
            <a:pPr algn="ctr"/>
            <a:r>
              <a:rPr sz="1000" b="0" i="0">
                <a:solidFill>
                  <a:srgbClr val="D4C8FF"/>
                </a:solidFill>
                <a:latin typeface="Segoe UI"/>
              </a:rPr>
              <a:t>NLP + LLM de-duplicate</a:t>
            </a:r>
          </a:p>
        </p:txBody>
      </p:sp>
      <p:sp>
        <p:nvSpPr>
          <p:cNvPr id="83" name="Oval 82"/>
          <p:cNvSpPr/>
          <p:nvPr/>
        </p:nvSpPr>
        <p:spPr>
          <a:xfrm>
            <a:off x="5230368" y="3172968"/>
            <a:ext cx="310896" cy="310896"/>
          </a:xfrm>
          <a:prstGeom prst="ellipse">
            <a:avLst/>
          </a:prstGeom>
          <a:solidFill>
            <a:srgbClr val="8B5CF6"/>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230368" y="317296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11</a:t>
            </a:r>
          </a:p>
        </p:txBody>
      </p:sp>
      <p:cxnSp>
        <p:nvCxnSpPr>
          <p:cNvPr id="85" name="Connector 84"/>
          <p:cNvCxnSpPr/>
          <p:nvPr/>
        </p:nvCxnSpPr>
        <p:spPr>
          <a:xfrm>
            <a:off x="6766559" y="3840480"/>
            <a:ext cx="182881"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6949440" y="3291840"/>
            <a:ext cx="1417320" cy="10972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086600" y="3291840"/>
            <a:ext cx="114300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995159" y="335584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Save</a:t>
            </a:r>
          </a:p>
        </p:txBody>
      </p:sp>
      <p:sp>
        <p:nvSpPr>
          <p:cNvPr id="89" name="TextBox 88"/>
          <p:cNvSpPr txBox="1"/>
          <p:nvPr/>
        </p:nvSpPr>
        <p:spPr>
          <a:xfrm>
            <a:off x="7013448" y="3813048"/>
            <a:ext cx="1289304" cy="530352"/>
          </a:xfrm>
          <a:prstGeom prst="rect">
            <a:avLst/>
          </a:prstGeom>
          <a:noFill/>
        </p:spPr>
        <p:txBody>
          <a:bodyPr wrap="square" lIns="36576" rIns="36576" tIns="18288" bIns="18288" anchor="ctr">
            <a:spAutoFit/>
          </a:bodyPr>
          <a:lstStyle/>
          <a:p>
            <a:pPr algn="ctr"/>
            <a:r>
              <a:rPr sz="1000" b="0" i="0">
                <a:solidFill>
                  <a:srgbClr val="8CF0C6"/>
                </a:solidFill>
                <a:latin typeface="Segoe UI"/>
              </a:rPr>
              <a:t>SQLite + FTS5</a:t>
            </a:r>
          </a:p>
        </p:txBody>
      </p:sp>
      <p:sp>
        <p:nvSpPr>
          <p:cNvPr id="90" name="Oval 89"/>
          <p:cNvSpPr/>
          <p:nvPr/>
        </p:nvSpPr>
        <p:spPr>
          <a:xfrm>
            <a:off x="6830568" y="3172968"/>
            <a:ext cx="310896" cy="310896"/>
          </a:xfrm>
          <a:prstGeom prst="ellipse">
            <a:avLst/>
          </a:prstGeom>
          <a:solidFill>
            <a:srgbClr val="34D399"/>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830568" y="317296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12</a:t>
            </a:r>
          </a:p>
        </p:txBody>
      </p:sp>
      <p:cxnSp>
        <p:nvCxnSpPr>
          <p:cNvPr id="92" name="Connector 91"/>
          <p:cNvCxnSpPr/>
          <p:nvPr/>
        </p:nvCxnSpPr>
        <p:spPr>
          <a:xfrm>
            <a:off x="8366760" y="384048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3" name="Rounded Rectangle 92"/>
          <p:cNvSpPr/>
          <p:nvPr/>
        </p:nvSpPr>
        <p:spPr>
          <a:xfrm>
            <a:off x="8549640" y="3291840"/>
            <a:ext cx="1417320" cy="10972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686800" y="3291840"/>
            <a:ext cx="114300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595360" y="335584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Index</a:t>
            </a:r>
          </a:p>
        </p:txBody>
      </p:sp>
      <p:sp>
        <p:nvSpPr>
          <p:cNvPr id="96" name="TextBox 95"/>
          <p:cNvSpPr txBox="1"/>
          <p:nvPr/>
        </p:nvSpPr>
        <p:spPr>
          <a:xfrm>
            <a:off x="8613648" y="3813048"/>
            <a:ext cx="1289304" cy="530352"/>
          </a:xfrm>
          <a:prstGeom prst="rect">
            <a:avLst/>
          </a:prstGeom>
          <a:noFill/>
        </p:spPr>
        <p:txBody>
          <a:bodyPr wrap="square" lIns="36576" rIns="36576" tIns="18288" bIns="18288" anchor="ctr">
            <a:spAutoFit/>
          </a:bodyPr>
          <a:lstStyle/>
          <a:p>
            <a:pPr algn="ctr"/>
            <a:r>
              <a:rPr sz="1000" b="0" i="0">
                <a:solidFill>
                  <a:srgbClr val="8CF0C6"/>
                </a:solidFill>
                <a:latin typeface="Segoe UI"/>
              </a:rPr>
              <a:t>ChromaDB chunks</a:t>
            </a:r>
          </a:p>
        </p:txBody>
      </p:sp>
      <p:sp>
        <p:nvSpPr>
          <p:cNvPr id="97" name="Oval 96"/>
          <p:cNvSpPr/>
          <p:nvPr/>
        </p:nvSpPr>
        <p:spPr>
          <a:xfrm>
            <a:off x="8430767" y="3172968"/>
            <a:ext cx="310896" cy="310896"/>
          </a:xfrm>
          <a:prstGeom prst="ellipse">
            <a:avLst/>
          </a:prstGeom>
          <a:solidFill>
            <a:srgbClr val="34D399"/>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430767" y="317296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13</a:t>
            </a:r>
          </a:p>
        </p:txBody>
      </p:sp>
      <p:cxnSp>
        <p:nvCxnSpPr>
          <p:cNvPr id="99" name="Connector 98"/>
          <p:cNvCxnSpPr/>
          <p:nvPr/>
        </p:nvCxnSpPr>
        <p:spPr>
          <a:xfrm>
            <a:off x="9966960" y="3840480"/>
            <a:ext cx="1828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Rounded Rectangle 99"/>
          <p:cNvSpPr/>
          <p:nvPr/>
        </p:nvSpPr>
        <p:spPr>
          <a:xfrm>
            <a:off x="10149840" y="3291840"/>
            <a:ext cx="1417320" cy="10972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287000" y="3291840"/>
            <a:ext cx="114300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195560" y="3355848"/>
            <a:ext cx="1325880" cy="457200"/>
          </a:xfrm>
          <a:prstGeom prst="rect">
            <a:avLst/>
          </a:prstGeom>
          <a:noFill/>
        </p:spPr>
        <p:txBody>
          <a:bodyPr wrap="square" lIns="36576" rIns="36576" tIns="18288" bIns="18288" anchor="ctr">
            <a:spAutoFit/>
          </a:bodyPr>
          <a:lstStyle/>
          <a:p>
            <a:pPr algn="ctr"/>
            <a:r>
              <a:rPr sz="1200" b="1" i="0">
                <a:solidFill>
                  <a:srgbClr val="FFFFFF"/>
                </a:solidFill>
                <a:latin typeface="Segoe UI"/>
              </a:rPr>
              <a:t>READY</a:t>
            </a:r>
          </a:p>
        </p:txBody>
      </p:sp>
      <p:sp>
        <p:nvSpPr>
          <p:cNvPr id="103" name="TextBox 102"/>
          <p:cNvSpPr txBox="1"/>
          <p:nvPr/>
        </p:nvSpPr>
        <p:spPr>
          <a:xfrm>
            <a:off x="10213848" y="3813048"/>
            <a:ext cx="1289304" cy="530352"/>
          </a:xfrm>
          <a:prstGeom prst="rect">
            <a:avLst/>
          </a:prstGeom>
          <a:noFill/>
        </p:spPr>
        <p:txBody>
          <a:bodyPr wrap="square" lIns="36576" rIns="36576" tIns="18288" bIns="18288" anchor="ctr">
            <a:spAutoFit/>
          </a:bodyPr>
          <a:lstStyle/>
          <a:p>
            <a:pPr algn="ctr"/>
            <a:r>
              <a:rPr sz="1000" b="0" i="0">
                <a:solidFill>
                  <a:srgbClr val="8CF0C6"/>
                </a:solidFill>
                <a:latin typeface="Segoe UI"/>
              </a:rPr>
              <a:t>all pages use new data</a:t>
            </a:r>
          </a:p>
        </p:txBody>
      </p:sp>
      <p:sp>
        <p:nvSpPr>
          <p:cNvPr id="104" name="Oval 103"/>
          <p:cNvSpPr/>
          <p:nvPr/>
        </p:nvSpPr>
        <p:spPr>
          <a:xfrm>
            <a:off x="10030967" y="3172968"/>
            <a:ext cx="310896" cy="310896"/>
          </a:xfrm>
          <a:prstGeom prst="ellipse">
            <a:avLst/>
          </a:prstGeom>
          <a:solidFill>
            <a:srgbClr val="34D399"/>
          </a:solidFill>
          <a:ln w="19050">
            <a:solidFill>
              <a:srgbClr val="0B1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030967" y="3172968"/>
            <a:ext cx="310896" cy="310896"/>
          </a:xfrm>
          <a:prstGeom prst="rect">
            <a:avLst/>
          </a:prstGeom>
          <a:noFill/>
        </p:spPr>
        <p:txBody>
          <a:bodyPr wrap="square" lIns="36576" rIns="36576" tIns="18288" bIns="18288" anchor="ctr">
            <a:spAutoFit/>
          </a:bodyPr>
          <a:lstStyle/>
          <a:p>
            <a:pPr algn="ctr"/>
            <a:r>
              <a:rPr sz="950" b="1" i="0">
                <a:solidFill>
                  <a:srgbClr val="0B1030"/>
                </a:solidFill>
                <a:latin typeface="Segoe UI"/>
              </a:rPr>
              <a:t>14</a:t>
            </a:r>
          </a:p>
        </p:txBody>
      </p:sp>
      <p:cxnSp>
        <p:nvCxnSpPr>
          <p:cNvPr id="106" name="Connector 105"/>
          <p:cNvCxnSpPr/>
          <p:nvPr/>
        </p:nvCxnSpPr>
        <p:spPr>
          <a:xfrm>
            <a:off x="10858500" y="2697480"/>
            <a:ext cx="0" cy="36576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1257300" y="3063240"/>
            <a:ext cx="960120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257300" y="3063240"/>
            <a:ext cx="0" cy="22860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548640" y="4892040"/>
            <a:ext cx="3566160" cy="1188720"/>
          </a:xfrm>
          <a:prstGeom prst="roundRect">
            <a:avLst>
              <a:gd name="adj" fmla="val 5000"/>
            </a:avLst>
          </a:prstGeom>
          <a:noFill/>
          <a:ln w="13970">
            <a:solidFill>
              <a:srgbClr val="14B8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58368" y="4928616"/>
            <a:ext cx="3291840" cy="274320"/>
          </a:xfrm>
          <a:prstGeom prst="rect">
            <a:avLst/>
          </a:prstGeom>
          <a:noFill/>
        </p:spPr>
        <p:txBody>
          <a:bodyPr wrap="square" lIns="36576" rIns="36576" tIns="18288" bIns="18288" anchor="t">
            <a:spAutoFit/>
          </a:bodyPr>
          <a:lstStyle/>
          <a:p>
            <a:pPr algn="l"/>
            <a:r>
              <a:rPr sz="950" b="1" i="0">
                <a:solidFill>
                  <a:srgbClr val="7DF0DF"/>
                </a:solidFill>
                <a:latin typeface="Segoe UI"/>
              </a:rPr>
              <a:t>BLUE / TEAL = INPUT &amp; SPEECH</a:t>
            </a:r>
          </a:p>
        </p:txBody>
      </p:sp>
      <p:sp>
        <p:nvSpPr>
          <p:cNvPr id="111" name="TextBox 110"/>
          <p:cNvSpPr txBox="1"/>
          <p:nvPr/>
        </p:nvSpPr>
        <p:spPr>
          <a:xfrm>
            <a:off x="685800" y="5212080"/>
            <a:ext cx="3291840" cy="822960"/>
          </a:xfrm>
          <a:prstGeom prst="rect">
            <a:avLst/>
          </a:prstGeom>
          <a:noFill/>
        </p:spPr>
        <p:txBody>
          <a:bodyPr wrap="square" lIns="36576" rIns="36576" tIns="18288" bIns="18288" anchor="t">
            <a:spAutoFit/>
          </a:bodyPr>
          <a:lstStyle/>
          <a:p>
            <a:pPr algn="l"/>
            <a:r>
              <a:rPr sz="1150" b="0" i="0">
                <a:solidFill>
                  <a:srgbClr val="C9D0FF"/>
                </a:solidFill>
                <a:latin typeface="Segoe UI"/>
              </a:rPr>
              <a:t>Steps 3-4 are skipped for text transcripts that already contain speaker names.</a:t>
            </a:r>
          </a:p>
        </p:txBody>
      </p:sp>
      <p:sp>
        <p:nvSpPr>
          <p:cNvPr id="112" name="Rounded Rectangle 111"/>
          <p:cNvSpPr/>
          <p:nvPr/>
        </p:nvSpPr>
        <p:spPr>
          <a:xfrm>
            <a:off x="4297680" y="4892040"/>
            <a:ext cx="3566160" cy="1188720"/>
          </a:xfrm>
          <a:prstGeom prst="roundRect">
            <a:avLst>
              <a:gd name="adj" fmla="val 5000"/>
            </a:avLst>
          </a:prstGeom>
          <a:noFill/>
          <a:ln w="13970">
            <a:solidFill>
              <a:srgbClr val="8B5CF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407408" y="4928616"/>
            <a:ext cx="3291840" cy="274320"/>
          </a:xfrm>
          <a:prstGeom prst="rect">
            <a:avLst/>
          </a:prstGeom>
          <a:noFill/>
        </p:spPr>
        <p:txBody>
          <a:bodyPr wrap="square" lIns="36576" rIns="36576" tIns="18288" bIns="18288" anchor="t">
            <a:spAutoFit/>
          </a:bodyPr>
          <a:lstStyle/>
          <a:p>
            <a:pPr algn="l"/>
            <a:r>
              <a:rPr sz="950" b="1" i="0">
                <a:solidFill>
                  <a:srgbClr val="D4C8FF"/>
                </a:solidFill>
                <a:latin typeface="Segoe UI"/>
              </a:rPr>
              <a:t>VIOLET / AMBER / PINK = INTELLIGENCE</a:t>
            </a:r>
          </a:p>
        </p:txBody>
      </p:sp>
      <p:sp>
        <p:nvSpPr>
          <p:cNvPr id="114" name="TextBox 113"/>
          <p:cNvSpPr txBox="1"/>
          <p:nvPr/>
        </p:nvSpPr>
        <p:spPr>
          <a:xfrm>
            <a:off x="4434840" y="5212080"/>
            <a:ext cx="3291840" cy="822960"/>
          </a:xfrm>
          <a:prstGeom prst="rect">
            <a:avLst/>
          </a:prstGeom>
          <a:noFill/>
        </p:spPr>
        <p:txBody>
          <a:bodyPr wrap="square" lIns="36576" rIns="36576" tIns="18288" bIns="18288" anchor="t">
            <a:spAutoFit/>
          </a:bodyPr>
          <a:lstStyle/>
          <a:p>
            <a:pPr algn="l"/>
            <a:r>
              <a:rPr sz="1150" b="0" i="0">
                <a:solidFill>
                  <a:srgbClr val="C9D0FF"/>
                </a:solidFill>
                <a:latin typeface="Segoe UI"/>
              </a:rPr>
              <a:t>Classical NLP decides first; the LLM is called once per meeting batch only for uncertain items.</a:t>
            </a:r>
          </a:p>
        </p:txBody>
      </p:sp>
      <p:sp>
        <p:nvSpPr>
          <p:cNvPr id="115" name="Rounded Rectangle 114"/>
          <p:cNvSpPr/>
          <p:nvPr/>
        </p:nvSpPr>
        <p:spPr>
          <a:xfrm>
            <a:off x="8046720" y="4892040"/>
            <a:ext cx="3611880" cy="1188720"/>
          </a:xfrm>
          <a:prstGeom prst="roundRect">
            <a:avLst>
              <a:gd name="adj" fmla="val 5000"/>
            </a:avLst>
          </a:prstGeom>
          <a:noFill/>
          <a:ln w="13970">
            <a:solidFill>
              <a:srgbClr val="34D3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156448" y="4928616"/>
            <a:ext cx="3337560" cy="274320"/>
          </a:xfrm>
          <a:prstGeom prst="rect">
            <a:avLst/>
          </a:prstGeom>
          <a:noFill/>
        </p:spPr>
        <p:txBody>
          <a:bodyPr wrap="square" lIns="36576" rIns="36576" tIns="18288" bIns="18288" anchor="t">
            <a:spAutoFit/>
          </a:bodyPr>
          <a:lstStyle/>
          <a:p>
            <a:pPr algn="l"/>
            <a:r>
              <a:rPr sz="950" b="1" i="0">
                <a:solidFill>
                  <a:srgbClr val="8CF0C6"/>
                </a:solidFill>
                <a:latin typeface="Segoe UI"/>
              </a:rPr>
              <a:t>RED / GREEN = TRUST &amp; STORAGE</a:t>
            </a:r>
          </a:p>
        </p:txBody>
      </p:sp>
      <p:sp>
        <p:nvSpPr>
          <p:cNvPr id="117" name="TextBox 116"/>
          <p:cNvSpPr txBox="1"/>
          <p:nvPr/>
        </p:nvSpPr>
        <p:spPr>
          <a:xfrm>
            <a:off x="8183879" y="5212080"/>
            <a:ext cx="3383280" cy="822960"/>
          </a:xfrm>
          <a:prstGeom prst="rect">
            <a:avLst/>
          </a:prstGeom>
          <a:noFill/>
        </p:spPr>
        <p:txBody>
          <a:bodyPr wrap="square" lIns="36576" rIns="36576" tIns="18288" bIns="18288" anchor="t">
            <a:spAutoFit/>
          </a:bodyPr>
          <a:lstStyle/>
          <a:p>
            <a:pPr algn="l"/>
            <a:r>
              <a:rPr sz="1150" b="0" i="0">
                <a:solidFill>
                  <a:srgbClr val="C9D0FF"/>
                </a:solidFill>
                <a:latin typeface="Segoe UI"/>
              </a:rPr>
              <a:t>Nothing is saved until it passes validation; saved data feeds every page.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PIPELINE · UPLOAD</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Step 1-2: input and transcription</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10</a:t>
            </a:r>
          </a:p>
        </p:txBody>
      </p:sp>
      <p:pic>
        <p:nvPicPr>
          <p:cNvPr id="10" name="Picture 9" descr="03_upload.jpg"/>
          <p:cNvPicPr>
            <a:picLocks noChangeAspect="1"/>
          </p:cNvPicPr>
          <p:nvPr/>
        </p:nvPicPr>
        <p:blipFill>
          <a:blip r:embed="rId3"/>
          <a:stretch>
            <a:fillRect/>
          </a:stretch>
        </p:blipFill>
        <p:spPr>
          <a:xfrm>
            <a:off x="550468" y="1325880"/>
            <a:ext cx="6305702" cy="3941063"/>
          </a:xfrm>
          <a:prstGeom prst="rect">
            <a:avLst/>
          </a:prstGeom>
          <a:ln w="19050">
            <a:solidFill>
              <a:srgbClr val="6D4AFF"/>
            </a:solidFill>
          </a:ln>
        </p:spPr>
      </p:pic>
      <p:sp>
        <p:nvSpPr>
          <p:cNvPr id="11" name="TextBox 10"/>
          <p:cNvSpPr txBox="1"/>
          <p:nvPr/>
        </p:nvSpPr>
        <p:spPr>
          <a:xfrm>
            <a:off x="548640" y="5321808"/>
            <a:ext cx="6309360" cy="274320"/>
          </a:xfrm>
          <a:prstGeom prst="rect">
            <a:avLst/>
          </a:prstGeom>
          <a:noFill/>
        </p:spPr>
        <p:txBody>
          <a:bodyPr wrap="square" lIns="36576" rIns="36576" tIns="18288" bIns="18288" anchor="t">
            <a:spAutoFit/>
          </a:bodyPr>
          <a:lstStyle/>
          <a:p>
            <a:pPr algn="l"/>
            <a:r>
              <a:rPr sz="1050" b="0" i="1">
                <a:solidFill>
                  <a:srgbClr val="8E99E0"/>
                </a:solidFill>
                <a:latin typeface="Segoe UI"/>
              </a:rPr>
              <a:t>New Meeting page - drop a file or paste a transcript</a:t>
            </a:r>
          </a:p>
        </p:txBody>
      </p:sp>
      <p:sp>
        <p:nvSpPr>
          <p:cNvPr id="12" name="TextBox 11"/>
          <p:cNvSpPr txBox="1"/>
          <p:nvPr/>
        </p:nvSpPr>
        <p:spPr>
          <a:xfrm>
            <a:off x="7178040" y="1371600"/>
            <a:ext cx="4480560" cy="4572000"/>
          </a:xfrm>
          <a:prstGeom prst="rect">
            <a:avLst/>
          </a:prstGeom>
          <a:noFill/>
        </p:spPr>
        <p:txBody>
          <a:bodyPr wrap="square" lIns="36576" rIns="36576" tIns="18288" bIns="18288" anchor="t">
            <a:spAutoFit/>
          </a:bodyPr>
          <a:lstStyle/>
          <a:p>
            <a:pPr algn="l">
              <a:spcAft>
                <a:spcPts val="800"/>
              </a:spcAft>
            </a:pPr>
            <a:r>
              <a:rPr sz="1300" b="1" i="0">
                <a:solidFill>
                  <a:srgbClr val="A78BFA"/>
                </a:solidFill>
                <a:latin typeface="Segoe UI"/>
              </a:rPr>
              <a:t>▸  </a:t>
            </a:r>
            <a:r>
              <a:rPr sz="1300" b="1" i="0">
                <a:solidFill>
                  <a:srgbClr val="FFFFFF"/>
                </a:solidFill>
                <a:latin typeface="Segoe UI"/>
              </a:rPr>
              <a:t>Accepted files</a:t>
            </a:r>
            <a:r>
              <a:rPr sz="1300" b="0" i="0">
                <a:solidFill>
                  <a:srgbClr val="C9D0FF"/>
                </a:solidFill>
                <a:latin typeface="Segoe UI"/>
              </a:rPr>
              <a:t> mp3 · wav · m4a · mp4 · mkv · txt · vtt · srt · docx · pdf</a:t>
            </a:r>
          </a:p>
          <a:p>
            <a:pPr algn="l">
              <a:spcAft>
                <a:spcPts val="800"/>
              </a:spcAft>
            </a:pPr>
            <a:r>
              <a:rPr sz="1300" b="1" i="0">
                <a:solidFill>
                  <a:srgbClr val="A78BFA"/>
                </a:solidFill>
                <a:latin typeface="Segoe UI"/>
              </a:rPr>
              <a:t>▸  </a:t>
            </a:r>
            <a:r>
              <a:rPr sz="1300" b="1" i="0">
                <a:solidFill>
                  <a:srgbClr val="FFFFFF"/>
                </a:solidFill>
                <a:latin typeface="Segoe UI"/>
              </a:rPr>
              <a:t>FFmpeg</a:t>
            </a:r>
            <a:r>
              <a:rPr sz="1300" b="0" i="0">
                <a:solidFill>
                  <a:srgbClr val="C9D0FF"/>
                </a:solidFill>
                <a:latin typeface="Segoe UI"/>
              </a:rPr>
              <a:t> converts to 32 kbps mono and cuts 10-minute chunks - small enough for free API limits</a:t>
            </a:r>
          </a:p>
          <a:p>
            <a:pPr algn="l">
              <a:spcAft>
                <a:spcPts val="800"/>
              </a:spcAft>
            </a:pPr>
            <a:r>
              <a:rPr sz="1300" b="1" i="0">
                <a:solidFill>
                  <a:srgbClr val="A78BFA"/>
                </a:solidFill>
                <a:latin typeface="Segoe UI"/>
              </a:rPr>
              <a:t>▸  </a:t>
            </a:r>
            <a:r>
              <a:rPr sz="1300" b="1" i="0">
                <a:solidFill>
                  <a:srgbClr val="FFFFFF"/>
                </a:solidFill>
                <a:latin typeface="Segoe UI"/>
              </a:rPr>
              <a:t>Speech-to-text</a:t>
            </a:r>
            <a:r>
              <a:rPr sz="1300" b="0" i="0">
                <a:solidFill>
                  <a:srgbClr val="C9D0FF"/>
                </a:solidFill>
                <a:latin typeface="Segoe UI"/>
              </a:rPr>
              <a:t> Groq Whisper (whisper-large-v3-turbo) with word-level timestamps; AssemblyAI as alternative</a:t>
            </a:r>
          </a:p>
          <a:p>
            <a:pPr algn="l">
              <a:spcAft>
                <a:spcPts val="800"/>
              </a:spcAft>
            </a:pPr>
            <a:r>
              <a:rPr sz="1300" b="1" i="0">
                <a:solidFill>
                  <a:srgbClr val="A78BFA"/>
                </a:solidFill>
                <a:latin typeface="Segoe UI"/>
              </a:rPr>
              <a:t>▸  </a:t>
            </a:r>
            <a:r>
              <a:rPr sz="1300" b="1" i="0">
                <a:solidFill>
                  <a:srgbClr val="FFFFFF"/>
                </a:solidFill>
                <a:latin typeface="Segoe UI"/>
              </a:rPr>
              <a:t>Transcripts</a:t>
            </a:r>
            <a:r>
              <a:rPr sz="1300" b="0" i="0">
                <a:solidFill>
                  <a:srgbClr val="C9D0FF"/>
                </a:solidFill>
                <a:latin typeface="Segoe UI"/>
              </a:rPr>
              <a:t> parsed straight into speaker segments - names kept if the file has them</a:t>
            </a:r>
          </a:p>
          <a:p>
            <a:pPr algn="l">
              <a:spcAft>
                <a:spcPts val="800"/>
              </a:spcAft>
            </a:pPr>
            <a:r>
              <a:rPr sz="1300" b="1" i="0">
                <a:solidFill>
                  <a:srgbClr val="A78BFA"/>
                </a:solidFill>
                <a:latin typeface="Segoe UI"/>
              </a:rPr>
              <a:t>▸  </a:t>
            </a:r>
            <a:r>
              <a:rPr sz="1300" b="1" i="0">
                <a:solidFill>
                  <a:srgbClr val="FFFFFF"/>
                </a:solidFill>
                <a:latin typeface="Segoe UI"/>
              </a:rPr>
              <a:t>Duplicate guard</a:t>
            </a:r>
            <a:r>
              <a:rPr sz="1300" b="0" i="0">
                <a:solidFill>
                  <a:srgbClr val="C9D0FF"/>
                </a:solidFill>
                <a:latin typeface="Segoe UI"/>
              </a:rPr>
              <a:t> the same file is never processed twice</a:t>
            </a:r>
          </a:p>
        </p:txBody>
      </p:sp>
      <p:sp>
        <p:nvSpPr>
          <p:cNvPr id="13" name="Rounded Rectangle 12"/>
          <p:cNvSpPr/>
          <p:nvPr/>
        </p:nvSpPr>
        <p:spPr>
          <a:xfrm>
            <a:off x="548640" y="5669280"/>
            <a:ext cx="11109960" cy="640080"/>
          </a:xfrm>
          <a:prstGeom prst="roundRect">
            <a:avLst>
              <a:gd name="adj" fmla="val 12000"/>
            </a:avLst>
          </a:prstGeom>
          <a:solidFill>
            <a:srgbClr val="1C1A3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742432"/>
            <a:ext cx="64008" cy="49377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705856"/>
            <a:ext cx="10789920" cy="566928"/>
          </a:xfrm>
          <a:prstGeom prst="rect">
            <a:avLst/>
          </a:prstGeom>
          <a:noFill/>
        </p:spPr>
        <p:txBody>
          <a:bodyPr wrap="square" lIns="36576" rIns="36576" tIns="18288" bIns="18288" anchor="ctr">
            <a:spAutoFit/>
          </a:bodyPr>
          <a:lstStyle/>
          <a:p>
            <a:pPr algn="l"/>
            <a:r>
              <a:rPr sz="1100" b="1" i="0">
                <a:solidFill>
                  <a:srgbClr val="FFD978"/>
                </a:solidFill>
                <a:latin typeface="Segoe UI"/>
              </a:rPr>
              <a:t>WHY CHUNKS   </a:t>
            </a:r>
            <a:r>
              <a:rPr sz="1200" b="0" i="0">
                <a:solidFill>
                  <a:srgbClr val="C9D0FF"/>
                </a:solidFill>
                <a:latin typeface="Segoe UI"/>
              </a:rPr>
              <a:t>Free speech APIs cap upload size; chunking keeps every meeting length workable and lets us retry one piece instead of everything.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6949440" y="-2011680"/>
            <a:ext cx="7772400" cy="77724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3291840"/>
            <a:ext cx="5669280" cy="566928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423160"/>
            <a:ext cx="1188720" cy="1188720"/>
          </a:xfrm>
          <a:prstGeom prst="ellipse">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23160"/>
            <a:ext cx="1188720" cy="1188720"/>
          </a:xfrm>
          <a:prstGeom prst="rect">
            <a:avLst/>
          </a:prstGeom>
          <a:noFill/>
        </p:spPr>
        <p:txBody>
          <a:bodyPr wrap="square" lIns="36576" rIns="36576" tIns="18288" bIns="18288" anchor="ctr">
            <a:spAutoFit/>
          </a:bodyPr>
          <a:lstStyle/>
          <a:p>
            <a:pPr algn="ctr"/>
            <a:r>
              <a:rPr sz="3800" b="1" i="0">
                <a:solidFill>
                  <a:srgbClr val="FFFFFF"/>
                </a:solidFill>
                <a:latin typeface="Segoe UI"/>
              </a:rPr>
              <a:t>2</a:t>
            </a:r>
          </a:p>
        </p:txBody>
      </p:sp>
      <p:sp>
        <p:nvSpPr>
          <p:cNvPr id="8" name="TextBox 7"/>
          <p:cNvSpPr txBox="1"/>
          <p:nvPr/>
        </p:nvSpPr>
        <p:spPr>
          <a:xfrm>
            <a:off x="2331720" y="2331720"/>
            <a:ext cx="8686800" cy="822960"/>
          </a:xfrm>
          <a:prstGeom prst="rect">
            <a:avLst/>
          </a:prstGeom>
          <a:noFill/>
        </p:spPr>
        <p:txBody>
          <a:bodyPr wrap="square" lIns="36576" rIns="36576" tIns="18288" bIns="18288" anchor="ctr">
            <a:spAutoFit/>
          </a:bodyPr>
          <a:lstStyle/>
          <a:p>
            <a:pPr algn="l"/>
            <a:r>
              <a:rPr sz="3800" b="1" i="0">
                <a:solidFill>
                  <a:srgbClr val="FFFFFF"/>
                </a:solidFill>
                <a:latin typeface="Segoe UI"/>
              </a:rPr>
              <a:t>The NLP core</a:t>
            </a:r>
          </a:p>
        </p:txBody>
      </p:sp>
      <p:sp>
        <p:nvSpPr>
          <p:cNvPr id="9" name="TextBox 8"/>
          <p:cNvSpPr txBox="1"/>
          <p:nvPr/>
        </p:nvSpPr>
        <p:spPr>
          <a:xfrm>
            <a:off x="2331720" y="3154680"/>
            <a:ext cx="8046720" cy="822960"/>
          </a:xfrm>
          <a:prstGeom prst="rect">
            <a:avLst/>
          </a:prstGeom>
          <a:noFill/>
        </p:spPr>
        <p:txBody>
          <a:bodyPr wrap="square" lIns="36576" rIns="36576" tIns="18288" bIns="18288" anchor="t">
            <a:spAutoFit/>
          </a:bodyPr>
          <a:lstStyle/>
          <a:p>
            <a:pPr algn="l"/>
            <a:r>
              <a:rPr sz="1700" b="0" i="0">
                <a:solidFill>
                  <a:srgbClr val="C9D0FF"/>
                </a:solidFill>
                <a:latin typeface="Segoe UI"/>
              </a:rPr>
              <a:t>What is trained, how a sentence is scored, and when the LLM is allowed to step 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NLP · TRAINING AND SETUP</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Training: the classifier is built at start-up</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12</a:t>
            </a:r>
          </a:p>
        </p:txBody>
      </p:sp>
      <p:sp>
        <p:nvSpPr>
          <p:cNvPr id="10" name="Rounded Rectangle 9"/>
          <p:cNvSpPr/>
          <p:nvPr/>
        </p:nvSpPr>
        <p:spPr>
          <a:xfrm>
            <a:off x="548640" y="1371600"/>
            <a:ext cx="2651760" cy="1417320"/>
          </a:xfrm>
          <a:prstGeom prst="roundRect">
            <a:avLst>
              <a:gd name="adj" fmla="val 7000"/>
            </a:avLst>
          </a:prstGeom>
          <a:solidFill>
            <a:srgbClr val="151B4D"/>
          </a:solidFill>
          <a:ln w="1651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17320"/>
            <a:ext cx="2651760" cy="548640"/>
          </a:xfrm>
          <a:prstGeom prst="rect">
            <a:avLst/>
          </a:prstGeom>
          <a:noFill/>
        </p:spPr>
        <p:txBody>
          <a:bodyPr wrap="square" lIns="36576" rIns="36576" tIns="18288" bIns="18288" anchor="ctr">
            <a:spAutoFit/>
          </a:bodyPr>
          <a:lstStyle/>
          <a:p>
            <a:pPr algn="ctr"/>
            <a:r>
              <a:rPr sz="3000" b="1" i="0">
                <a:solidFill>
                  <a:srgbClr val="FFD978"/>
                </a:solidFill>
                <a:latin typeface="Segoe UI"/>
              </a:rPr>
              <a:t>190</a:t>
            </a:r>
          </a:p>
        </p:txBody>
      </p:sp>
      <p:sp>
        <p:nvSpPr>
          <p:cNvPr id="12" name="TextBox 11"/>
          <p:cNvSpPr txBox="1"/>
          <p:nvPr/>
        </p:nvSpPr>
        <p:spPr>
          <a:xfrm>
            <a:off x="640080" y="1965960"/>
            <a:ext cx="2468880" cy="822960"/>
          </a:xfrm>
          <a:prstGeom prst="rect">
            <a:avLst/>
          </a:prstGeom>
          <a:noFill/>
        </p:spPr>
        <p:txBody>
          <a:bodyPr wrap="square" lIns="36576" rIns="36576" tIns="18288" bIns="18288" anchor="t">
            <a:spAutoFit/>
          </a:bodyPr>
          <a:lstStyle/>
          <a:p>
            <a:pPr algn="ctr"/>
            <a:r>
              <a:rPr sz="1050" b="0" i="0">
                <a:solidFill>
                  <a:srgbClr val="C9D0FF"/>
                </a:solidFill>
                <a:latin typeface="Segoe UI"/>
              </a:rPr>
              <a:t>action sentences
"Priya will send the report by Monday"</a:t>
            </a:r>
          </a:p>
        </p:txBody>
      </p:sp>
      <p:sp>
        <p:nvSpPr>
          <p:cNvPr id="13" name="Rounded Rectangle 12"/>
          <p:cNvSpPr/>
          <p:nvPr/>
        </p:nvSpPr>
        <p:spPr>
          <a:xfrm>
            <a:off x="3355848" y="1371600"/>
            <a:ext cx="2651760" cy="1417320"/>
          </a:xfrm>
          <a:prstGeom prst="roundRect">
            <a:avLst>
              <a:gd name="adj" fmla="val 7000"/>
            </a:avLst>
          </a:prstGeom>
          <a:solidFill>
            <a:srgbClr val="151B4D"/>
          </a:solidFill>
          <a:ln w="1651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5848" y="1417320"/>
            <a:ext cx="2651760" cy="548640"/>
          </a:xfrm>
          <a:prstGeom prst="rect">
            <a:avLst/>
          </a:prstGeom>
          <a:noFill/>
        </p:spPr>
        <p:txBody>
          <a:bodyPr wrap="square" lIns="36576" rIns="36576" tIns="18288" bIns="18288" anchor="ctr">
            <a:spAutoFit/>
          </a:bodyPr>
          <a:lstStyle/>
          <a:p>
            <a:pPr algn="ctr"/>
            <a:r>
              <a:rPr sz="3000" b="1" i="0">
                <a:solidFill>
                  <a:srgbClr val="FFB7DE"/>
                </a:solidFill>
                <a:latin typeface="Segoe UI"/>
              </a:rPr>
              <a:t>110</a:t>
            </a:r>
          </a:p>
        </p:txBody>
      </p:sp>
      <p:sp>
        <p:nvSpPr>
          <p:cNvPr id="15" name="TextBox 14"/>
          <p:cNvSpPr txBox="1"/>
          <p:nvPr/>
        </p:nvSpPr>
        <p:spPr>
          <a:xfrm>
            <a:off x="3447288" y="1965960"/>
            <a:ext cx="2468880" cy="822960"/>
          </a:xfrm>
          <a:prstGeom prst="rect">
            <a:avLst/>
          </a:prstGeom>
          <a:noFill/>
        </p:spPr>
        <p:txBody>
          <a:bodyPr wrap="square" lIns="36576" rIns="36576" tIns="18288" bIns="18288" anchor="t">
            <a:spAutoFit/>
          </a:bodyPr>
          <a:lstStyle/>
          <a:p>
            <a:pPr algn="ctr"/>
            <a:r>
              <a:rPr sz="1050" b="0" i="0">
                <a:solidFill>
                  <a:srgbClr val="C9D0FF"/>
                </a:solidFill>
                <a:latin typeface="Segoe UI"/>
              </a:rPr>
              <a:t>decision sentences
"We decided to launch on the 15th"</a:t>
            </a:r>
          </a:p>
        </p:txBody>
      </p:sp>
      <p:sp>
        <p:nvSpPr>
          <p:cNvPr id="16" name="Rounded Rectangle 15"/>
          <p:cNvSpPr/>
          <p:nvPr/>
        </p:nvSpPr>
        <p:spPr>
          <a:xfrm>
            <a:off x="6163055" y="1371600"/>
            <a:ext cx="2651760" cy="1417320"/>
          </a:xfrm>
          <a:prstGeom prst="roundRect">
            <a:avLst>
              <a:gd name="adj" fmla="val 7000"/>
            </a:avLst>
          </a:prstGeom>
          <a:solidFill>
            <a:srgbClr val="151B4D"/>
          </a:solidFill>
          <a:ln w="1651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3055" y="1417320"/>
            <a:ext cx="2651760" cy="548640"/>
          </a:xfrm>
          <a:prstGeom prst="rect">
            <a:avLst/>
          </a:prstGeom>
          <a:noFill/>
        </p:spPr>
        <p:txBody>
          <a:bodyPr wrap="square" lIns="36576" rIns="36576" tIns="18288" bIns="18288" anchor="ctr">
            <a:spAutoFit/>
          </a:bodyPr>
          <a:lstStyle/>
          <a:p>
            <a:pPr algn="ctr"/>
            <a:r>
              <a:rPr sz="3000" b="1" i="0">
                <a:solidFill>
                  <a:srgbClr val="A9CCFF"/>
                </a:solidFill>
                <a:latin typeface="Segoe UI"/>
              </a:rPr>
              <a:t>100</a:t>
            </a:r>
          </a:p>
        </p:txBody>
      </p:sp>
      <p:sp>
        <p:nvSpPr>
          <p:cNvPr id="18" name="TextBox 17"/>
          <p:cNvSpPr txBox="1"/>
          <p:nvPr/>
        </p:nvSpPr>
        <p:spPr>
          <a:xfrm>
            <a:off x="6254495" y="1965960"/>
            <a:ext cx="2468880" cy="822960"/>
          </a:xfrm>
          <a:prstGeom prst="rect">
            <a:avLst/>
          </a:prstGeom>
          <a:noFill/>
        </p:spPr>
        <p:txBody>
          <a:bodyPr wrap="square" lIns="36576" rIns="36576" tIns="18288" bIns="18288" anchor="t">
            <a:spAutoFit/>
          </a:bodyPr>
          <a:lstStyle/>
          <a:p>
            <a:pPr algn="ctr"/>
            <a:r>
              <a:rPr sz="1050" b="0" i="0">
                <a:solidFill>
                  <a:srgbClr val="C9D0FF"/>
                </a:solidFill>
                <a:latin typeface="Segoe UI"/>
              </a:rPr>
              <a:t>question sentences
"Can you review the draft?"</a:t>
            </a:r>
          </a:p>
        </p:txBody>
      </p:sp>
      <p:sp>
        <p:nvSpPr>
          <p:cNvPr id="19" name="Rounded Rectangle 18"/>
          <p:cNvSpPr/>
          <p:nvPr/>
        </p:nvSpPr>
        <p:spPr>
          <a:xfrm>
            <a:off x="8970263" y="1371600"/>
            <a:ext cx="2651760" cy="1417320"/>
          </a:xfrm>
          <a:prstGeom prst="roundRect">
            <a:avLst>
              <a:gd name="adj" fmla="val 7000"/>
            </a:avLst>
          </a:prstGeom>
          <a:solidFill>
            <a:srgbClr val="151B4D"/>
          </a:solidFill>
          <a:ln w="1651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0263" y="1417320"/>
            <a:ext cx="2651760" cy="548640"/>
          </a:xfrm>
          <a:prstGeom prst="rect">
            <a:avLst/>
          </a:prstGeom>
          <a:noFill/>
        </p:spPr>
        <p:txBody>
          <a:bodyPr wrap="square" lIns="36576" rIns="36576" tIns="18288" bIns="18288" anchor="ctr">
            <a:spAutoFit/>
          </a:bodyPr>
          <a:lstStyle/>
          <a:p>
            <a:pPr algn="ctr"/>
            <a:r>
              <a:rPr sz="3000" b="1" i="0">
                <a:solidFill>
                  <a:srgbClr val="7DF0DF"/>
                </a:solidFill>
                <a:latin typeface="Segoe UI"/>
              </a:rPr>
              <a:t>210</a:t>
            </a:r>
          </a:p>
        </p:txBody>
      </p:sp>
      <p:sp>
        <p:nvSpPr>
          <p:cNvPr id="21" name="TextBox 20"/>
          <p:cNvSpPr txBox="1"/>
          <p:nvPr/>
        </p:nvSpPr>
        <p:spPr>
          <a:xfrm>
            <a:off x="9061703" y="1965960"/>
            <a:ext cx="2468880" cy="822960"/>
          </a:xfrm>
          <a:prstGeom prst="rect">
            <a:avLst/>
          </a:prstGeom>
          <a:noFill/>
        </p:spPr>
        <p:txBody>
          <a:bodyPr wrap="square" lIns="36576" rIns="36576" tIns="18288" bIns="18288" anchor="t">
            <a:spAutoFit/>
          </a:bodyPr>
          <a:lstStyle/>
          <a:p>
            <a:pPr algn="ctr"/>
            <a:r>
              <a:rPr sz="1050" b="0" i="0">
                <a:solidFill>
                  <a:srgbClr val="C9D0FF"/>
                </a:solidFill>
                <a:latin typeface="Segoe UI"/>
              </a:rPr>
              <a:t>discussion sentences
"The beta has been running well"</a:t>
            </a:r>
          </a:p>
        </p:txBody>
      </p:sp>
      <p:sp>
        <p:nvSpPr>
          <p:cNvPr id="22" name="TextBox 21"/>
          <p:cNvSpPr txBox="1"/>
          <p:nvPr/>
        </p:nvSpPr>
        <p:spPr>
          <a:xfrm>
            <a:off x="548640" y="2880360"/>
            <a:ext cx="10972800" cy="274320"/>
          </a:xfrm>
          <a:prstGeom prst="rect">
            <a:avLst/>
          </a:prstGeom>
          <a:noFill/>
        </p:spPr>
        <p:txBody>
          <a:bodyPr wrap="square" lIns="36576" rIns="36576" tIns="18288" bIns="18288" anchor="t">
            <a:spAutoFit/>
          </a:bodyPr>
          <a:lstStyle/>
          <a:p>
            <a:pPr algn="l"/>
            <a:r>
              <a:rPr sz="1100" b="0" i="0">
                <a:solidFill>
                  <a:srgbClr val="8E99E0"/>
                </a:solidFill>
                <a:latin typeface="Segoe UI"/>
              </a:rPr>
              <a:t>610 template sentences (seed 42)  -&gt;  vectorise  -&gt;  train  -&gt;  cache</a:t>
            </a:r>
          </a:p>
        </p:txBody>
      </p:sp>
      <p:sp>
        <p:nvSpPr>
          <p:cNvPr id="23" name="Rounded Rectangle 22"/>
          <p:cNvSpPr/>
          <p:nvPr/>
        </p:nvSpPr>
        <p:spPr>
          <a:xfrm>
            <a:off x="548640" y="3291840"/>
            <a:ext cx="2468880" cy="109728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291840"/>
            <a:ext cx="2194560"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3355848"/>
            <a:ext cx="23774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seed_data.py</a:t>
            </a:r>
          </a:p>
        </p:txBody>
      </p:sp>
      <p:sp>
        <p:nvSpPr>
          <p:cNvPr id="26" name="TextBox 25"/>
          <p:cNvSpPr txBox="1"/>
          <p:nvPr/>
        </p:nvSpPr>
        <p:spPr>
          <a:xfrm>
            <a:off x="612647" y="3813048"/>
            <a:ext cx="2340864" cy="530352"/>
          </a:xfrm>
          <a:prstGeom prst="rect">
            <a:avLst/>
          </a:prstGeom>
          <a:noFill/>
        </p:spPr>
        <p:txBody>
          <a:bodyPr wrap="square" lIns="36576" rIns="36576" tIns="18288" bIns="18288" anchor="ctr">
            <a:spAutoFit/>
          </a:bodyPr>
          <a:lstStyle/>
          <a:p>
            <a:pPr algn="ctr"/>
            <a:r>
              <a:rPr sz="1000" b="0" i="0">
                <a:solidFill>
                  <a:srgbClr val="D2D7F5"/>
                </a:solidFill>
                <a:latin typeface="Segoe UI"/>
              </a:rPr>
              <a:t>templates × names, topics, dates - generated with a fixed seed</a:t>
            </a:r>
          </a:p>
        </p:txBody>
      </p:sp>
      <p:sp>
        <p:nvSpPr>
          <p:cNvPr id="27" name="Rounded Rectangle 26"/>
          <p:cNvSpPr/>
          <p:nvPr/>
        </p:nvSpPr>
        <p:spPr>
          <a:xfrm>
            <a:off x="3429000" y="3291840"/>
            <a:ext cx="2468880" cy="109728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66160" y="3291840"/>
            <a:ext cx="219456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0" y="3355848"/>
            <a:ext cx="23774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TF-IDF</a:t>
            </a:r>
          </a:p>
        </p:txBody>
      </p:sp>
      <p:sp>
        <p:nvSpPr>
          <p:cNvPr id="30" name="TextBox 29"/>
          <p:cNvSpPr txBox="1"/>
          <p:nvPr/>
        </p:nvSpPr>
        <p:spPr>
          <a:xfrm>
            <a:off x="3493008" y="3813048"/>
            <a:ext cx="2340864" cy="530352"/>
          </a:xfrm>
          <a:prstGeom prst="rect">
            <a:avLst/>
          </a:prstGeom>
          <a:noFill/>
        </p:spPr>
        <p:txBody>
          <a:bodyPr wrap="square" lIns="36576" rIns="36576" tIns="18288" bIns="18288" anchor="ctr">
            <a:spAutoFit/>
          </a:bodyPr>
          <a:lstStyle/>
          <a:p>
            <a:pPr algn="ctr"/>
            <a:r>
              <a:rPr sz="1000" b="0" i="0">
                <a:solidFill>
                  <a:srgbClr val="A9CCFF"/>
                </a:solidFill>
                <a:latin typeface="Segoe UI"/>
              </a:rPr>
              <a:t>unigrams + bigrams: words and short phrases</a:t>
            </a:r>
          </a:p>
        </p:txBody>
      </p:sp>
      <p:sp>
        <p:nvSpPr>
          <p:cNvPr id="31" name="Rounded Rectangle 30"/>
          <p:cNvSpPr/>
          <p:nvPr/>
        </p:nvSpPr>
        <p:spPr>
          <a:xfrm>
            <a:off x="6309360" y="3291840"/>
            <a:ext cx="2468880" cy="10972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46520" y="3291840"/>
            <a:ext cx="219456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355848"/>
            <a:ext cx="23774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Naive Bayes</a:t>
            </a:r>
          </a:p>
        </p:txBody>
      </p:sp>
      <p:sp>
        <p:nvSpPr>
          <p:cNvPr id="34" name="TextBox 33"/>
          <p:cNvSpPr txBox="1"/>
          <p:nvPr/>
        </p:nvSpPr>
        <p:spPr>
          <a:xfrm>
            <a:off x="6373368" y="3813048"/>
            <a:ext cx="2340864" cy="530352"/>
          </a:xfrm>
          <a:prstGeom prst="rect">
            <a:avLst/>
          </a:prstGeom>
          <a:noFill/>
        </p:spPr>
        <p:txBody>
          <a:bodyPr wrap="square" lIns="36576" rIns="36576" tIns="18288" bIns="18288" anchor="ctr">
            <a:spAutoFit/>
          </a:bodyPr>
          <a:lstStyle/>
          <a:p>
            <a:pPr algn="ctr"/>
            <a:r>
              <a:rPr sz="1000" b="0" i="0">
                <a:solidFill>
                  <a:srgbClr val="7DF0DF"/>
                </a:solidFill>
                <a:latin typeface="Segoe UI"/>
              </a:rPr>
              <a:t>MultinomialNB, alpha = 0.3 (gentle smoothing)</a:t>
            </a:r>
          </a:p>
        </p:txBody>
      </p:sp>
      <p:sp>
        <p:nvSpPr>
          <p:cNvPr id="35" name="Rounded Rectangle 34"/>
          <p:cNvSpPr/>
          <p:nvPr/>
        </p:nvSpPr>
        <p:spPr>
          <a:xfrm>
            <a:off x="9189720" y="3291840"/>
            <a:ext cx="2468880" cy="10972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326880" y="3291840"/>
            <a:ext cx="219456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0" y="3355848"/>
            <a:ext cx="23774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Model cached</a:t>
            </a:r>
          </a:p>
        </p:txBody>
      </p:sp>
      <p:sp>
        <p:nvSpPr>
          <p:cNvPr id="38" name="TextBox 37"/>
          <p:cNvSpPr txBox="1"/>
          <p:nvPr/>
        </p:nvSpPr>
        <p:spPr>
          <a:xfrm>
            <a:off x="9253728" y="3813048"/>
            <a:ext cx="2340864" cy="530352"/>
          </a:xfrm>
          <a:prstGeom prst="rect">
            <a:avLst/>
          </a:prstGeom>
          <a:noFill/>
        </p:spPr>
        <p:txBody>
          <a:bodyPr wrap="square" lIns="36576" rIns="36576" tIns="18288" bIns="18288" anchor="ctr">
            <a:spAutoFit/>
          </a:bodyPr>
          <a:lstStyle/>
          <a:p>
            <a:pPr algn="ctr"/>
            <a:r>
              <a:rPr sz="1000" b="0" i="0">
                <a:solidFill>
                  <a:srgbClr val="8CF0C6"/>
                </a:solidFill>
                <a:latin typeface="Segoe UI"/>
              </a:rPr>
              <a:t>st.cache_resource - trained once per server start</a:t>
            </a:r>
          </a:p>
        </p:txBody>
      </p:sp>
      <p:cxnSp>
        <p:nvCxnSpPr>
          <p:cNvPr id="39" name="Connector 38"/>
          <p:cNvCxnSpPr/>
          <p:nvPr/>
        </p:nvCxnSpPr>
        <p:spPr>
          <a:xfrm>
            <a:off x="3017520" y="3840480"/>
            <a:ext cx="4114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897880" y="3840480"/>
            <a:ext cx="4114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778240" y="3840480"/>
            <a:ext cx="411479"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48640" y="4709160"/>
            <a:ext cx="5486400" cy="1371600"/>
          </a:xfrm>
          <a:prstGeom prst="roundRect">
            <a:avLst>
              <a:gd name="adj" fmla="val 12000"/>
            </a:avLst>
          </a:prstGeom>
          <a:solidFill>
            <a:srgbClr val="1C1A3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4782312"/>
            <a:ext cx="64008" cy="1225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808" y="4745736"/>
            <a:ext cx="5166360" cy="1298448"/>
          </a:xfrm>
          <a:prstGeom prst="rect">
            <a:avLst/>
          </a:prstGeom>
          <a:noFill/>
        </p:spPr>
        <p:txBody>
          <a:bodyPr wrap="square" lIns="36576" rIns="36576" tIns="18288" bIns="18288" anchor="ctr">
            <a:spAutoFit/>
          </a:bodyPr>
          <a:lstStyle/>
          <a:p>
            <a:pPr algn="l"/>
            <a:r>
              <a:rPr sz="1050" b="1" i="0">
                <a:solidFill>
                  <a:srgbClr val="FFD978"/>
                </a:solidFill>
                <a:latin typeface="Segoe UI"/>
              </a:rPr>
              <a:t>ASSUMPTION   </a:t>
            </a:r>
            <a:r>
              <a:rPr sz="1150" b="0" i="0">
                <a:solidFill>
                  <a:srgbClr val="C9D0FF"/>
                </a:solidFill>
                <a:latin typeface="Segoe UI"/>
              </a:rPr>
              <a:t>Template sentences stand in for a real labelled corpus. Reason: none exists for our domain and free hosting forbids heavy training. They give a working, explainable baseline.</a:t>
            </a:r>
          </a:p>
        </p:txBody>
      </p:sp>
      <p:sp>
        <p:nvSpPr>
          <p:cNvPr id="45" name="Rounded Rectangle 44"/>
          <p:cNvSpPr/>
          <p:nvPr/>
        </p:nvSpPr>
        <p:spPr>
          <a:xfrm>
            <a:off x="6172200" y="4709160"/>
            <a:ext cx="5486400" cy="1371600"/>
          </a:xfrm>
          <a:prstGeom prst="roundRect">
            <a:avLst>
              <a:gd name="adj" fmla="val 12000"/>
            </a:avLst>
          </a:prstGeom>
          <a:solidFill>
            <a:srgbClr val="1C1A3A"/>
          </a:solidFill>
          <a:ln w="127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72200" y="4782312"/>
            <a:ext cx="64008" cy="1225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3368" y="4745736"/>
            <a:ext cx="5166360" cy="1298448"/>
          </a:xfrm>
          <a:prstGeom prst="rect">
            <a:avLst/>
          </a:prstGeom>
          <a:noFill/>
        </p:spPr>
        <p:txBody>
          <a:bodyPr wrap="square" lIns="36576" rIns="36576" tIns="18288" bIns="18288" anchor="ctr">
            <a:spAutoFit/>
          </a:bodyPr>
          <a:lstStyle/>
          <a:p>
            <a:pPr algn="l"/>
            <a:r>
              <a:rPr sz="1050" b="1" i="0">
                <a:solidFill>
                  <a:srgbClr val="7DF0DF"/>
                </a:solidFill>
                <a:latin typeface="Segoe UI"/>
              </a:rPr>
              <a:t>HOW WE CHECK IT   </a:t>
            </a:r>
            <a:r>
              <a:rPr sz="1150" b="0" i="0">
                <a:solidFill>
                  <a:srgbClr val="C9D0FF"/>
                </a:solidFill>
                <a:latin typeface="Segoe UI"/>
              </a:rPr>
              <a:t>NLP Lab evaluates the model on 42 separate hand-written test sentences (accuracy, per-class report, confusion matrix) - visible in the app.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NLP · CLASSIFICATION</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Scoring one sentence: two experts, one fused score</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13</a:t>
            </a:r>
          </a:p>
        </p:txBody>
      </p:sp>
      <p:sp>
        <p:nvSpPr>
          <p:cNvPr id="10" name="Rounded Rectangle 9"/>
          <p:cNvSpPr/>
          <p:nvPr/>
        </p:nvSpPr>
        <p:spPr>
          <a:xfrm>
            <a:off x="548640" y="2331720"/>
            <a:ext cx="2011680" cy="114300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331720"/>
            <a:ext cx="173736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95727"/>
            <a:ext cx="19202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Sentence</a:t>
            </a:r>
          </a:p>
        </p:txBody>
      </p:sp>
      <p:sp>
        <p:nvSpPr>
          <p:cNvPr id="13" name="TextBox 12"/>
          <p:cNvSpPr txBox="1"/>
          <p:nvPr/>
        </p:nvSpPr>
        <p:spPr>
          <a:xfrm>
            <a:off x="612647" y="2852927"/>
            <a:ext cx="1883664" cy="576072"/>
          </a:xfrm>
          <a:prstGeom prst="rect">
            <a:avLst/>
          </a:prstGeom>
          <a:noFill/>
        </p:spPr>
        <p:txBody>
          <a:bodyPr wrap="square" lIns="36576" rIns="36576" tIns="18288" bIns="18288" anchor="ctr">
            <a:spAutoFit/>
          </a:bodyPr>
          <a:lstStyle/>
          <a:p>
            <a:pPr algn="ctr"/>
            <a:r>
              <a:rPr sz="1050" b="0" i="0">
                <a:solidFill>
                  <a:srgbClr val="D4C8FF"/>
                </a:solidFill>
                <a:latin typeface="Segoe UI"/>
              </a:rPr>
              <a:t>"Priya will send the project report by Monday."</a:t>
            </a:r>
          </a:p>
        </p:txBody>
      </p:sp>
      <p:sp>
        <p:nvSpPr>
          <p:cNvPr id="14" name="Rounded Rectangle 13"/>
          <p:cNvSpPr/>
          <p:nvPr/>
        </p:nvSpPr>
        <p:spPr>
          <a:xfrm>
            <a:off x="3200400" y="1417320"/>
            <a:ext cx="2560320" cy="114300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417320"/>
            <a:ext cx="228600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6120" y="1481328"/>
            <a:ext cx="2468879"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Rule expert</a:t>
            </a:r>
          </a:p>
        </p:txBody>
      </p:sp>
      <p:sp>
        <p:nvSpPr>
          <p:cNvPr id="17" name="TextBox 16"/>
          <p:cNvSpPr txBox="1"/>
          <p:nvPr/>
        </p:nvSpPr>
        <p:spPr>
          <a:xfrm>
            <a:off x="3264408" y="1938528"/>
            <a:ext cx="2432303" cy="576072"/>
          </a:xfrm>
          <a:prstGeom prst="rect">
            <a:avLst/>
          </a:prstGeom>
          <a:noFill/>
        </p:spPr>
        <p:txBody>
          <a:bodyPr wrap="square" lIns="36576" rIns="36576" tIns="18288" bIns="18288" anchor="ctr">
            <a:spAutoFit/>
          </a:bodyPr>
          <a:lstStyle/>
          <a:p>
            <a:pPr algn="ctr"/>
            <a:r>
              <a:rPr sz="1000" b="0" i="0">
                <a:solidFill>
                  <a:srgbClr val="7DF0DF"/>
                </a:solidFill>
                <a:latin typeface="Segoe UI"/>
              </a:rPr>
              <a:t>weighted regex cues: will · by Friday · we decided; hedges: maybe · might</a:t>
            </a:r>
          </a:p>
        </p:txBody>
      </p:sp>
      <p:sp>
        <p:nvSpPr>
          <p:cNvPr id="18" name="Rounded Rectangle 17"/>
          <p:cNvSpPr/>
          <p:nvPr/>
        </p:nvSpPr>
        <p:spPr>
          <a:xfrm>
            <a:off x="3200400" y="3246120"/>
            <a:ext cx="2560320" cy="114300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37560" y="3246120"/>
            <a:ext cx="228600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6120" y="3310127"/>
            <a:ext cx="2468879"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Statistics expert</a:t>
            </a:r>
          </a:p>
        </p:txBody>
      </p:sp>
      <p:sp>
        <p:nvSpPr>
          <p:cNvPr id="21" name="TextBox 20"/>
          <p:cNvSpPr txBox="1"/>
          <p:nvPr/>
        </p:nvSpPr>
        <p:spPr>
          <a:xfrm>
            <a:off x="3264408" y="3767327"/>
            <a:ext cx="2432303" cy="576072"/>
          </a:xfrm>
          <a:prstGeom prst="rect">
            <a:avLst/>
          </a:prstGeom>
          <a:noFill/>
        </p:spPr>
        <p:txBody>
          <a:bodyPr wrap="square" lIns="36576" rIns="36576" tIns="18288" bIns="18288" anchor="ctr">
            <a:spAutoFit/>
          </a:bodyPr>
          <a:lstStyle/>
          <a:p>
            <a:pPr algn="ctr"/>
            <a:r>
              <a:rPr sz="1000" b="0" i="0">
                <a:solidFill>
                  <a:srgbClr val="A9CCFF"/>
                </a:solidFill>
                <a:latin typeface="Segoe UI"/>
              </a:rPr>
              <a:t>TF-IDF + Naive Bayes trained on 610 sentences</a:t>
            </a:r>
          </a:p>
        </p:txBody>
      </p:sp>
      <p:sp>
        <p:nvSpPr>
          <p:cNvPr id="22" name="Rounded Rectangle 21"/>
          <p:cNvSpPr/>
          <p:nvPr/>
        </p:nvSpPr>
        <p:spPr>
          <a:xfrm>
            <a:off x="6400800" y="2331720"/>
            <a:ext cx="2194560" cy="114300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37960" y="2331720"/>
            <a:ext cx="192024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2395727"/>
            <a:ext cx="210312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Fusion</a:t>
            </a:r>
          </a:p>
        </p:txBody>
      </p:sp>
      <p:sp>
        <p:nvSpPr>
          <p:cNvPr id="25" name="TextBox 24"/>
          <p:cNvSpPr txBox="1"/>
          <p:nvPr/>
        </p:nvSpPr>
        <p:spPr>
          <a:xfrm>
            <a:off x="6464808" y="2852927"/>
            <a:ext cx="2066543" cy="576072"/>
          </a:xfrm>
          <a:prstGeom prst="rect">
            <a:avLst/>
          </a:prstGeom>
          <a:noFill/>
        </p:spPr>
        <p:txBody>
          <a:bodyPr wrap="square" lIns="36576" rIns="36576" tIns="18288" bIns="18288" anchor="ctr">
            <a:spAutoFit/>
          </a:bodyPr>
          <a:lstStyle/>
          <a:p>
            <a:pPr algn="ctr"/>
            <a:r>
              <a:rPr sz="1050" b="0" i="0">
                <a:solidFill>
                  <a:srgbClr val="FFD978"/>
                </a:solidFill>
                <a:latin typeface="Segoe UI"/>
              </a:rPr>
              <a:t>0.5 × NB + 0.5 × rules
× 0.8 if hedged</a:t>
            </a:r>
          </a:p>
        </p:txBody>
      </p:sp>
      <p:sp>
        <p:nvSpPr>
          <p:cNvPr id="26" name="Rounded Rectangle 25"/>
          <p:cNvSpPr/>
          <p:nvPr/>
        </p:nvSpPr>
        <p:spPr>
          <a:xfrm>
            <a:off x="9235440" y="2331720"/>
            <a:ext cx="2423160" cy="114300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372600" y="2331720"/>
            <a:ext cx="214884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81160" y="2395727"/>
            <a:ext cx="233172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Candidate</a:t>
            </a:r>
          </a:p>
        </p:txBody>
      </p:sp>
      <p:sp>
        <p:nvSpPr>
          <p:cNvPr id="29" name="TextBox 28"/>
          <p:cNvSpPr txBox="1"/>
          <p:nvPr/>
        </p:nvSpPr>
        <p:spPr>
          <a:xfrm>
            <a:off x="9299448" y="2852927"/>
            <a:ext cx="2295144" cy="576072"/>
          </a:xfrm>
          <a:prstGeom prst="rect">
            <a:avLst/>
          </a:prstGeom>
          <a:noFill/>
        </p:spPr>
        <p:txBody>
          <a:bodyPr wrap="square" lIns="36576" rIns="36576" tIns="18288" bIns="18288" anchor="ctr">
            <a:spAutoFit/>
          </a:bodyPr>
          <a:lstStyle/>
          <a:p>
            <a:pPr algn="ctr"/>
            <a:r>
              <a:rPr sz="1050" b="0" i="0">
                <a:solidFill>
                  <a:srgbClr val="8CF0C6"/>
                </a:solidFill>
                <a:latin typeface="Segoe UI"/>
              </a:rPr>
              <a:t>class · score · margin
kept if score ≥ 0.33</a:t>
            </a:r>
          </a:p>
        </p:txBody>
      </p:sp>
      <p:cxnSp>
        <p:nvCxnSpPr>
          <p:cNvPr id="30" name="Connector 29"/>
          <p:cNvCxnSpPr/>
          <p:nvPr/>
        </p:nvCxnSpPr>
        <p:spPr>
          <a:xfrm>
            <a:off x="2560320" y="2898648"/>
            <a:ext cx="32004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880360" y="1984248"/>
            <a:ext cx="0" cy="91440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880360" y="1984248"/>
            <a:ext cx="3200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880360" y="2898648"/>
            <a:ext cx="0" cy="91440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880360" y="3813048"/>
            <a:ext cx="3200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60720" y="1984248"/>
            <a:ext cx="32004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080760" y="1984248"/>
            <a:ext cx="0" cy="91440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080760" y="2898648"/>
            <a:ext cx="3200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760720" y="3813048"/>
            <a:ext cx="32004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080760" y="2898648"/>
            <a:ext cx="0" cy="91440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595360" y="2898648"/>
            <a:ext cx="6400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4617720"/>
            <a:ext cx="10972800" cy="274320"/>
          </a:xfrm>
          <a:prstGeom prst="rect">
            <a:avLst/>
          </a:prstGeom>
          <a:noFill/>
        </p:spPr>
        <p:txBody>
          <a:bodyPr wrap="square" lIns="36576" rIns="36576" tIns="18288" bIns="18288" anchor="t">
            <a:spAutoFit/>
          </a:bodyPr>
          <a:lstStyle/>
          <a:p>
            <a:pPr algn="l"/>
            <a:r>
              <a:rPr sz="1050" b="1" i="0">
                <a:solidFill>
                  <a:srgbClr val="A78BFA"/>
                </a:solidFill>
                <a:latin typeface="Segoe UI"/>
              </a:rPr>
              <a:t>THEN, FOR EACH CANDIDATE, THREE EXTRACTORS FILL IN THE DETAILS</a:t>
            </a:r>
          </a:p>
        </p:txBody>
      </p:sp>
      <p:sp>
        <p:nvSpPr>
          <p:cNvPr id="42" name="Rounded Rectangle 41"/>
          <p:cNvSpPr/>
          <p:nvPr/>
        </p:nvSpPr>
        <p:spPr>
          <a:xfrm>
            <a:off x="548640" y="4937760"/>
            <a:ext cx="3566160" cy="114300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85800" y="4937760"/>
            <a:ext cx="329184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5001768"/>
            <a:ext cx="347472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Owner finder</a:t>
            </a:r>
          </a:p>
        </p:txBody>
      </p:sp>
      <p:sp>
        <p:nvSpPr>
          <p:cNvPr id="45" name="TextBox 44"/>
          <p:cNvSpPr txBox="1"/>
          <p:nvPr/>
        </p:nvSpPr>
        <p:spPr>
          <a:xfrm>
            <a:off x="612647" y="5458968"/>
            <a:ext cx="3438144" cy="576072"/>
          </a:xfrm>
          <a:prstGeom prst="rect">
            <a:avLst/>
          </a:prstGeom>
          <a:noFill/>
        </p:spPr>
        <p:txBody>
          <a:bodyPr wrap="square" lIns="36576" rIns="36576" tIns="18288" bIns="18288" anchor="ctr">
            <a:spAutoFit/>
          </a:bodyPr>
          <a:lstStyle/>
          <a:p>
            <a:pPr algn="ctr"/>
            <a:r>
              <a:rPr sz="1050" b="0" i="0">
                <a:solidFill>
                  <a:srgbClr val="A9CCFF"/>
                </a:solidFill>
                <a:latin typeface="Segoe UI"/>
              </a:rPr>
              <a:t>"I" = speaker · "Priya will..." = Priya · "we" or nothing = Unassigned</a:t>
            </a:r>
          </a:p>
        </p:txBody>
      </p:sp>
      <p:sp>
        <p:nvSpPr>
          <p:cNvPr id="46" name="Rounded Rectangle 45"/>
          <p:cNvSpPr/>
          <p:nvPr/>
        </p:nvSpPr>
        <p:spPr>
          <a:xfrm>
            <a:off x="4297680" y="4937760"/>
            <a:ext cx="3566160" cy="114300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434840" y="4937760"/>
            <a:ext cx="329184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43400" y="5001768"/>
            <a:ext cx="347472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Deadline finder (dates.py)</a:t>
            </a:r>
          </a:p>
        </p:txBody>
      </p:sp>
      <p:sp>
        <p:nvSpPr>
          <p:cNvPr id="49" name="TextBox 48"/>
          <p:cNvSpPr txBox="1"/>
          <p:nvPr/>
        </p:nvSpPr>
        <p:spPr>
          <a:xfrm>
            <a:off x="4361688" y="5458968"/>
            <a:ext cx="3438144" cy="576072"/>
          </a:xfrm>
          <a:prstGeom prst="rect">
            <a:avLst/>
          </a:prstGeom>
          <a:noFill/>
        </p:spPr>
        <p:txBody>
          <a:bodyPr wrap="square" lIns="36576" rIns="36576" tIns="18288" bIns="18288" anchor="ctr">
            <a:spAutoFit/>
          </a:bodyPr>
          <a:lstStyle/>
          <a:p>
            <a:pPr algn="ctr"/>
            <a:r>
              <a:rPr sz="1050" b="0" i="0">
                <a:solidFill>
                  <a:srgbClr val="FFD978"/>
                </a:solidFill>
                <a:latin typeface="Segoe UI"/>
              </a:rPr>
              <a:t>"by Monday" -&gt; real date · "soon" -&gt; Not specified (never guessed)</a:t>
            </a:r>
          </a:p>
        </p:txBody>
      </p:sp>
      <p:sp>
        <p:nvSpPr>
          <p:cNvPr id="50" name="Rounded Rectangle 49"/>
          <p:cNvSpPr/>
          <p:nvPr/>
        </p:nvSpPr>
        <p:spPr>
          <a:xfrm>
            <a:off x="8046720" y="4937760"/>
            <a:ext cx="3611880" cy="114300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183880" y="4937760"/>
            <a:ext cx="333756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92440" y="5001768"/>
            <a:ext cx="35204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Event finder</a:t>
            </a:r>
          </a:p>
        </p:txBody>
      </p:sp>
      <p:sp>
        <p:nvSpPr>
          <p:cNvPr id="53" name="TextBox 52"/>
          <p:cNvSpPr txBox="1"/>
          <p:nvPr/>
        </p:nvSpPr>
        <p:spPr>
          <a:xfrm>
            <a:off x="8110728" y="5458968"/>
            <a:ext cx="3483864" cy="576072"/>
          </a:xfrm>
          <a:prstGeom prst="rect">
            <a:avLst/>
          </a:prstGeom>
          <a:noFill/>
        </p:spPr>
        <p:txBody>
          <a:bodyPr wrap="square" lIns="36576" rIns="36576" tIns="18288" bIns="18288" anchor="ctr">
            <a:spAutoFit/>
          </a:bodyPr>
          <a:lstStyle/>
          <a:p>
            <a:pPr algn="ctr"/>
            <a:r>
              <a:rPr sz="1050" b="0" i="0">
                <a:solidFill>
                  <a:srgbClr val="FFB7DE"/>
                </a:solidFill>
                <a:latin typeface="Segoe UI"/>
              </a:rPr>
              <a:t>meeting / review words + a date or time -&gt; calendar event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NLP · EXTRACTION</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Owners and deadlines: confidence for every guess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14</a:t>
            </a:r>
          </a:p>
        </p:txBody>
      </p:sp>
      <p:sp>
        <p:nvSpPr>
          <p:cNvPr id="10" name="TextBox 9"/>
          <p:cNvSpPr txBox="1"/>
          <p:nvPr/>
        </p:nvSpPr>
        <p:spPr>
          <a:xfrm>
            <a:off x="548640" y="1280160"/>
            <a:ext cx="5486400" cy="274320"/>
          </a:xfrm>
          <a:prstGeom prst="rect">
            <a:avLst/>
          </a:prstGeom>
          <a:noFill/>
        </p:spPr>
        <p:txBody>
          <a:bodyPr wrap="square" lIns="36576" rIns="36576" tIns="18288" bIns="18288" anchor="t">
            <a:spAutoFit/>
          </a:bodyPr>
          <a:lstStyle/>
          <a:p>
            <a:pPr algn="l"/>
            <a:r>
              <a:rPr sz="1050" b="1" i="0">
                <a:solidFill>
                  <a:srgbClr val="A78BFA"/>
                </a:solidFill>
                <a:latin typeface="Segoe UI"/>
              </a:rPr>
              <a:t>OWNER CONFIDENCE</a:t>
            </a:r>
          </a:p>
        </p:txBody>
      </p:sp>
      <p:sp>
        <p:nvSpPr>
          <p:cNvPr id="11" name="Rectangle 10"/>
          <p:cNvSpPr/>
          <p:nvPr/>
        </p:nvSpPr>
        <p:spPr>
          <a:xfrm>
            <a:off x="548640" y="1600200"/>
            <a:ext cx="246888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600200"/>
            <a:ext cx="2322576" cy="457200"/>
          </a:xfrm>
          <a:prstGeom prst="rect">
            <a:avLst/>
          </a:prstGeom>
          <a:noFill/>
        </p:spPr>
        <p:txBody>
          <a:bodyPr wrap="square" lIns="36576" rIns="36576" tIns="18288" bIns="18288" anchor="ctr">
            <a:spAutoFit/>
          </a:bodyPr>
          <a:lstStyle/>
          <a:p>
            <a:pPr algn="l"/>
            <a:r>
              <a:rPr sz="1150" b="1" i="0">
                <a:solidFill>
                  <a:srgbClr val="A78BFA"/>
                </a:solidFill>
                <a:latin typeface="Segoe UI"/>
              </a:rPr>
              <a:t>Case</a:t>
            </a:r>
          </a:p>
        </p:txBody>
      </p:sp>
      <p:sp>
        <p:nvSpPr>
          <p:cNvPr id="13" name="Rectangle 12"/>
          <p:cNvSpPr/>
          <p:nvPr/>
        </p:nvSpPr>
        <p:spPr>
          <a:xfrm>
            <a:off x="3017520" y="1600200"/>
            <a:ext cx="82296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1600200"/>
            <a:ext cx="676656" cy="457200"/>
          </a:xfrm>
          <a:prstGeom prst="rect">
            <a:avLst/>
          </a:prstGeom>
          <a:noFill/>
        </p:spPr>
        <p:txBody>
          <a:bodyPr wrap="square" lIns="36576" rIns="36576" tIns="18288" bIns="18288" anchor="ctr">
            <a:spAutoFit/>
          </a:bodyPr>
          <a:lstStyle/>
          <a:p>
            <a:pPr algn="l"/>
            <a:r>
              <a:rPr sz="1150" b="1" i="0">
                <a:solidFill>
                  <a:srgbClr val="A78BFA"/>
                </a:solidFill>
                <a:latin typeface="Segoe UI"/>
              </a:rPr>
              <a:t>Conf.</a:t>
            </a:r>
          </a:p>
        </p:txBody>
      </p:sp>
      <p:sp>
        <p:nvSpPr>
          <p:cNvPr id="15" name="Rectangle 14"/>
          <p:cNvSpPr/>
          <p:nvPr/>
        </p:nvSpPr>
        <p:spPr>
          <a:xfrm>
            <a:off x="3840480" y="1600200"/>
            <a:ext cx="224028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13632" y="1600200"/>
            <a:ext cx="2093976" cy="457200"/>
          </a:xfrm>
          <a:prstGeom prst="rect">
            <a:avLst/>
          </a:prstGeom>
          <a:noFill/>
        </p:spPr>
        <p:txBody>
          <a:bodyPr wrap="square" lIns="36576" rIns="36576" tIns="18288" bIns="18288" anchor="ctr">
            <a:spAutoFit/>
          </a:bodyPr>
          <a:lstStyle/>
          <a:p>
            <a:pPr algn="l"/>
            <a:r>
              <a:rPr sz="1150" b="1" i="0">
                <a:solidFill>
                  <a:srgbClr val="A78BFA"/>
                </a:solidFill>
                <a:latin typeface="Segoe UI"/>
              </a:rPr>
              <a:t>Result</a:t>
            </a:r>
          </a:p>
        </p:txBody>
      </p:sp>
      <p:sp>
        <p:nvSpPr>
          <p:cNvPr id="17" name="Rectangle 16"/>
          <p:cNvSpPr/>
          <p:nvPr/>
        </p:nvSpPr>
        <p:spPr>
          <a:xfrm>
            <a:off x="548640" y="2057400"/>
            <a:ext cx="246888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057400"/>
            <a:ext cx="2322576" cy="457200"/>
          </a:xfrm>
          <a:prstGeom prst="rect">
            <a:avLst/>
          </a:prstGeom>
          <a:noFill/>
        </p:spPr>
        <p:txBody>
          <a:bodyPr wrap="square" lIns="36576" rIns="36576" tIns="18288" bIns="18288" anchor="ctr">
            <a:spAutoFit/>
          </a:bodyPr>
          <a:lstStyle/>
          <a:p>
            <a:pPr algn="l"/>
            <a:r>
              <a:rPr sz="1150" b="1" i="0">
                <a:solidFill>
                  <a:srgbClr val="FFFFFF"/>
                </a:solidFill>
                <a:latin typeface="Segoe UI"/>
              </a:rPr>
              <a:t>Known participant named</a:t>
            </a:r>
          </a:p>
        </p:txBody>
      </p:sp>
      <p:sp>
        <p:nvSpPr>
          <p:cNvPr id="19" name="Rectangle 18"/>
          <p:cNvSpPr/>
          <p:nvPr/>
        </p:nvSpPr>
        <p:spPr>
          <a:xfrm>
            <a:off x="3017520" y="2057400"/>
            <a:ext cx="82296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2057400"/>
            <a:ext cx="67665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0.95</a:t>
            </a:r>
          </a:p>
        </p:txBody>
      </p:sp>
      <p:sp>
        <p:nvSpPr>
          <p:cNvPr id="21" name="Rectangle 20"/>
          <p:cNvSpPr/>
          <p:nvPr/>
        </p:nvSpPr>
        <p:spPr>
          <a:xfrm>
            <a:off x="3840480" y="2057400"/>
            <a:ext cx="224028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13632" y="2057400"/>
            <a:ext cx="209397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owner = that person</a:t>
            </a:r>
          </a:p>
        </p:txBody>
      </p:sp>
      <p:sp>
        <p:nvSpPr>
          <p:cNvPr id="23" name="Rectangle 22"/>
          <p:cNvSpPr/>
          <p:nvPr/>
        </p:nvSpPr>
        <p:spPr>
          <a:xfrm>
            <a:off x="548640" y="2514600"/>
            <a:ext cx="2468880" cy="45720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2514600"/>
            <a:ext cx="2322576" cy="457200"/>
          </a:xfrm>
          <a:prstGeom prst="rect">
            <a:avLst/>
          </a:prstGeom>
          <a:noFill/>
        </p:spPr>
        <p:txBody>
          <a:bodyPr wrap="square" lIns="36576" rIns="36576" tIns="18288" bIns="18288" anchor="ctr">
            <a:spAutoFit/>
          </a:bodyPr>
          <a:lstStyle/>
          <a:p>
            <a:pPr algn="l"/>
            <a:r>
              <a:rPr sz="1150" b="1" i="0">
                <a:solidFill>
                  <a:srgbClr val="FFFFFF"/>
                </a:solidFill>
                <a:latin typeface="Segoe UI"/>
              </a:rPr>
              <a:t>Name not in participant list</a:t>
            </a:r>
          </a:p>
        </p:txBody>
      </p:sp>
      <p:sp>
        <p:nvSpPr>
          <p:cNvPr id="25" name="Rectangle 24"/>
          <p:cNvSpPr/>
          <p:nvPr/>
        </p:nvSpPr>
        <p:spPr>
          <a:xfrm>
            <a:off x="3017520" y="2514600"/>
            <a:ext cx="822960" cy="45720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2514600"/>
            <a:ext cx="67665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0.88</a:t>
            </a:r>
          </a:p>
        </p:txBody>
      </p:sp>
      <p:sp>
        <p:nvSpPr>
          <p:cNvPr id="27" name="Rectangle 26"/>
          <p:cNvSpPr/>
          <p:nvPr/>
        </p:nvSpPr>
        <p:spPr>
          <a:xfrm>
            <a:off x="3840480" y="2514600"/>
            <a:ext cx="2240280" cy="45720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13632" y="2514600"/>
            <a:ext cx="209397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owner kept, flagged</a:t>
            </a:r>
          </a:p>
        </p:txBody>
      </p:sp>
      <p:sp>
        <p:nvSpPr>
          <p:cNvPr id="29" name="Rectangle 28"/>
          <p:cNvSpPr/>
          <p:nvPr/>
        </p:nvSpPr>
        <p:spPr>
          <a:xfrm>
            <a:off x="548640" y="2971800"/>
            <a:ext cx="246888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2971800"/>
            <a:ext cx="2322576" cy="457200"/>
          </a:xfrm>
          <a:prstGeom prst="rect">
            <a:avLst/>
          </a:prstGeom>
          <a:noFill/>
        </p:spPr>
        <p:txBody>
          <a:bodyPr wrap="square" lIns="36576" rIns="36576" tIns="18288" bIns="18288" anchor="ctr">
            <a:spAutoFit/>
          </a:bodyPr>
          <a:lstStyle/>
          <a:p>
            <a:pPr algn="l"/>
            <a:r>
              <a:rPr sz="1150" b="1" i="0">
                <a:solidFill>
                  <a:srgbClr val="FFFFFF"/>
                </a:solidFill>
                <a:latin typeface="Segoe UI"/>
              </a:rPr>
              <a:t>"We" (shared)</a:t>
            </a:r>
          </a:p>
        </p:txBody>
      </p:sp>
      <p:sp>
        <p:nvSpPr>
          <p:cNvPr id="31" name="Rectangle 30"/>
          <p:cNvSpPr/>
          <p:nvPr/>
        </p:nvSpPr>
        <p:spPr>
          <a:xfrm>
            <a:off x="3017520" y="2971800"/>
            <a:ext cx="82296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2971800"/>
            <a:ext cx="67665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0.90</a:t>
            </a:r>
          </a:p>
        </p:txBody>
      </p:sp>
      <p:sp>
        <p:nvSpPr>
          <p:cNvPr id="33" name="Rectangle 32"/>
          <p:cNvSpPr/>
          <p:nvPr/>
        </p:nvSpPr>
        <p:spPr>
          <a:xfrm>
            <a:off x="3840480" y="2971800"/>
            <a:ext cx="224028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13632" y="2971800"/>
            <a:ext cx="209397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nobody → Unassigned</a:t>
            </a:r>
          </a:p>
        </p:txBody>
      </p:sp>
      <p:sp>
        <p:nvSpPr>
          <p:cNvPr id="35" name="Rectangle 34"/>
          <p:cNvSpPr/>
          <p:nvPr/>
        </p:nvSpPr>
        <p:spPr>
          <a:xfrm>
            <a:off x="548640" y="3429000"/>
            <a:ext cx="2468880" cy="45720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3429000"/>
            <a:ext cx="2322576" cy="457200"/>
          </a:xfrm>
          <a:prstGeom prst="rect">
            <a:avLst/>
          </a:prstGeom>
          <a:noFill/>
        </p:spPr>
        <p:txBody>
          <a:bodyPr wrap="square" lIns="36576" rIns="36576" tIns="18288" bIns="18288" anchor="ctr">
            <a:spAutoFit/>
          </a:bodyPr>
          <a:lstStyle/>
          <a:p>
            <a:pPr algn="l"/>
            <a:r>
              <a:rPr sz="1150" b="1" i="0">
                <a:solidFill>
                  <a:srgbClr val="FFFFFF"/>
                </a:solidFill>
                <a:latin typeface="Segoe UI"/>
              </a:rPr>
              <a:t>No owner words at all</a:t>
            </a:r>
          </a:p>
        </p:txBody>
      </p:sp>
      <p:sp>
        <p:nvSpPr>
          <p:cNvPr id="37" name="Rectangle 36"/>
          <p:cNvSpPr/>
          <p:nvPr/>
        </p:nvSpPr>
        <p:spPr>
          <a:xfrm>
            <a:off x="3017520" y="3429000"/>
            <a:ext cx="822960" cy="45720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3429000"/>
            <a:ext cx="67665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0.50</a:t>
            </a:r>
          </a:p>
        </p:txBody>
      </p:sp>
      <p:sp>
        <p:nvSpPr>
          <p:cNvPr id="39" name="Rectangle 38"/>
          <p:cNvSpPr/>
          <p:nvPr/>
        </p:nvSpPr>
        <p:spPr>
          <a:xfrm>
            <a:off x="3840480" y="3429000"/>
            <a:ext cx="2240280" cy="45720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13632" y="3429000"/>
            <a:ext cx="209397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Unassigned</a:t>
            </a:r>
          </a:p>
        </p:txBody>
      </p:sp>
      <p:sp>
        <p:nvSpPr>
          <p:cNvPr id="41" name="Rectangle 40"/>
          <p:cNvSpPr/>
          <p:nvPr/>
        </p:nvSpPr>
        <p:spPr>
          <a:xfrm>
            <a:off x="548640" y="3886200"/>
            <a:ext cx="246888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3886200"/>
            <a:ext cx="2322576" cy="457200"/>
          </a:xfrm>
          <a:prstGeom prst="rect">
            <a:avLst/>
          </a:prstGeom>
          <a:noFill/>
        </p:spPr>
        <p:txBody>
          <a:bodyPr wrap="square" lIns="36576" rIns="36576" tIns="18288" bIns="18288" anchor="ctr">
            <a:spAutoFit/>
          </a:bodyPr>
          <a:lstStyle/>
          <a:p>
            <a:pPr algn="l"/>
            <a:r>
              <a:rPr sz="1150" b="1" i="0">
                <a:solidFill>
                  <a:srgbClr val="FFFFFF"/>
                </a:solidFill>
                <a:latin typeface="Segoe UI"/>
              </a:rPr>
              <a:t>Pronoun only (he / she)</a:t>
            </a:r>
          </a:p>
        </p:txBody>
      </p:sp>
      <p:sp>
        <p:nvSpPr>
          <p:cNvPr id="43" name="Rectangle 42"/>
          <p:cNvSpPr/>
          <p:nvPr/>
        </p:nvSpPr>
        <p:spPr>
          <a:xfrm>
            <a:off x="3017520" y="3886200"/>
            <a:ext cx="82296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3886200"/>
            <a:ext cx="67665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0.40</a:t>
            </a:r>
          </a:p>
        </p:txBody>
      </p:sp>
      <p:sp>
        <p:nvSpPr>
          <p:cNvPr id="45" name="Rectangle 44"/>
          <p:cNvSpPr/>
          <p:nvPr/>
        </p:nvSpPr>
        <p:spPr>
          <a:xfrm>
            <a:off x="3840480" y="3886200"/>
            <a:ext cx="2240280" cy="45720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13632" y="3886200"/>
            <a:ext cx="2093976" cy="457200"/>
          </a:xfrm>
          <a:prstGeom prst="rect">
            <a:avLst/>
          </a:prstGeom>
          <a:noFill/>
        </p:spPr>
        <p:txBody>
          <a:bodyPr wrap="square" lIns="36576" rIns="36576" tIns="18288" bIns="18288" anchor="ctr">
            <a:spAutoFit/>
          </a:bodyPr>
          <a:lstStyle/>
          <a:p>
            <a:pPr algn="l"/>
            <a:r>
              <a:rPr sz="1150" b="0" i="0">
                <a:solidFill>
                  <a:srgbClr val="C9D0FF"/>
                </a:solidFill>
                <a:latin typeface="Segoe UI"/>
              </a:rPr>
              <a:t>Unassigned</a:t>
            </a:r>
          </a:p>
        </p:txBody>
      </p:sp>
      <p:sp>
        <p:nvSpPr>
          <p:cNvPr id="47" name="TextBox 46"/>
          <p:cNvSpPr txBox="1"/>
          <p:nvPr/>
        </p:nvSpPr>
        <p:spPr>
          <a:xfrm>
            <a:off x="6583680" y="1280160"/>
            <a:ext cx="5029200" cy="274320"/>
          </a:xfrm>
          <a:prstGeom prst="rect">
            <a:avLst/>
          </a:prstGeom>
          <a:noFill/>
        </p:spPr>
        <p:txBody>
          <a:bodyPr wrap="square" lIns="36576" rIns="36576" tIns="18288" bIns="18288" anchor="t">
            <a:spAutoFit/>
          </a:bodyPr>
          <a:lstStyle/>
          <a:p>
            <a:pPr algn="l"/>
            <a:r>
              <a:rPr sz="1050" b="1" i="0">
                <a:solidFill>
                  <a:srgbClr val="A78BFA"/>
                </a:solidFill>
                <a:latin typeface="Segoe UI"/>
              </a:rPr>
              <a:t>DEADLINE RESOLVER (dates.py)</a:t>
            </a:r>
          </a:p>
        </p:txBody>
      </p:sp>
      <p:sp>
        <p:nvSpPr>
          <p:cNvPr id="48" name="Rectangle 47"/>
          <p:cNvSpPr/>
          <p:nvPr/>
        </p:nvSpPr>
        <p:spPr>
          <a:xfrm>
            <a:off x="6583680" y="1600200"/>
            <a:ext cx="2194560" cy="475488"/>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56832" y="1600200"/>
            <a:ext cx="2048255" cy="475488"/>
          </a:xfrm>
          <a:prstGeom prst="rect">
            <a:avLst/>
          </a:prstGeom>
          <a:noFill/>
        </p:spPr>
        <p:txBody>
          <a:bodyPr wrap="square" lIns="36576" rIns="36576" tIns="18288" bIns="18288" anchor="ctr">
            <a:spAutoFit/>
          </a:bodyPr>
          <a:lstStyle/>
          <a:p>
            <a:pPr algn="l"/>
            <a:r>
              <a:rPr sz="1150" b="1" i="0">
                <a:solidFill>
                  <a:srgbClr val="A78BFA"/>
                </a:solidFill>
                <a:latin typeface="Segoe UI"/>
              </a:rPr>
              <a:t>Phrase in the sentence</a:t>
            </a:r>
          </a:p>
        </p:txBody>
      </p:sp>
      <p:sp>
        <p:nvSpPr>
          <p:cNvPr id="50" name="Rectangle 49"/>
          <p:cNvSpPr/>
          <p:nvPr/>
        </p:nvSpPr>
        <p:spPr>
          <a:xfrm>
            <a:off x="8778240" y="1600200"/>
            <a:ext cx="2880360" cy="475488"/>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851392" y="1600200"/>
            <a:ext cx="2734056" cy="475488"/>
          </a:xfrm>
          <a:prstGeom prst="rect">
            <a:avLst/>
          </a:prstGeom>
          <a:noFill/>
        </p:spPr>
        <p:txBody>
          <a:bodyPr wrap="square" lIns="36576" rIns="36576" tIns="18288" bIns="18288" anchor="ctr">
            <a:spAutoFit/>
          </a:bodyPr>
          <a:lstStyle/>
          <a:p>
            <a:pPr algn="l"/>
            <a:r>
              <a:rPr sz="1150" b="1" i="0">
                <a:solidFill>
                  <a:srgbClr val="A78BFA"/>
                </a:solidFill>
                <a:latin typeface="Segoe UI"/>
              </a:rPr>
              <a:t>What happens</a:t>
            </a:r>
          </a:p>
        </p:txBody>
      </p:sp>
      <p:sp>
        <p:nvSpPr>
          <p:cNvPr id="52" name="Rectangle 51"/>
          <p:cNvSpPr/>
          <p:nvPr/>
        </p:nvSpPr>
        <p:spPr>
          <a:xfrm>
            <a:off x="6583680" y="2075688"/>
            <a:ext cx="2194560" cy="47548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56832" y="2075688"/>
            <a:ext cx="2048255" cy="475488"/>
          </a:xfrm>
          <a:prstGeom prst="rect">
            <a:avLst/>
          </a:prstGeom>
          <a:noFill/>
        </p:spPr>
        <p:txBody>
          <a:bodyPr wrap="square" lIns="36576" rIns="36576" tIns="18288" bIns="18288" anchor="ctr">
            <a:spAutoFit/>
          </a:bodyPr>
          <a:lstStyle/>
          <a:p>
            <a:pPr algn="l"/>
            <a:r>
              <a:rPr sz="1150" b="1" i="0">
                <a:solidFill>
                  <a:srgbClr val="FFFFFF"/>
                </a:solidFill>
                <a:latin typeface="Segoe UI"/>
              </a:rPr>
              <a:t>"by Monday", "next Friday"</a:t>
            </a:r>
          </a:p>
        </p:txBody>
      </p:sp>
      <p:sp>
        <p:nvSpPr>
          <p:cNvPr id="54" name="Rectangle 53"/>
          <p:cNvSpPr/>
          <p:nvPr/>
        </p:nvSpPr>
        <p:spPr>
          <a:xfrm>
            <a:off x="8778240" y="2075688"/>
            <a:ext cx="2880360" cy="47548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51392" y="2075688"/>
            <a:ext cx="2734056" cy="475488"/>
          </a:xfrm>
          <a:prstGeom prst="rect">
            <a:avLst/>
          </a:prstGeom>
          <a:noFill/>
        </p:spPr>
        <p:txBody>
          <a:bodyPr wrap="square" lIns="36576" rIns="36576" tIns="18288" bIns="18288" anchor="ctr">
            <a:spAutoFit/>
          </a:bodyPr>
          <a:lstStyle/>
          <a:p>
            <a:pPr algn="l"/>
            <a:r>
              <a:rPr sz="1150" b="0" i="0">
                <a:solidFill>
                  <a:srgbClr val="C9D0FF"/>
                </a:solidFill>
                <a:latin typeface="Segoe UI"/>
              </a:rPr>
              <a:t>converted to a calendar date</a:t>
            </a:r>
          </a:p>
        </p:txBody>
      </p:sp>
      <p:sp>
        <p:nvSpPr>
          <p:cNvPr id="56" name="Rectangle 55"/>
          <p:cNvSpPr/>
          <p:nvPr/>
        </p:nvSpPr>
        <p:spPr>
          <a:xfrm>
            <a:off x="6583680" y="2551176"/>
            <a:ext cx="2194560" cy="47548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56832" y="2551176"/>
            <a:ext cx="2048255" cy="475488"/>
          </a:xfrm>
          <a:prstGeom prst="rect">
            <a:avLst/>
          </a:prstGeom>
          <a:noFill/>
        </p:spPr>
        <p:txBody>
          <a:bodyPr wrap="square" lIns="36576" rIns="36576" tIns="18288" bIns="18288" anchor="ctr">
            <a:spAutoFit/>
          </a:bodyPr>
          <a:lstStyle/>
          <a:p>
            <a:pPr algn="l"/>
            <a:r>
              <a:rPr sz="1150" b="1" i="0">
                <a:solidFill>
                  <a:srgbClr val="FFFFFF"/>
                </a:solidFill>
                <a:latin typeface="Segoe UI"/>
              </a:rPr>
              <a:t>Explicit dates / times</a:t>
            </a:r>
          </a:p>
        </p:txBody>
      </p:sp>
      <p:sp>
        <p:nvSpPr>
          <p:cNvPr id="58" name="Rectangle 57"/>
          <p:cNvSpPr/>
          <p:nvPr/>
        </p:nvSpPr>
        <p:spPr>
          <a:xfrm>
            <a:off x="8778240" y="2551176"/>
            <a:ext cx="2880360" cy="47548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851392" y="2551176"/>
            <a:ext cx="2734056" cy="475488"/>
          </a:xfrm>
          <a:prstGeom prst="rect">
            <a:avLst/>
          </a:prstGeom>
          <a:noFill/>
        </p:spPr>
        <p:txBody>
          <a:bodyPr wrap="square" lIns="36576" rIns="36576" tIns="18288" bIns="18288" anchor="ctr">
            <a:spAutoFit/>
          </a:bodyPr>
          <a:lstStyle/>
          <a:p>
            <a:pPr algn="l"/>
            <a:r>
              <a:rPr sz="1150" b="0" i="0">
                <a:solidFill>
                  <a:srgbClr val="C9D0FF"/>
                </a:solidFill>
                <a:latin typeface="Segoe UI"/>
              </a:rPr>
              <a:t>parsed as written</a:t>
            </a:r>
          </a:p>
        </p:txBody>
      </p:sp>
      <p:sp>
        <p:nvSpPr>
          <p:cNvPr id="60" name="Rectangle 59"/>
          <p:cNvSpPr/>
          <p:nvPr/>
        </p:nvSpPr>
        <p:spPr>
          <a:xfrm>
            <a:off x="6583680" y="3026664"/>
            <a:ext cx="2194560" cy="47548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56832" y="3026664"/>
            <a:ext cx="2048255" cy="475488"/>
          </a:xfrm>
          <a:prstGeom prst="rect">
            <a:avLst/>
          </a:prstGeom>
          <a:noFill/>
        </p:spPr>
        <p:txBody>
          <a:bodyPr wrap="square" lIns="36576" rIns="36576" tIns="18288" bIns="18288" anchor="ctr">
            <a:spAutoFit/>
          </a:bodyPr>
          <a:lstStyle/>
          <a:p>
            <a:pPr algn="l"/>
            <a:r>
              <a:rPr sz="1150" b="1" i="0">
                <a:solidFill>
                  <a:srgbClr val="FFFFFF"/>
                </a:solidFill>
                <a:latin typeface="Segoe UI"/>
              </a:rPr>
              <a:t>"soon", "ASAP", "later"</a:t>
            </a:r>
          </a:p>
        </p:txBody>
      </p:sp>
      <p:sp>
        <p:nvSpPr>
          <p:cNvPr id="62" name="Rectangle 61"/>
          <p:cNvSpPr/>
          <p:nvPr/>
        </p:nvSpPr>
        <p:spPr>
          <a:xfrm>
            <a:off x="8778240" y="3026664"/>
            <a:ext cx="2880360" cy="47548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851392" y="3026664"/>
            <a:ext cx="2734056" cy="475488"/>
          </a:xfrm>
          <a:prstGeom prst="rect">
            <a:avLst/>
          </a:prstGeom>
          <a:noFill/>
        </p:spPr>
        <p:txBody>
          <a:bodyPr wrap="square" lIns="36576" rIns="36576" tIns="18288" bIns="18288" anchor="ctr">
            <a:spAutoFit/>
          </a:bodyPr>
          <a:lstStyle/>
          <a:p>
            <a:pPr algn="l"/>
            <a:r>
              <a:rPr sz="1150" b="0" i="0">
                <a:solidFill>
                  <a:srgbClr val="C9D0FF"/>
                </a:solidFill>
                <a:latin typeface="Segoe UI"/>
              </a:rPr>
              <a:t>no date: Not specified</a:t>
            </a:r>
          </a:p>
        </p:txBody>
      </p:sp>
      <p:sp>
        <p:nvSpPr>
          <p:cNvPr id="64" name="Rectangle 63"/>
          <p:cNvSpPr/>
          <p:nvPr/>
        </p:nvSpPr>
        <p:spPr>
          <a:xfrm>
            <a:off x="6583680" y="3502152"/>
            <a:ext cx="2194560" cy="47548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56832" y="3502152"/>
            <a:ext cx="2048255" cy="475488"/>
          </a:xfrm>
          <a:prstGeom prst="rect">
            <a:avLst/>
          </a:prstGeom>
          <a:noFill/>
        </p:spPr>
        <p:txBody>
          <a:bodyPr wrap="square" lIns="36576" rIns="36576" tIns="18288" bIns="18288" anchor="ctr">
            <a:spAutoFit/>
          </a:bodyPr>
          <a:lstStyle/>
          <a:p>
            <a:pPr algn="l"/>
            <a:r>
              <a:rPr sz="1150" b="1" i="0">
                <a:solidFill>
                  <a:srgbClr val="FFFFFF"/>
                </a:solidFill>
                <a:latin typeface="Segoe UI"/>
              </a:rPr>
              <a:t>Date from a neighbouring sentence</a:t>
            </a:r>
          </a:p>
        </p:txBody>
      </p:sp>
      <p:sp>
        <p:nvSpPr>
          <p:cNvPr id="66" name="Rectangle 65"/>
          <p:cNvSpPr/>
          <p:nvPr/>
        </p:nvSpPr>
        <p:spPr>
          <a:xfrm>
            <a:off x="8778240" y="3502152"/>
            <a:ext cx="2880360" cy="47548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851392" y="3502152"/>
            <a:ext cx="2734056" cy="475488"/>
          </a:xfrm>
          <a:prstGeom prst="rect">
            <a:avLst/>
          </a:prstGeom>
          <a:noFill/>
        </p:spPr>
        <p:txBody>
          <a:bodyPr wrap="square" lIns="36576" rIns="36576" tIns="18288" bIns="18288" anchor="ctr">
            <a:spAutoFit/>
          </a:bodyPr>
          <a:lstStyle/>
          <a:p>
            <a:pPr algn="l"/>
            <a:r>
              <a:rPr sz="1150" b="0" i="0">
                <a:solidFill>
                  <a:srgbClr val="C9D0FF"/>
                </a:solidFill>
                <a:latin typeface="Segoe UI"/>
              </a:rPr>
              <a:t>lower confidence -&gt; checked</a:t>
            </a:r>
          </a:p>
        </p:txBody>
      </p:sp>
      <p:sp>
        <p:nvSpPr>
          <p:cNvPr id="68" name="Rounded Rectangle 67"/>
          <p:cNvSpPr/>
          <p:nvPr/>
        </p:nvSpPr>
        <p:spPr>
          <a:xfrm>
            <a:off x="548640" y="4434840"/>
            <a:ext cx="3611880" cy="173736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13232" y="4434840"/>
            <a:ext cx="32826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1520" y="4572000"/>
            <a:ext cx="3291840" cy="457200"/>
          </a:xfrm>
          <a:prstGeom prst="rect">
            <a:avLst/>
          </a:prstGeom>
          <a:noFill/>
        </p:spPr>
        <p:txBody>
          <a:bodyPr wrap="square" lIns="36576" rIns="36576" tIns="18288" bIns="18288" anchor="ctr">
            <a:spAutoFit/>
          </a:bodyPr>
          <a:lstStyle/>
          <a:p>
            <a:pPr algn="l"/>
            <a:r>
              <a:rPr sz="1400" b="1" i="0">
                <a:solidFill>
                  <a:srgbClr val="FFFFFF"/>
                </a:solidFill>
                <a:latin typeface="Segoe UI"/>
              </a:rPr>
              <a:t>Why a confidence per field?</a:t>
            </a:r>
          </a:p>
        </p:txBody>
      </p:sp>
      <p:sp>
        <p:nvSpPr>
          <p:cNvPr id="71" name="TextBox 70"/>
          <p:cNvSpPr txBox="1"/>
          <p:nvPr/>
        </p:nvSpPr>
        <p:spPr>
          <a:xfrm>
            <a:off x="731520" y="5120640"/>
            <a:ext cx="3246120" cy="1005839"/>
          </a:xfrm>
          <a:prstGeom prst="rect">
            <a:avLst/>
          </a:prstGeom>
          <a:noFill/>
        </p:spPr>
        <p:txBody>
          <a:bodyPr wrap="square" lIns="36576" rIns="36576" tIns="18288" bIns="18288" anchor="t">
            <a:spAutoFit/>
          </a:bodyPr>
          <a:lstStyle/>
          <a:p>
            <a:pPr algn="l"/>
            <a:r>
              <a:rPr sz="1200" b="0" i="0">
                <a:solidFill>
                  <a:srgbClr val="C9D0FF"/>
                </a:solidFill>
                <a:latin typeface="Segoe UI"/>
              </a:rPr>
              <a:t>A sentence can be clearly a task (score 0.9) while its owner is a guess (0.4). Separate numbers let the gateway judge each part.</a:t>
            </a:r>
          </a:p>
        </p:txBody>
      </p:sp>
      <p:sp>
        <p:nvSpPr>
          <p:cNvPr id="72" name="Rounded Rectangle 71"/>
          <p:cNvSpPr/>
          <p:nvPr/>
        </p:nvSpPr>
        <p:spPr>
          <a:xfrm>
            <a:off x="4297680" y="4434840"/>
            <a:ext cx="3611880" cy="173736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462272" y="4434840"/>
            <a:ext cx="32826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80560" y="4572000"/>
            <a:ext cx="3291840" cy="457200"/>
          </a:xfrm>
          <a:prstGeom prst="rect">
            <a:avLst/>
          </a:prstGeom>
          <a:noFill/>
        </p:spPr>
        <p:txBody>
          <a:bodyPr wrap="square" lIns="36576" rIns="36576" tIns="18288" bIns="18288" anchor="ctr">
            <a:spAutoFit/>
          </a:bodyPr>
          <a:lstStyle/>
          <a:p>
            <a:pPr algn="l"/>
            <a:r>
              <a:rPr sz="1400" b="1" i="0">
                <a:solidFill>
                  <a:srgbClr val="FFFFFF"/>
                </a:solidFill>
                <a:latin typeface="Segoe UI"/>
              </a:rPr>
              <a:t>Deterministic dates</a:t>
            </a:r>
          </a:p>
        </p:txBody>
      </p:sp>
      <p:sp>
        <p:nvSpPr>
          <p:cNvPr id="75" name="TextBox 74"/>
          <p:cNvSpPr txBox="1"/>
          <p:nvPr/>
        </p:nvSpPr>
        <p:spPr>
          <a:xfrm>
            <a:off x="4480560" y="5120640"/>
            <a:ext cx="3246120" cy="1005839"/>
          </a:xfrm>
          <a:prstGeom prst="rect">
            <a:avLst/>
          </a:prstGeom>
          <a:noFill/>
        </p:spPr>
        <p:txBody>
          <a:bodyPr wrap="square" lIns="36576" rIns="36576" tIns="18288" bIns="18288" anchor="t">
            <a:spAutoFit/>
          </a:bodyPr>
          <a:lstStyle/>
          <a:p>
            <a:pPr algn="l"/>
            <a:r>
              <a:rPr sz="1200" b="0" i="0">
                <a:solidFill>
                  <a:srgbClr val="C9D0FF"/>
                </a:solidFill>
                <a:latin typeface="Segoe UI"/>
              </a:rPr>
              <a:t>A rule-based resolver, not an LLM, produces dates: the same phrase always gives the same date relative to the meeting date.</a:t>
            </a:r>
          </a:p>
        </p:txBody>
      </p:sp>
      <p:sp>
        <p:nvSpPr>
          <p:cNvPr id="76" name="Rounded Rectangle 75"/>
          <p:cNvSpPr/>
          <p:nvPr/>
        </p:nvSpPr>
        <p:spPr>
          <a:xfrm>
            <a:off x="8046720" y="4434840"/>
            <a:ext cx="3611880" cy="173736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211312" y="4434840"/>
            <a:ext cx="32826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229600" y="4572000"/>
            <a:ext cx="3291840" cy="457200"/>
          </a:xfrm>
          <a:prstGeom prst="rect">
            <a:avLst/>
          </a:prstGeom>
          <a:noFill/>
        </p:spPr>
        <p:txBody>
          <a:bodyPr wrap="square" lIns="36576" rIns="36576" tIns="18288" bIns="18288" anchor="ctr">
            <a:spAutoFit/>
          </a:bodyPr>
          <a:lstStyle/>
          <a:p>
            <a:pPr algn="l"/>
            <a:r>
              <a:rPr sz="1400" b="1" i="0">
                <a:solidFill>
                  <a:srgbClr val="FFFFFF"/>
                </a:solidFill>
                <a:latin typeface="Segoe UI"/>
              </a:rPr>
              <a:t>Honest by design</a:t>
            </a:r>
          </a:p>
        </p:txBody>
      </p:sp>
      <p:sp>
        <p:nvSpPr>
          <p:cNvPr id="79" name="TextBox 78"/>
          <p:cNvSpPr txBox="1"/>
          <p:nvPr/>
        </p:nvSpPr>
        <p:spPr>
          <a:xfrm>
            <a:off x="8229600" y="5120640"/>
            <a:ext cx="3246120" cy="1005839"/>
          </a:xfrm>
          <a:prstGeom prst="rect">
            <a:avLst/>
          </a:prstGeom>
          <a:noFill/>
        </p:spPr>
        <p:txBody>
          <a:bodyPr wrap="square" lIns="36576" rIns="36576" tIns="18288" bIns="18288" anchor="t">
            <a:spAutoFit/>
          </a:bodyPr>
          <a:lstStyle/>
          <a:p>
            <a:pPr algn="l"/>
            <a:r>
              <a:rPr sz="1200" b="0" i="0">
                <a:solidFill>
                  <a:srgbClr val="C9D0FF"/>
                </a:solidFill>
                <a:latin typeface="Segoe UI"/>
              </a:rPr>
              <a:t>An unknown owner shows Unassigned and a vague deadline shows Not specified - never a guess.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NLP → LLM HANDOVER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The confidence gateway: trust, or ask for help</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15</a:t>
            </a:r>
          </a:p>
        </p:txBody>
      </p:sp>
      <p:sp>
        <p:nvSpPr>
          <p:cNvPr id="10" name="Rounded Rectangle 9"/>
          <p:cNvSpPr/>
          <p:nvPr/>
        </p:nvSpPr>
        <p:spPr>
          <a:xfrm>
            <a:off x="548640" y="1508760"/>
            <a:ext cx="1417320" cy="100584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508760"/>
            <a:ext cx="1143000"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572768"/>
            <a:ext cx="1325880" cy="422452"/>
          </a:xfrm>
          <a:prstGeom prst="rect">
            <a:avLst/>
          </a:prstGeom>
          <a:noFill/>
        </p:spPr>
        <p:txBody>
          <a:bodyPr wrap="square" lIns="36576" rIns="36576" tIns="18288" bIns="18288" anchor="ctr">
            <a:spAutoFit/>
          </a:bodyPr>
          <a:lstStyle/>
          <a:p>
            <a:pPr algn="ctr"/>
            <a:r>
              <a:rPr sz="1200" b="1" i="0">
                <a:solidFill>
                  <a:srgbClr val="FFFFFF"/>
                </a:solidFill>
                <a:latin typeface="Segoe UI"/>
              </a:rPr>
              <a:t>Candidate</a:t>
            </a:r>
          </a:p>
        </p:txBody>
      </p:sp>
      <p:sp>
        <p:nvSpPr>
          <p:cNvPr id="13" name="TextBox 12"/>
          <p:cNvSpPr txBox="1"/>
          <p:nvPr/>
        </p:nvSpPr>
        <p:spPr>
          <a:xfrm>
            <a:off x="612647" y="1995220"/>
            <a:ext cx="1289304" cy="473659"/>
          </a:xfrm>
          <a:prstGeom prst="rect">
            <a:avLst/>
          </a:prstGeom>
          <a:noFill/>
        </p:spPr>
        <p:txBody>
          <a:bodyPr wrap="square" lIns="36576" rIns="36576" tIns="18288" bIns="18288" anchor="ctr">
            <a:spAutoFit/>
          </a:bodyPr>
          <a:lstStyle/>
          <a:p>
            <a:pPr algn="ctr"/>
            <a:r>
              <a:rPr sz="1000" b="0" i="0">
                <a:solidFill>
                  <a:srgbClr val="D2D7F5"/>
                </a:solidFill>
                <a:latin typeface="Segoe UI"/>
              </a:rPr>
              <a:t>from the classifier</a:t>
            </a:r>
          </a:p>
        </p:txBody>
      </p:sp>
      <p:sp>
        <p:nvSpPr>
          <p:cNvPr id="14" name="Rounded Rectangle 13"/>
          <p:cNvSpPr/>
          <p:nvPr/>
        </p:nvSpPr>
        <p:spPr>
          <a:xfrm>
            <a:off x="2377440" y="1508760"/>
            <a:ext cx="1783080" cy="100584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4600" y="1508760"/>
            <a:ext cx="150876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23160" y="1572768"/>
            <a:ext cx="1691639" cy="422452"/>
          </a:xfrm>
          <a:prstGeom prst="rect">
            <a:avLst/>
          </a:prstGeom>
          <a:noFill/>
        </p:spPr>
        <p:txBody>
          <a:bodyPr wrap="square" lIns="36576" rIns="36576" tIns="18288" bIns="18288" anchor="ctr">
            <a:spAutoFit/>
          </a:bodyPr>
          <a:lstStyle/>
          <a:p>
            <a:pPr algn="ctr"/>
            <a:r>
              <a:rPr sz="1250" b="1" i="0">
                <a:solidFill>
                  <a:srgbClr val="FFFFFF"/>
                </a:solidFill>
                <a:latin typeface="Segoe UI"/>
              </a:rPr>
              <a:t>Q1 · Score</a:t>
            </a:r>
          </a:p>
        </p:txBody>
      </p:sp>
      <p:sp>
        <p:nvSpPr>
          <p:cNvPr id="17" name="TextBox 16"/>
          <p:cNvSpPr txBox="1"/>
          <p:nvPr/>
        </p:nvSpPr>
        <p:spPr>
          <a:xfrm>
            <a:off x="2441448" y="1995220"/>
            <a:ext cx="1655064" cy="473659"/>
          </a:xfrm>
          <a:prstGeom prst="rect">
            <a:avLst/>
          </a:prstGeom>
          <a:noFill/>
        </p:spPr>
        <p:txBody>
          <a:bodyPr wrap="square" lIns="36576" rIns="36576" tIns="18288" bIns="18288" anchor="ctr">
            <a:spAutoFit/>
          </a:bodyPr>
          <a:lstStyle/>
          <a:p>
            <a:pPr algn="ctr"/>
            <a:r>
              <a:rPr sz="1000" b="0" i="0">
                <a:solidFill>
                  <a:srgbClr val="A9CCFF"/>
                </a:solidFill>
                <a:latin typeface="Segoe UI"/>
              </a:rPr>
              <a:t>score ≥ 0.80</a:t>
            </a:r>
          </a:p>
        </p:txBody>
      </p:sp>
      <p:cxnSp>
        <p:nvCxnSpPr>
          <p:cNvPr id="18" name="Connector 17"/>
          <p:cNvCxnSpPr/>
          <p:nvPr/>
        </p:nvCxnSpPr>
        <p:spPr>
          <a:xfrm>
            <a:off x="1965960" y="2011680"/>
            <a:ext cx="4114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264408" y="2514600"/>
            <a:ext cx="0" cy="548640"/>
          </a:xfrm>
          <a:prstGeom prst="line">
            <a:avLst/>
          </a:prstGeom>
          <a:ln w="2413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012948" y="2660903"/>
            <a:ext cx="502920" cy="256032"/>
          </a:xfrm>
          <a:prstGeom prst="roundRect">
            <a:avLst>
              <a:gd name="adj" fmla="val 50000"/>
            </a:avLst>
          </a:prstGeom>
          <a:solidFill>
            <a:srgbClr val="151D5C"/>
          </a:solidFill>
          <a:ln w="1143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2948" y="2660903"/>
            <a:ext cx="50292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fail</a:t>
            </a:r>
          </a:p>
        </p:txBody>
      </p:sp>
      <p:sp>
        <p:nvSpPr>
          <p:cNvPr id="22" name="Rounded Rectangle 21"/>
          <p:cNvSpPr/>
          <p:nvPr/>
        </p:nvSpPr>
        <p:spPr>
          <a:xfrm>
            <a:off x="4389120" y="1508760"/>
            <a:ext cx="1783080" cy="100584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26280" y="1508760"/>
            <a:ext cx="150876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1572768"/>
            <a:ext cx="1691639" cy="422452"/>
          </a:xfrm>
          <a:prstGeom prst="rect">
            <a:avLst/>
          </a:prstGeom>
          <a:noFill/>
        </p:spPr>
        <p:txBody>
          <a:bodyPr wrap="square" lIns="36576" rIns="36576" tIns="18288" bIns="18288" anchor="ctr">
            <a:spAutoFit/>
          </a:bodyPr>
          <a:lstStyle/>
          <a:p>
            <a:pPr algn="ctr"/>
            <a:r>
              <a:rPr sz="1250" b="1" i="0">
                <a:solidFill>
                  <a:srgbClr val="FFFFFF"/>
                </a:solidFill>
                <a:latin typeface="Segoe UI"/>
              </a:rPr>
              <a:t>Q2 · Margin</a:t>
            </a:r>
          </a:p>
        </p:txBody>
      </p:sp>
      <p:sp>
        <p:nvSpPr>
          <p:cNvPr id="25" name="TextBox 24"/>
          <p:cNvSpPr txBox="1"/>
          <p:nvPr/>
        </p:nvSpPr>
        <p:spPr>
          <a:xfrm>
            <a:off x="4453128" y="1995220"/>
            <a:ext cx="1655064" cy="473659"/>
          </a:xfrm>
          <a:prstGeom prst="rect">
            <a:avLst/>
          </a:prstGeom>
          <a:noFill/>
        </p:spPr>
        <p:txBody>
          <a:bodyPr wrap="square" lIns="36576" rIns="36576" tIns="18288" bIns="18288" anchor="ctr">
            <a:spAutoFit/>
          </a:bodyPr>
          <a:lstStyle/>
          <a:p>
            <a:pPr algn="ctr"/>
            <a:r>
              <a:rPr sz="1000" b="0" i="0">
                <a:solidFill>
                  <a:srgbClr val="D4C8FF"/>
                </a:solidFill>
                <a:latin typeface="Segoe UI"/>
              </a:rPr>
              <a:t>winner leads by ≥ 0.15</a:t>
            </a:r>
          </a:p>
        </p:txBody>
      </p:sp>
      <p:cxnSp>
        <p:nvCxnSpPr>
          <p:cNvPr id="26" name="Connector 25"/>
          <p:cNvCxnSpPr/>
          <p:nvPr/>
        </p:nvCxnSpPr>
        <p:spPr>
          <a:xfrm>
            <a:off x="3977640" y="2011680"/>
            <a:ext cx="4114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276088" y="2514600"/>
            <a:ext cx="0" cy="548640"/>
          </a:xfrm>
          <a:prstGeom prst="line">
            <a:avLst/>
          </a:prstGeom>
          <a:ln w="2413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4628" y="2660903"/>
            <a:ext cx="502920" cy="256032"/>
          </a:xfrm>
          <a:prstGeom prst="roundRect">
            <a:avLst>
              <a:gd name="adj" fmla="val 50000"/>
            </a:avLst>
          </a:prstGeom>
          <a:solidFill>
            <a:srgbClr val="151D5C"/>
          </a:solidFill>
          <a:ln w="1143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4628" y="2660903"/>
            <a:ext cx="50292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fail</a:t>
            </a:r>
          </a:p>
        </p:txBody>
      </p:sp>
      <p:sp>
        <p:nvSpPr>
          <p:cNvPr id="30" name="Rounded Rectangle 29"/>
          <p:cNvSpPr/>
          <p:nvPr/>
        </p:nvSpPr>
        <p:spPr>
          <a:xfrm>
            <a:off x="6400800" y="1508760"/>
            <a:ext cx="1783080" cy="100584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37960" y="1508760"/>
            <a:ext cx="150876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1572768"/>
            <a:ext cx="1691639" cy="422452"/>
          </a:xfrm>
          <a:prstGeom prst="rect">
            <a:avLst/>
          </a:prstGeom>
          <a:noFill/>
        </p:spPr>
        <p:txBody>
          <a:bodyPr wrap="square" lIns="36576" rIns="36576" tIns="18288" bIns="18288" anchor="ctr">
            <a:spAutoFit/>
          </a:bodyPr>
          <a:lstStyle/>
          <a:p>
            <a:pPr algn="ctr"/>
            <a:r>
              <a:rPr sz="1250" b="1" i="0">
                <a:solidFill>
                  <a:srgbClr val="FFFFFF"/>
                </a:solidFill>
                <a:latin typeface="Segoe UI"/>
              </a:rPr>
              <a:t>Q3 · Owner</a:t>
            </a:r>
          </a:p>
        </p:txBody>
      </p:sp>
      <p:sp>
        <p:nvSpPr>
          <p:cNvPr id="33" name="TextBox 32"/>
          <p:cNvSpPr txBox="1"/>
          <p:nvPr/>
        </p:nvSpPr>
        <p:spPr>
          <a:xfrm>
            <a:off x="6464808" y="1995220"/>
            <a:ext cx="1655064" cy="473659"/>
          </a:xfrm>
          <a:prstGeom prst="rect">
            <a:avLst/>
          </a:prstGeom>
          <a:noFill/>
        </p:spPr>
        <p:txBody>
          <a:bodyPr wrap="square" lIns="36576" rIns="36576" tIns="18288" bIns="18288" anchor="ctr">
            <a:spAutoFit/>
          </a:bodyPr>
          <a:lstStyle/>
          <a:p>
            <a:pPr algn="ctr"/>
            <a:r>
              <a:rPr sz="1000" b="0" i="0">
                <a:solidFill>
                  <a:srgbClr val="FFD978"/>
                </a:solidFill>
                <a:latin typeface="Segoe UI"/>
              </a:rPr>
              <a:t>owner conf. ≥ 0.85</a:t>
            </a:r>
          </a:p>
        </p:txBody>
      </p:sp>
      <p:cxnSp>
        <p:nvCxnSpPr>
          <p:cNvPr id="34" name="Connector 33"/>
          <p:cNvCxnSpPr/>
          <p:nvPr/>
        </p:nvCxnSpPr>
        <p:spPr>
          <a:xfrm>
            <a:off x="5989320" y="2011680"/>
            <a:ext cx="4114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287768" y="2514600"/>
            <a:ext cx="0" cy="548640"/>
          </a:xfrm>
          <a:prstGeom prst="line">
            <a:avLst/>
          </a:prstGeom>
          <a:ln w="2413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036307" y="2660903"/>
            <a:ext cx="502920" cy="256032"/>
          </a:xfrm>
          <a:prstGeom prst="roundRect">
            <a:avLst>
              <a:gd name="adj" fmla="val 50000"/>
            </a:avLst>
          </a:prstGeom>
          <a:solidFill>
            <a:srgbClr val="151D5C"/>
          </a:solidFill>
          <a:ln w="1143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36307" y="2660903"/>
            <a:ext cx="50292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fail</a:t>
            </a:r>
          </a:p>
        </p:txBody>
      </p:sp>
      <p:sp>
        <p:nvSpPr>
          <p:cNvPr id="38" name="Rounded Rectangle 37"/>
          <p:cNvSpPr/>
          <p:nvPr/>
        </p:nvSpPr>
        <p:spPr>
          <a:xfrm>
            <a:off x="8412480" y="1508760"/>
            <a:ext cx="1783080" cy="100584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49640" y="1508760"/>
            <a:ext cx="150876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58200" y="1572768"/>
            <a:ext cx="1691639" cy="422452"/>
          </a:xfrm>
          <a:prstGeom prst="rect">
            <a:avLst/>
          </a:prstGeom>
          <a:noFill/>
        </p:spPr>
        <p:txBody>
          <a:bodyPr wrap="square" lIns="36576" rIns="36576" tIns="18288" bIns="18288" anchor="ctr">
            <a:spAutoFit/>
          </a:bodyPr>
          <a:lstStyle/>
          <a:p>
            <a:pPr algn="ctr"/>
            <a:r>
              <a:rPr sz="1250" b="1" i="0">
                <a:solidFill>
                  <a:srgbClr val="FFFFFF"/>
                </a:solidFill>
                <a:latin typeface="Segoe UI"/>
              </a:rPr>
              <a:t>Q4 · Deadline</a:t>
            </a:r>
          </a:p>
        </p:txBody>
      </p:sp>
      <p:sp>
        <p:nvSpPr>
          <p:cNvPr id="41" name="TextBox 40"/>
          <p:cNvSpPr txBox="1"/>
          <p:nvPr/>
        </p:nvSpPr>
        <p:spPr>
          <a:xfrm>
            <a:off x="8476488" y="1995220"/>
            <a:ext cx="1655064" cy="473659"/>
          </a:xfrm>
          <a:prstGeom prst="rect">
            <a:avLst/>
          </a:prstGeom>
          <a:noFill/>
        </p:spPr>
        <p:txBody>
          <a:bodyPr wrap="square" lIns="36576" rIns="36576" tIns="18288" bIns="18288" anchor="ctr">
            <a:spAutoFit/>
          </a:bodyPr>
          <a:lstStyle/>
          <a:p>
            <a:pPr algn="ctr"/>
            <a:r>
              <a:rPr sz="1000" b="0" i="0">
                <a:solidFill>
                  <a:srgbClr val="FFB7DE"/>
                </a:solidFill>
                <a:latin typeface="Segoe UI"/>
              </a:rPr>
              <a:t>not from neighbour · exact ≥ 0.85</a:t>
            </a:r>
          </a:p>
        </p:txBody>
      </p:sp>
      <p:cxnSp>
        <p:nvCxnSpPr>
          <p:cNvPr id="42" name="Connector 41"/>
          <p:cNvCxnSpPr/>
          <p:nvPr/>
        </p:nvCxnSpPr>
        <p:spPr>
          <a:xfrm>
            <a:off x="8001000" y="2011680"/>
            <a:ext cx="4114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299448" y="2514600"/>
            <a:ext cx="0" cy="548640"/>
          </a:xfrm>
          <a:prstGeom prst="line">
            <a:avLst/>
          </a:prstGeom>
          <a:ln w="2413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7988" y="2660903"/>
            <a:ext cx="502920" cy="256032"/>
          </a:xfrm>
          <a:prstGeom prst="roundRect">
            <a:avLst>
              <a:gd name="adj" fmla="val 50000"/>
            </a:avLst>
          </a:prstGeom>
          <a:solidFill>
            <a:srgbClr val="151D5C"/>
          </a:solidFill>
          <a:ln w="1143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47988" y="2660903"/>
            <a:ext cx="50292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fail</a:t>
            </a:r>
          </a:p>
        </p:txBody>
      </p:sp>
      <p:sp>
        <p:nvSpPr>
          <p:cNvPr id="46" name="Rounded Rectangle 45"/>
          <p:cNvSpPr/>
          <p:nvPr/>
        </p:nvSpPr>
        <p:spPr>
          <a:xfrm>
            <a:off x="10424160" y="1508760"/>
            <a:ext cx="1234440" cy="100584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561320" y="1508760"/>
            <a:ext cx="96012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69880" y="1572768"/>
            <a:ext cx="1143000" cy="422452"/>
          </a:xfrm>
          <a:prstGeom prst="rect">
            <a:avLst/>
          </a:prstGeom>
          <a:noFill/>
        </p:spPr>
        <p:txBody>
          <a:bodyPr wrap="square" lIns="36576" rIns="36576" tIns="18288" bIns="18288" anchor="ctr">
            <a:spAutoFit/>
          </a:bodyPr>
          <a:lstStyle/>
          <a:p>
            <a:pPr algn="ctr"/>
            <a:r>
              <a:rPr sz="1300" b="1" i="0">
                <a:solidFill>
                  <a:srgbClr val="FFFFFF"/>
                </a:solidFill>
                <a:latin typeface="Segoe UI"/>
              </a:rPr>
              <a:t>ACCEPT</a:t>
            </a:r>
          </a:p>
        </p:txBody>
      </p:sp>
      <p:sp>
        <p:nvSpPr>
          <p:cNvPr id="49" name="TextBox 48"/>
          <p:cNvSpPr txBox="1"/>
          <p:nvPr/>
        </p:nvSpPr>
        <p:spPr>
          <a:xfrm>
            <a:off x="10488168" y="1995220"/>
            <a:ext cx="1106424" cy="473659"/>
          </a:xfrm>
          <a:prstGeom prst="rect">
            <a:avLst/>
          </a:prstGeom>
          <a:noFill/>
        </p:spPr>
        <p:txBody>
          <a:bodyPr wrap="square" lIns="36576" rIns="36576" tIns="18288" bIns="18288" anchor="ctr">
            <a:spAutoFit/>
          </a:bodyPr>
          <a:lstStyle/>
          <a:p>
            <a:pPr algn="ctr"/>
            <a:r>
              <a:rPr sz="1000" b="0" i="0">
                <a:solidFill>
                  <a:srgbClr val="8CF0C6"/>
                </a:solidFill>
                <a:latin typeface="Segoe UI"/>
              </a:rPr>
              <a:t>no LLM cost</a:t>
            </a:r>
          </a:p>
        </p:txBody>
      </p:sp>
      <p:cxnSp>
        <p:nvCxnSpPr>
          <p:cNvPr id="50" name="Connector 49"/>
          <p:cNvCxnSpPr/>
          <p:nvPr/>
        </p:nvCxnSpPr>
        <p:spPr>
          <a:xfrm>
            <a:off x="10012680" y="2011680"/>
            <a:ext cx="4114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825228" y="1243584"/>
            <a:ext cx="777240" cy="256032"/>
          </a:xfrm>
          <a:prstGeom prst="roundRect">
            <a:avLst>
              <a:gd name="adj" fmla="val 50000"/>
            </a:avLst>
          </a:prstGeom>
          <a:solidFill>
            <a:srgbClr val="151D5C"/>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25228" y="1243584"/>
            <a:ext cx="77724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all pass</a:t>
            </a:r>
          </a:p>
        </p:txBody>
      </p:sp>
      <p:sp>
        <p:nvSpPr>
          <p:cNvPr id="53" name="Rounded Rectangle 52"/>
          <p:cNvSpPr/>
          <p:nvPr/>
        </p:nvSpPr>
        <p:spPr>
          <a:xfrm>
            <a:off x="2377440" y="3063240"/>
            <a:ext cx="7635240" cy="59436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514600" y="3063240"/>
            <a:ext cx="7360919"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423160" y="3108960"/>
            <a:ext cx="7543800" cy="502920"/>
          </a:xfrm>
          <a:prstGeom prst="rect">
            <a:avLst/>
          </a:prstGeom>
          <a:noFill/>
        </p:spPr>
        <p:txBody>
          <a:bodyPr wrap="square" lIns="36576" rIns="36576" tIns="18288" bIns="18288" anchor="ctr">
            <a:spAutoFit/>
          </a:bodyPr>
          <a:lstStyle/>
          <a:p>
            <a:pPr algn="ctr"/>
            <a:r>
              <a:rPr sz="1200" b="1" i="0">
                <a:solidFill>
                  <a:srgbClr val="FFFFFF"/>
                </a:solidFill>
                <a:latin typeface="Segoe UI"/>
              </a:rPr>
              <a:t>NOT SURE  ·  a reason code is logged (e.g. LOW_CLASS_MARGIN, OWNER_UNCERTAIN)</a:t>
            </a:r>
          </a:p>
        </p:txBody>
      </p:sp>
      <p:cxnSp>
        <p:nvCxnSpPr>
          <p:cNvPr id="56" name="Connector 55"/>
          <p:cNvCxnSpPr/>
          <p:nvPr/>
        </p:nvCxnSpPr>
        <p:spPr>
          <a:xfrm flipH="1">
            <a:off x="3017520" y="3657600"/>
            <a:ext cx="914400" cy="45720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412480" y="3657600"/>
            <a:ext cx="640080" cy="45720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548640" y="4114800"/>
            <a:ext cx="5120640" cy="155448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5800" y="4114800"/>
            <a:ext cx="484632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 y="4178808"/>
            <a:ext cx="502920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LLM configured  -&gt;  ONE batched call</a:t>
            </a:r>
          </a:p>
        </p:txBody>
      </p:sp>
      <p:sp>
        <p:nvSpPr>
          <p:cNvPr id="61" name="TextBox 60"/>
          <p:cNvSpPr txBox="1"/>
          <p:nvPr/>
        </p:nvSpPr>
        <p:spPr>
          <a:xfrm>
            <a:off x="612647" y="4636008"/>
            <a:ext cx="4992624" cy="987552"/>
          </a:xfrm>
          <a:prstGeom prst="rect">
            <a:avLst/>
          </a:prstGeom>
          <a:noFill/>
        </p:spPr>
        <p:txBody>
          <a:bodyPr wrap="square" lIns="36576" rIns="36576" tIns="18288" bIns="18288" anchor="ctr">
            <a:spAutoFit/>
          </a:bodyPr>
          <a:lstStyle/>
          <a:p>
            <a:pPr algn="ctr"/>
            <a:r>
              <a:rPr sz="1050" b="0" i="0">
                <a:solidFill>
                  <a:srgbClr val="FFB7DE"/>
                </a:solidFill>
                <a:latin typeface="Segoe UI"/>
              </a:rPr>
              <a:t>Sentence + context sent together. If the LLM says task or decision: kept (method LLM fallback, confidence ≥ 0.85) and validated. If it says 'neither': dropped (LLM_REJECTED).</a:t>
            </a:r>
          </a:p>
        </p:txBody>
      </p:sp>
      <p:sp>
        <p:nvSpPr>
          <p:cNvPr id="62" name="Rounded Rectangle 61"/>
          <p:cNvSpPr/>
          <p:nvPr/>
        </p:nvSpPr>
        <p:spPr>
          <a:xfrm>
            <a:off x="6263640" y="4114800"/>
            <a:ext cx="5394960" cy="155448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00800" y="4114800"/>
            <a:ext cx="5120640"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09359" y="4178808"/>
            <a:ext cx="530352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No LLM available</a:t>
            </a:r>
          </a:p>
        </p:txBody>
      </p:sp>
      <p:sp>
        <p:nvSpPr>
          <p:cNvPr id="65" name="TextBox 64"/>
          <p:cNvSpPr txBox="1"/>
          <p:nvPr/>
        </p:nvSpPr>
        <p:spPr>
          <a:xfrm>
            <a:off x="6327648" y="4636008"/>
            <a:ext cx="5266944" cy="987552"/>
          </a:xfrm>
          <a:prstGeom prst="rect">
            <a:avLst/>
          </a:prstGeom>
          <a:noFill/>
        </p:spPr>
        <p:txBody>
          <a:bodyPr wrap="square" lIns="36576" rIns="36576" tIns="18288" bIns="18288" anchor="ctr">
            <a:spAutoFit/>
          </a:bodyPr>
          <a:lstStyle/>
          <a:p>
            <a:pPr algn="ctr"/>
            <a:r>
              <a:rPr sz="1050" b="0" i="0">
                <a:solidFill>
                  <a:srgbClr val="D2D7F5"/>
                </a:solidFill>
                <a:latin typeface="Segoe UI"/>
              </a:rPr>
              <a:t>Score ≥ 0.55: kept and marked Needs review. Below that: not added to the tracker. The decision is still logged.</a:t>
            </a:r>
          </a:p>
        </p:txBody>
      </p:sp>
      <p:sp>
        <p:nvSpPr>
          <p:cNvPr id="66" name="Rounded Rectangle 65"/>
          <p:cNvSpPr/>
          <p:nvPr/>
        </p:nvSpPr>
        <p:spPr>
          <a:xfrm>
            <a:off x="548640" y="5806440"/>
            <a:ext cx="11109960" cy="50292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48640" y="5879592"/>
            <a:ext cx="64008" cy="35661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9808" y="5843016"/>
            <a:ext cx="10789920" cy="429768"/>
          </a:xfrm>
          <a:prstGeom prst="rect">
            <a:avLst/>
          </a:prstGeom>
          <a:noFill/>
        </p:spPr>
        <p:txBody>
          <a:bodyPr wrap="square" lIns="36576" rIns="36576" tIns="18288" bIns="18288" anchor="ctr">
            <a:spAutoFit/>
          </a:bodyPr>
          <a:lstStyle/>
          <a:p>
            <a:pPr algn="l"/>
            <a:r>
              <a:rPr sz="1100" b="1" i="0">
                <a:solidFill>
                  <a:srgbClr val="D4C8FF"/>
                </a:solidFill>
                <a:latin typeface="Segoe UI"/>
              </a:rPr>
              <a:t>KEY IDEA   </a:t>
            </a:r>
            <a:r>
              <a:rPr sz="1200" b="0" i="0">
                <a:solidFill>
                  <a:srgbClr val="C9D0FF"/>
                </a:solidFill>
                <a:latin typeface="Segoe UI"/>
              </a:rPr>
              <a:t>Failing is not rejecting. A failed check means 'the classical result is not trustworthy enough on its 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NLP → LLM HANDOVER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The gateway on real sentences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16</a:t>
            </a:r>
          </a:p>
        </p:txBody>
      </p:sp>
      <p:sp>
        <p:nvSpPr>
          <p:cNvPr id="10" name="Rectangle 9"/>
          <p:cNvSpPr/>
          <p:nvPr/>
        </p:nvSpPr>
        <p:spPr>
          <a:xfrm>
            <a:off x="548640" y="1371600"/>
            <a:ext cx="365760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371600"/>
            <a:ext cx="3511296" cy="457200"/>
          </a:xfrm>
          <a:prstGeom prst="rect">
            <a:avLst/>
          </a:prstGeom>
          <a:noFill/>
        </p:spPr>
        <p:txBody>
          <a:bodyPr wrap="square" lIns="36576" rIns="36576" tIns="18288" bIns="18288" anchor="ctr">
            <a:spAutoFit/>
          </a:bodyPr>
          <a:lstStyle/>
          <a:p>
            <a:pPr algn="l"/>
            <a:r>
              <a:rPr sz="1150" b="1" i="0">
                <a:solidFill>
                  <a:srgbClr val="A78BFA"/>
                </a:solidFill>
                <a:latin typeface="Segoe UI"/>
              </a:rPr>
              <a:t>Sentence</a:t>
            </a:r>
          </a:p>
        </p:txBody>
      </p:sp>
      <p:sp>
        <p:nvSpPr>
          <p:cNvPr id="12" name="Rectangle 11"/>
          <p:cNvSpPr/>
          <p:nvPr/>
        </p:nvSpPr>
        <p:spPr>
          <a:xfrm>
            <a:off x="4206240" y="1371600"/>
            <a:ext cx="82296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9392" y="1371600"/>
            <a:ext cx="676656" cy="457200"/>
          </a:xfrm>
          <a:prstGeom prst="rect">
            <a:avLst/>
          </a:prstGeom>
          <a:noFill/>
        </p:spPr>
        <p:txBody>
          <a:bodyPr wrap="square" lIns="36576" rIns="36576" tIns="18288" bIns="18288" anchor="ctr">
            <a:spAutoFit/>
          </a:bodyPr>
          <a:lstStyle/>
          <a:p>
            <a:pPr algn="l"/>
            <a:r>
              <a:rPr sz="1150" b="1" i="0">
                <a:solidFill>
                  <a:srgbClr val="A78BFA"/>
                </a:solidFill>
                <a:latin typeface="Segoe UI"/>
              </a:rPr>
              <a:t>Score</a:t>
            </a:r>
          </a:p>
        </p:txBody>
      </p:sp>
      <p:sp>
        <p:nvSpPr>
          <p:cNvPr id="14" name="Rectangle 13"/>
          <p:cNvSpPr/>
          <p:nvPr/>
        </p:nvSpPr>
        <p:spPr>
          <a:xfrm>
            <a:off x="5029200" y="1371600"/>
            <a:ext cx="155448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02352" y="1371600"/>
            <a:ext cx="1408176" cy="457200"/>
          </a:xfrm>
          <a:prstGeom prst="rect">
            <a:avLst/>
          </a:prstGeom>
          <a:noFill/>
        </p:spPr>
        <p:txBody>
          <a:bodyPr wrap="square" lIns="36576" rIns="36576" tIns="18288" bIns="18288" anchor="ctr">
            <a:spAutoFit/>
          </a:bodyPr>
          <a:lstStyle/>
          <a:p>
            <a:pPr algn="l"/>
            <a:r>
              <a:rPr sz="1150" b="1" i="0">
                <a:solidFill>
                  <a:srgbClr val="A78BFA"/>
                </a:solidFill>
                <a:latin typeface="Segoe UI"/>
              </a:rPr>
              <a:t>Owner</a:t>
            </a:r>
          </a:p>
        </p:txBody>
      </p:sp>
      <p:sp>
        <p:nvSpPr>
          <p:cNvPr id="16" name="Rectangle 15"/>
          <p:cNvSpPr/>
          <p:nvPr/>
        </p:nvSpPr>
        <p:spPr>
          <a:xfrm>
            <a:off x="6583680" y="1371600"/>
            <a:ext cx="137160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56832" y="1371600"/>
            <a:ext cx="1225296" cy="457200"/>
          </a:xfrm>
          <a:prstGeom prst="rect">
            <a:avLst/>
          </a:prstGeom>
          <a:noFill/>
        </p:spPr>
        <p:txBody>
          <a:bodyPr wrap="square" lIns="36576" rIns="36576" tIns="18288" bIns="18288" anchor="ctr">
            <a:spAutoFit/>
          </a:bodyPr>
          <a:lstStyle/>
          <a:p>
            <a:pPr algn="l"/>
            <a:r>
              <a:rPr sz="1150" b="1" i="0">
                <a:solidFill>
                  <a:srgbClr val="A78BFA"/>
                </a:solidFill>
                <a:latin typeface="Segoe UI"/>
              </a:rPr>
              <a:t>Date</a:t>
            </a:r>
          </a:p>
        </p:txBody>
      </p:sp>
      <p:sp>
        <p:nvSpPr>
          <p:cNvPr id="18" name="Rectangle 17"/>
          <p:cNvSpPr/>
          <p:nvPr/>
        </p:nvSpPr>
        <p:spPr>
          <a:xfrm>
            <a:off x="7955279" y="1371600"/>
            <a:ext cx="3703320" cy="45720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1371600"/>
            <a:ext cx="3557015" cy="457200"/>
          </a:xfrm>
          <a:prstGeom prst="rect">
            <a:avLst/>
          </a:prstGeom>
          <a:noFill/>
        </p:spPr>
        <p:txBody>
          <a:bodyPr wrap="square" lIns="36576" rIns="36576" tIns="18288" bIns="18288" anchor="ctr">
            <a:spAutoFit/>
          </a:bodyPr>
          <a:lstStyle/>
          <a:p>
            <a:pPr algn="l"/>
            <a:r>
              <a:rPr sz="1150" b="1" i="0">
                <a:solidFill>
                  <a:srgbClr val="A78BFA"/>
                </a:solidFill>
                <a:latin typeface="Segoe UI"/>
              </a:rPr>
              <a:t>Gateway result</a:t>
            </a:r>
          </a:p>
        </p:txBody>
      </p:sp>
      <p:sp>
        <p:nvSpPr>
          <p:cNvPr id="20" name="Rectangle 19"/>
          <p:cNvSpPr/>
          <p:nvPr/>
        </p:nvSpPr>
        <p:spPr>
          <a:xfrm>
            <a:off x="548640" y="1828800"/>
            <a:ext cx="365760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1828800"/>
            <a:ext cx="3511296" cy="658368"/>
          </a:xfrm>
          <a:prstGeom prst="rect">
            <a:avLst/>
          </a:prstGeom>
          <a:noFill/>
        </p:spPr>
        <p:txBody>
          <a:bodyPr wrap="square" lIns="36576" rIns="36576" tIns="18288" bIns="18288" anchor="ctr">
            <a:spAutoFit/>
          </a:bodyPr>
          <a:lstStyle/>
          <a:p>
            <a:pPr algn="l"/>
            <a:r>
              <a:rPr sz="1150" b="1" i="0">
                <a:solidFill>
                  <a:srgbClr val="FFFFFF"/>
                </a:solidFill>
                <a:latin typeface="Segoe UI"/>
              </a:rPr>
              <a:t>"Priya will send the project report by Monday."</a:t>
            </a:r>
          </a:p>
        </p:txBody>
      </p:sp>
      <p:sp>
        <p:nvSpPr>
          <p:cNvPr id="22" name="Rectangle 21"/>
          <p:cNvSpPr/>
          <p:nvPr/>
        </p:nvSpPr>
        <p:spPr>
          <a:xfrm>
            <a:off x="4206240" y="1828800"/>
            <a:ext cx="82296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79392" y="1828800"/>
            <a:ext cx="67665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0.98</a:t>
            </a:r>
          </a:p>
        </p:txBody>
      </p:sp>
      <p:sp>
        <p:nvSpPr>
          <p:cNvPr id="24" name="Rectangle 23"/>
          <p:cNvSpPr/>
          <p:nvPr/>
        </p:nvSpPr>
        <p:spPr>
          <a:xfrm>
            <a:off x="5029200" y="1828800"/>
            <a:ext cx="155448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02352" y="1828800"/>
            <a:ext cx="140817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0.95</a:t>
            </a:r>
          </a:p>
        </p:txBody>
      </p:sp>
      <p:sp>
        <p:nvSpPr>
          <p:cNvPr id="26" name="Rectangle 25"/>
          <p:cNvSpPr/>
          <p:nvPr/>
        </p:nvSpPr>
        <p:spPr>
          <a:xfrm>
            <a:off x="6583680" y="1828800"/>
            <a:ext cx="137160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56832" y="1828800"/>
            <a:ext cx="122529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0.95</a:t>
            </a:r>
          </a:p>
        </p:txBody>
      </p:sp>
      <p:sp>
        <p:nvSpPr>
          <p:cNvPr id="28" name="Rectangle 27"/>
          <p:cNvSpPr/>
          <p:nvPr/>
        </p:nvSpPr>
        <p:spPr>
          <a:xfrm>
            <a:off x="7955279" y="1828800"/>
            <a:ext cx="370332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1" y="1828800"/>
            <a:ext cx="3557015" cy="658368"/>
          </a:xfrm>
          <a:prstGeom prst="rect">
            <a:avLst/>
          </a:prstGeom>
          <a:noFill/>
        </p:spPr>
        <p:txBody>
          <a:bodyPr wrap="square" lIns="36576" rIns="36576" tIns="18288" bIns="18288" anchor="ctr">
            <a:spAutoFit/>
          </a:bodyPr>
          <a:lstStyle/>
          <a:p>
            <a:pPr algn="l"/>
            <a:r>
              <a:rPr sz="1150" b="0" i="0">
                <a:solidFill>
                  <a:srgbClr val="C9D0FF"/>
                </a:solidFill>
                <a:latin typeface="Segoe UI"/>
              </a:rPr>
              <a:t>all four pass → accepted, no LLM</a:t>
            </a:r>
          </a:p>
        </p:txBody>
      </p:sp>
      <p:sp>
        <p:nvSpPr>
          <p:cNvPr id="30" name="Rectangle 29"/>
          <p:cNvSpPr/>
          <p:nvPr/>
        </p:nvSpPr>
        <p:spPr>
          <a:xfrm>
            <a:off x="548640" y="2487168"/>
            <a:ext cx="365760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2487168"/>
            <a:ext cx="3511296" cy="658368"/>
          </a:xfrm>
          <a:prstGeom prst="rect">
            <a:avLst/>
          </a:prstGeom>
          <a:noFill/>
        </p:spPr>
        <p:txBody>
          <a:bodyPr wrap="square" lIns="36576" rIns="36576" tIns="18288" bIns="18288" anchor="ctr">
            <a:spAutoFit/>
          </a:bodyPr>
          <a:lstStyle/>
          <a:p>
            <a:pPr algn="l"/>
            <a:r>
              <a:rPr sz="1150" b="1" i="0">
                <a:solidFill>
                  <a:srgbClr val="FFFFFF"/>
                </a:solidFill>
                <a:latin typeface="Segoe UI"/>
              </a:rPr>
              <a:t>"Please book the conference room."</a:t>
            </a:r>
          </a:p>
        </p:txBody>
      </p:sp>
      <p:sp>
        <p:nvSpPr>
          <p:cNvPr id="32" name="Rectangle 31"/>
          <p:cNvSpPr/>
          <p:nvPr/>
        </p:nvSpPr>
        <p:spPr>
          <a:xfrm>
            <a:off x="4206240" y="2487168"/>
            <a:ext cx="82296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9392" y="2487168"/>
            <a:ext cx="67665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0.87</a:t>
            </a:r>
          </a:p>
        </p:txBody>
      </p:sp>
      <p:sp>
        <p:nvSpPr>
          <p:cNvPr id="34" name="Rectangle 33"/>
          <p:cNvSpPr/>
          <p:nvPr/>
        </p:nvSpPr>
        <p:spPr>
          <a:xfrm>
            <a:off x="5029200" y="2487168"/>
            <a:ext cx="155448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02352" y="2487168"/>
            <a:ext cx="140817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0.50</a:t>
            </a:r>
          </a:p>
        </p:txBody>
      </p:sp>
      <p:sp>
        <p:nvSpPr>
          <p:cNvPr id="36" name="Rectangle 35"/>
          <p:cNvSpPr/>
          <p:nvPr/>
        </p:nvSpPr>
        <p:spPr>
          <a:xfrm>
            <a:off x="6583680" y="2487168"/>
            <a:ext cx="137160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56832" y="2487168"/>
            <a:ext cx="122529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a:t>
            </a:r>
          </a:p>
        </p:txBody>
      </p:sp>
      <p:sp>
        <p:nvSpPr>
          <p:cNvPr id="38" name="Rectangle 37"/>
          <p:cNvSpPr/>
          <p:nvPr/>
        </p:nvSpPr>
        <p:spPr>
          <a:xfrm>
            <a:off x="7955279" y="2487168"/>
            <a:ext cx="370332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2487168"/>
            <a:ext cx="3557015" cy="658368"/>
          </a:xfrm>
          <a:prstGeom prst="rect">
            <a:avLst/>
          </a:prstGeom>
          <a:noFill/>
        </p:spPr>
        <p:txBody>
          <a:bodyPr wrap="square" lIns="36576" rIns="36576" tIns="18288" bIns="18288" anchor="ctr">
            <a:spAutoFit/>
          </a:bodyPr>
          <a:lstStyle/>
          <a:p>
            <a:pPr algn="l"/>
            <a:r>
              <a:rPr sz="1150" b="0" i="0">
                <a:solidFill>
                  <a:srgbClr val="C9D0FF"/>
                </a:solidFill>
                <a:latin typeface="Segoe UI"/>
              </a:rPr>
              <a:t>Q3 fails (OWNER_UNCERTAIN) → LLM, else Unassigned</a:t>
            </a:r>
          </a:p>
        </p:txBody>
      </p:sp>
      <p:sp>
        <p:nvSpPr>
          <p:cNvPr id="40" name="Rectangle 39"/>
          <p:cNvSpPr/>
          <p:nvPr/>
        </p:nvSpPr>
        <p:spPr>
          <a:xfrm>
            <a:off x="548640" y="3145535"/>
            <a:ext cx="365760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3145535"/>
            <a:ext cx="3511296" cy="658368"/>
          </a:xfrm>
          <a:prstGeom prst="rect">
            <a:avLst/>
          </a:prstGeom>
          <a:noFill/>
        </p:spPr>
        <p:txBody>
          <a:bodyPr wrap="square" lIns="36576" rIns="36576" tIns="18288" bIns="18288" anchor="ctr">
            <a:spAutoFit/>
          </a:bodyPr>
          <a:lstStyle/>
          <a:p>
            <a:pPr algn="l"/>
            <a:r>
              <a:rPr sz="1150" b="1" i="0">
                <a:solidFill>
                  <a:srgbClr val="FFFFFF"/>
                </a:solidFill>
                <a:latin typeface="Segoe UI"/>
              </a:rPr>
              <a:t>"Maybe we should consider hiring another developer."</a:t>
            </a:r>
          </a:p>
        </p:txBody>
      </p:sp>
      <p:sp>
        <p:nvSpPr>
          <p:cNvPr id="42" name="Rectangle 41"/>
          <p:cNvSpPr/>
          <p:nvPr/>
        </p:nvSpPr>
        <p:spPr>
          <a:xfrm>
            <a:off x="4206240" y="3145535"/>
            <a:ext cx="82296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79392" y="3145535"/>
            <a:ext cx="67665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low</a:t>
            </a:r>
          </a:p>
        </p:txBody>
      </p:sp>
      <p:sp>
        <p:nvSpPr>
          <p:cNvPr id="44" name="Rectangle 43"/>
          <p:cNvSpPr/>
          <p:nvPr/>
        </p:nvSpPr>
        <p:spPr>
          <a:xfrm>
            <a:off x="5029200" y="3145535"/>
            <a:ext cx="155448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02352" y="3145535"/>
            <a:ext cx="140817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a:t>
            </a:r>
          </a:p>
        </p:txBody>
      </p:sp>
      <p:sp>
        <p:nvSpPr>
          <p:cNvPr id="46" name="Rectangle 45"/>
          <p:cNvSpPr/>
          <p:nvPr/>
        </p:nvSpPr>
        <p:spPr>
          <a:xfrm>
            <a:off x="6583680" y="3145535"/>
            <a:ext cx="137160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56832" y="3145535"/>
            <a:ext cx="122529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a:t>
            </a:r>
          </a:p>
        </p:txBody>
      </p:sp>
      <p:sp>
        <p:nvSpPr>
          <p:cNvPr id="48" name="Rectangle 47"/>
          <p:cNvSpPr/>
          <p:nvPr/>
        </p:nvSpPr>
        <p:spPr>
          <a:xfrm>
            <a:off x="7955279" y="3145535"/>
            <a:ext cx="3703320" cy="658368"/>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28431" y="3145535"/>
            <a:ext cx="3557015" cy="658368"/>
          </a:xfrm>
          <a:prstGeom prst="rect">
            <a:avLst/>
          </a:prstGeom>
          <a:noFill/>
        </p:spPr>
        <p:txBody>
          <a:bodyPr wrap="square" lIns="36576" rIns="36576" tIns="18288" bIns="18288" anchor="ctr">
            <a:spAutoFit/>
          </a:bodyPr>
          <a:lstStyle/>
          <a:p>
            <a:pPr algn="l"/>
            <a:r>
              <a:rPr sz="1150" b="0" i="0">
                <a:solidFill>
                  <a:srgbClr val="C9D0FF"/>
                </a:solidFill>
                <a:latin typeface="Segoe UI"/>
              </a:rPr>
              <a:t>hedged → not a task</a:t>
            </a:r>
          </a:p>
        </p:txBody>
      </p:sp>
      <p:sp>
        <p:nvSpPr>
          <p:cNvPr id="50" name="Rectangle 49"/>
          <p:cNvSpPr/>
          <p:nvPr/>
        </p:nvSpPr>
        <p:spPr>
          <a:xfrm>
            <a:off x="548640" y="3803903"/>
            <a:ext cx="365760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792" y="3803903"/>
            <a:ext cx="3511296" cy="658368"/>
          </a:xfrm>
          <a:prstGeom prst="rect">
            <a:avLst/>
          </a:prstGeom>
          <a:noFill/>
        </p:spPr>
        <p:txBody>
          <a:bodyPr wrap="square" lIns="36576" rIns="36576" tIns="18288" bIns="18288" anchor="ctr">
            <a:spAutoFit/>
          </a:bodyPr>
          <a:lstStyle/>
          <a:p>
            <a:pPr algn="l"/>
            <a:r>
              <a:rPr sz="1150" b="1" i="0">
                <a:solidFill>
                  <a:srgbClr val="FFFFFF"/>
                </a:solidFill>
                <a:latin typeface="Segoe UI"/>
              </a:rPr>
              <a:t>"We need to fix the login bug soon."</a:t>
            </a:r>
          </a:p>
        </p:txBody>
      </p:sp>
      <p:sp>
        <p:nvSpPr>
          <p:cNvPr id="52" name="Rectangle 51"/>
          <p:cNvSpPr/>
          <p:nvPr/>
        </p:nvSpPr>
        <p:spPr>
          <a:xfrm>
            <a:off x="4206240" y="3803903"/>
            <a:ext cx="82296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79392" y="3803903"/>
            <a:ext cx="67665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0.85</a:t>
            </a:r>
          </a:p>
        </p:txBody>
      </p:sp>
      <p:sp>
        <p:nvSpPr>
          <p:cNvPr id="54" name="Rectangle 53"/>
          <p:cNvSpPr/>
          <p:nvPr/>
        </p:nvSpPr>
        <p:spPr>
          <a:xfrm>
            <a:off x="5029200" y="3803903"/>
            <a:ext cx="155448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102352" y="3803903"/>
            <a:ext cx="140817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0.90 ("we")</a:t>
            </a:r>
          </a:p>
        </p:txBody>
      </p:sp>
      <p:sp>
        <p:nvSpPr>
          <p:cNvPr id="56" name="Rectangle 55"/>
          <p:cNvSpPr/>
          <p:nvPr/>
        </p:nvSpPr>
        <p:spPr>
          <a:xfrm>
            <a:off x="6583680" y="3803903"/>
            <a:ext cx="137160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56832" y="3803903"/>
            <a:ext cx="1225296" cy="658368"/>
          </a:xfrm>
          <a:prstGeom prst="rect">
            <a:avLst/>
          </a:prstGeom>
          <a:noFill/>
        </p:spPr>
        <p:txBody>
          <a:bodyPr wrap="square" lIns="36576" rIns="36576" tIns="18288" bIns="18288" anchor="ctr">
            <a:spAutoFit/>
          </a:bodyPr>
          <a:lstStyle/>
          <a:p>
            <a:pPr algn="l"/>
            <a:r>
              <a:rPr sz="1150" b="0" i="0">
                <a:solidFill>
                  <a:srgbClr val="C9D0FF"/>
                </a:solidFill>
                <a:latin typeface="Segoe UI"/>
              </a:rPr>
              <a:t>0.60 vague</a:t>
            </a:r>
          </a:p>
        </p:txBody>
      </p:sp>
      <p:sp>
        <p:nvSpPr>
          <p:cNvPr id="58" name="Rectangle 57"/>
          <p:cNvSpPr/>
          <p:nvPr/>
        </p:nvSpPr>
        <p:spPr>
          <a:xfrm>
            <a:off x="7955279" y="3803903"/>
            <a:ext cx="3703320" cy="658368"/>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28431" y="3803903"/>
            <a:ext cx="3557015" cy="658368"/>
          </a:xfrm>
          <a:prstGeom prst="rect">
            <a:avLst/>
          </a:prstGeom>
          <a:noFill/>
        </p:spPr>
        <p:txBody>
          <a:bodyPr wrap="square" lIns="36576" rIns="36576" tIns="18288" bIns="18288" anchor="ctr">
            <a:spAutoFit/>
          </a:bodyPr>
          <a:lstStyle/>
          <a:p>
            <a:pPr algn="l"/>
            <a:r>
              <a:rPr sz="1150" b="0" i="0">
                <a:solidFill>
                  <a:srgbClr val="C9D0FF"/>
                </a:solidFill>
                <a:latin typeface="Segoe UI"/>
              </a:rPr>
              <a:t>accepted; owner Unassigned, deadline Not specified</a:t>
            </a:r>
          </a:p>
        </p:txBody>
      </p:sp>
      <p:sp>
        <p:nvSpPr>
          <p:cNvPr id="60" name="TextBox 59"/>
          <p:cNvSpPr txBox="1"/>
          <p:nvPr/>
        </p:nvSpPr>
        <p:spPr>
          <a:xfrm>
            <a:off x="548640" y="4846320"/>
            <a:ext cx="10972800" cy="274320"/>
          </a:xfrm>
          <a:prstGeom prst="rect">
            <a:avLst/>
          </a:prstGeom>
          <a:noFill/>
        </p:spPr>
        <p:txBody>
          <a:bodyPr wrap="square" lIns="36576" rIns="36576" tIns="18288" bIns="18288" anchor="t">
            <a:spAutoFit/>
          </a:bodyPr>
          <a:lstStyle/>
          <a:p>
            <a:pPr algn="l"/>
            <a:r>
              <a:rPr sz="1050" b="1" i="0">
                <a:solidFill>
                  <a:srgbClr val="A78BFA"/>
                </a:solidFill>
                <a:latin typeface="Segoe UI"/>
              </a:rPr>
              <a:t>REASON CODES STORED FOR EVERY DECISION (analysis_log)</a:t>
            </a:r>
          </a:p>
        </p:txBody>
      </p:sp>
      <p:sp>
        <p:nvSpPr>
          <p:cNvPr id="61" name="Rounded Rectangle 60"/>
          <p:cNvSpPr/>
          <p:nvPr/>
        </p:nvSpPr>
        <p:spPr>
          <a:xfrm>
            <a:off x="548640" y="5166360"/>
            <a:ext cx="1887321" cy="30175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5166360"/>
            <a:ext cx="1887321"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CLASSICAL_ACCEPTED</a:t>
            </a:r>
          </a:p>
        </p:txBody>
      </p:sp>
      <p:sp>
        <p:nvSpPr>
          <p:cNvPr id="63" name="Rounded Rectangle 62"/>
          <p:cNvSpPr/>
          <p:nvPr/>
        </p:nvSpPr>
        <p:spPr>
          <a:xfrm>
            <a:off x="2545689" y="5166360"/>
            <a:ext cx="2873044" cy="30175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545689" y="5166360"/>
            <a:ext cx="2873044"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LOW_CLASSIFICATION_CONFIDENCE</a:t>
            </a:r>
          </a:p>
        </p:txBody>
      </p:sp>
      <p:sp>
        <p:nvSpPr>
          <p:cNvPr id="65" name="Rounded Rectangle 64"/>
          <p:cNvSpPr/>
          <p:nvPr/>
        </p:nvSpPr>
        <p:spPr>
          <a:xfrm>
            <a:off x="5528462" y="5166360"/>
            <a:ext cx="1708099" cy="30175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28462" y="5166360"/>
            <a:ext cx="1708099"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LOW_CLASS_MARGIN</a:t>
            </a:r>
          </a:p>
        </p:txBody>
      </p:sp>
      <p:sp>
        <p:nvSpPr>
          <p:cNvPr id="67" name="Rounded Rectangle 66"/>
          <p:cNvSpPr/>
          <p:nvPr/>
        </p:nvSpPr>
        <p:spPr>
          <a:xfrm>
            <a:off x="7346289" y="5166360"/>
            <a:ext cx="1618488" cy="30175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46289" y="5166360"/>
            <a:ext cx="1618488"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OWNER_UNCERTAIN</a:t>
            </a:r>
          </a:p>
        </p:txBody>
      </p:sp>
      <p:sp>
        <p:nvSpPr>
          <p:cNvPr id="69" name="Rounded Rectangle 68"/>
          <p:cNvSpPr/>
          <p:nvPr/>
        </p:nvSpPr>
        <p:spPr>
          <a:xfrm>
            <a:off x="9074505" y="5166360"/>
            <a:ext cx="2335377" cy="30175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74505" y="5166360"/>
            <a:ext cx="2335377"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DEADLINE_FROM_NEIGHBOUR</a:t>
            </a:r>
          </a:p>
        </p:txBody>
      </p:sp>
      <p:sp>
        <p:nvSpPr>
          <p:cNvPr id="71" name="Rounded Rectangle 70"/>
          <p:cNvSpPr/>
          <p:nvPr/>
        </p:nvSpPr>
        <p:spPr>
          <a:xfrm>
            <a:off x="548640" y="5550408"/>
            <a:ext cx="1618488" cy="30175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5550408"/>
            <a:ext cx="1618488"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HEDGED_LANGUAGE</a:t>
            </a:r>
          </a:p>
        </p:txBody>
      </p:sp>
      <p:sp>
        <p:nvSpPr>
          <p:cNvPr id="73" name="Rounded Rectangle 72"/>
          <p:cNvSpPr/>
          <p:nvPr/>
        </p:nvSpPr>
        <p:spPr>
          <a:xfrm>
            <a:off x="2276856" y="5550408"/>
            <a:ext cx="1439265" cy="301752"/>
          </a:xfrm>
          <a:prstGeom prst="roundRect">
            <a:avLst>
              <a:gd name="adj" fmla="val 50000"/>
            </a:avLst>
          </a:prstGeom>
          <a:solidFill>
            <a:srgbClr val="401537"/>
          </a:solidFill>
          <a:ln w="1524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276856" y="5550408"/>
            <a:ext cx="1439265"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LLM_CONFIRMED</a:t>
            </a:r>
          </a:p>
        </p:txBody>
      </p:sp>
      <p:sp>
        <p:nvSpPr>
          <p:cNvPr id="75" name="Rounded Rectangle 74"/>
          <p:cNvSpPr/>
          <p:nvPr/>
        </p:nvSpPr>
        <p:spPr>
          <a:xfrm>
            <a:off x="3825849" y="5550408"/>
            <a:ext cx="1349654" cy="301752"/>
          </a:xfrm>
          <a:prstGeom prst="roundRect">
            <a:avLst>
              <a:gd name="adj" fmla="val 50000"/>
            </a:avLst>
          </a:prstGeom>
          <a:solidFill>
            <a:srgbClr val="401537"/>
          </a:solidFill>
          <a:ln w="1524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25849" y="5550408"/>
            <a:ext cx="1349654"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LLM_REJECTED</a:t>
            </a:r>
          </a:p>
        </p:txBody>
      </p:sp>
      <p:sp>
        <p:nvSpPr>
          <p:cNvPr id="77" name="Rounded Rectangle 76"/>
          <p:cNvSpPr/>
          <p:nvPr/>
        </p:nvSpPr>
        <p:spPr>
          <a:xfrm>
            <a:off x="5285232" y="5550408"/>
            <a:ext cx="1708099" cy="301752"/>
          </a:xfrm>
          <a:prstGeom prst="roundRect">
            <a:avLst>
              <a:gd name="adj" fmla="val 50000"/>
            </a:avLst>
          </a:prstGeom>
          <a:solidFill>
            <a:srgbClr val="221C5C"/>
          </a:solidFill>
          <a:ln w="1524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285232" y="5550408"/>
            <a:ext cx="1708099" cy="301752"/>
          </a:xfrm>
          <a:prstGeom prst="rect">
            <a:avLst/>
          </a:prstGeom>
          <a:noFill/>
        </p:spPr>
        <p:txBody>
          <a:bodyPr wrap="square" lIns="36576" rIns="36576" tIns="18288" bIns="18288" anchor="ctr">
            <a:spAutoFit/>
          </a:bodyPr>
          <a:lstStyle/>
          <a:p>
            <a:pPr algn="ctr"/>
            <a:r>
              <a:rPr sz="900" b="1" i="0">
                <a:solidFill>
                  <a:srgbClr val="FFFFFF"/>
                </a:solidFill>
                <a:latin typeface="Segoe UI"/>
              </a:rPr>
              <a:t>MISSING_EVIDENCE</a:t>
            </a:r>
          </a:p>
        </p:txBody>
      </p:sp>
      <p:sp>
        <p:nvSpPr>
          <p:cNvPr id="79" name="Rounded Rectangle 78"/>
          <p:cNvSpPr/>
          <p:nvPr/>
        </p:nvSpPr>
        <p:spPr>
          <a:xfrm>
            <a:off x="548640" y="5943600"/>
            <a:ext cx="11109960" cy="411480"/>
          </a:xfrm>
          <a:prstGeom prst="roundRect">
            <a:avLst>
              <a:gd name="adj" fmla="val 12000"/>
            </a:avLst>
          </a:prstGeom>
          <a:solidFill>
            <a:srgbClr val="1C1A3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48640" y="6016752"/>
            <a:ext cx="64008" cy="265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9808" y="5980176"/>
            <a:ext cx="10789920" cy="338328"/>
          </a:xfrm>
          <a:prstGeom prst="rect">
            <a:avLst/>
          </a:prstGeom>
          <a:noFill/>
        </p:spPr>
        <p:txBody>
          <a:bodyPr wrap="square" lIns="36576" rIns="36576" tIns="18288" bIns="18288" anchor="ctr">
            <a:spAutoFit/>
          </a:bodyPr>
          <a:lstStyle/>
          <a:p>
            <a:pPr algn="l"/>
            <a:r>
              <a:rPr sz="1000" b="1" i="0">
                <a:solidFill>
                  <a:srgbClr val="FFD978"/>
                </a:solidFill>
                <a:latin typeface="Segoe UI"/>
              </a:rPr>
              <a:t>ASSUMPTION   </a:t>
            </a:r>
            <a:r>
              <a:rPr sz="1100" b="0" i="0">
                <a:solidFill>
                  <a:srgbClr val="C9D0FF"/>
                </a:solidFill>
                <a:latin typeface="Segoe UI"/>
              </a:rPr>
              <a:t>0.80 / 0.15 / 0.85 / 0.85 are sensible starting values, not optima - all four are sliders in Settings and testable in the NLP Lab.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6949440" y="-2011680"/>
            <a:ext cx="7772400" cy="77724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3291840"/>
            <a:ext cx="5669280" cy="566928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423160"/>
            <a:ext cx="1188720" cy="1188720"/>
          </a:xfrm>
          <a:prstGeom prst="ellipse">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23160"/>
            <a:ext cx="1188720" cy="1188720"/>
          </a:xfrm>
          <a:prstGeom prst="rect">
            <a:avLst/>
          </a:prstGeom>
          <a:noFill/>
        </p:spPr>
        <p:txBody>
          <a:bodyPr wrap="square" lIns="36576" rIns="36576" tIns="18288" bIns="18288" anchor="ctr">
            <a:spAutoFit/>
          </a:bodyPr>
          <a:lstStyle/>
          <a:p>
            <a:pPr algn="ctr"/>
            <a:r>
              <a:rPr sz="3800" b="1" i="0">
                <a:solidFill>
                  <a:srgbClr val="FFFFFF"/>
                </a:solidFill>
                <a:latin typeface="Segoe UI"/>
              </a:rPr>
              <a:t>3</a:t>
            </a:r>
          </a:p>
        </p:txBody>
      </p:sp>
      <p:sp>
        <p:nvSpPr>
          <p:cNvPr id="8" name="TextBox 7"/>
          <p:cNvSpPr txBox="1"/>
          <p:nvPr/>
        </p:nvSpPr>
        <p:spPr>
          <a:xfrm>
            <a:off x="2331720" y="2331720"/>
            <a:ext cx="8686800" cy="822960"/>
          </a:xfrm>
          <a:prstGeom prst="rect">
            <a:avLst/>
          </a:prstGeom>
          <a:noFill/>
        </p:spPr>
        <p:txBody>
          <a:bodyPr wrap="square" lIns="36576" rIns="36576" tIns="18288" bIns="18288" anchor="ctr">
            <a:spAutoFit/>
          </a:bodyPr>
          <a:lstStyle/>
          <a:p>
            <a:pPr algn="l"/>
            <a:r>
              <a:rPr sz="3800" b="1" i="0">
                <a:solidFill>
                  <a:srgbClr val="FFFFFF"/>
                </a:solidFill>
                <a:latin typeface="Segoe UI"/>
              </a:rPr>
              <a:t>LLM layer and validation</a:t>
            </a:r>
          </a:p>
        </p:txBody>
      </p:sp>
      <p:sp>
        <p:nvSpPr>
          <p:cNvPr id="9" name="TextBox 8"/>
          <p:cNvSpPr txBox="1"/>
          <p:nvPr/>
        </p:nvSpPr>
        <p:spPr>
          <a:xfrm>
            <a:off x="2331720" y="3154680"/>
            <a:ext cx="8046720" cy="822960"/>
          </a:xfrm>
          <a:prstGeom prst="rect">
            <a:avLst/>
          </a:prstGeom>
          <a:noFill/>
        </p:spPr>
        <p:txBody>
          <a:bodyPr wrap="square" lIns="36576" rIns="36576" tIns="18288" bIns="18288" anchor="t">
            <a:spAutoFit/>
          </a:bodyPr>
          <a:lstStyle/>
          <a:p>
            <a:pPr algn="l"/>
            <a:r>
              <a:rPr sz="1700" b="0" i="0">
                <a:solidFill>
                  <a:srgbClr val="C9D0FF"/>
                </a:solidFill>
                <a:latin typeface="Segoe UI"/>
              </a:rPr>
              <a:t>Free models do the language work - code checks everything they say.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LLM · RELIABILITY</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A router over free LLMs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18</a:t>
            </a:r>
          </a:p>
        </p:txBody>
      </p:sp>
      <p:sp>
        <p:nvSpPr>
          <p:cNvPr id="10" name="Rounded Rectangle 9"/>
          <p:cNvSpPr/>
          <p:nvPr/>
        </p:nvSpPr>
        <p:spPr>
          <a:xfrm>
            <a:off x="548640" y="2743200"/>
            <a:ext cx="2011680" cy="118872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743200"/>
            <a:ext cx="173736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807208"/>
            <a:ext cx="19202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Request</a:t>
            </a:r>
          </a:p>
        </p:txBody>
      </p:sp>
      <p:sp>
        <p:nvSpPr>
          <p:cNvPr id="13" name="TextBox 12"/>
          <p:cNvSpPr txBox="1"/>
          <p:nvPr/>
        </p:nvSpPr>
        <p:spPr>
          <a:xfrm>
            <a:off x="612647" y="3264408"/>
            <a:ext cx="1883664" cy="621792"/>
          </a:xfrm>
          <a:prstGeom prst="rect">
            <a:avLst/>
          </a:prstGeom>
          <a:noFill/>
        </p:spPr>
        <p:txBody>
          <a:bodyPr wrap="square" lIns="36576" rIns="36576" tIns="18288" bIns="18288" anchor="ctr">
            <a:spAutoFit/>
          </a:bodyPr>
          <a:lstStyle/>
          <a:p>
            <a:pPr algn="ctr"/>
            <a:r>
              <a:rPr sz="1050" b="0" i="0">
                <a:solidFill>
                  <a:srgbClr val="D4C8FF"/>
                </a:solidFill>
                <a:latin typeface="Segoe UI"/>
              </a:rPr>
              <a:t>summary · adjudicate · answer · polish</a:t>
            </a:r>
          </a:p>
        </p:txBody>
      </p:sp>
      <p:sp>
        <p:nvSpPr>
          <p:cNvPr id="14" name="Rounded Rectangle 13"/>
          <p:cNvSpPr/>
          <p:nvPr/>
        </p:nvSpPr>
        <p:spPr>
          <a:xfrm>
            <a:off x="3200400" y="2743200"/>
            <a:ext cx="2286000" cy="118872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2743200"/>
            <a:ext cx="201168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6120" y="2807208"/>
            <a:ext cx="2194560" cy="457200"/>
          </a:xfrm>
          <a:prstGeom prst="rect">
            <a:avLst/>
          </a:prstGeom>
          <a:noFill/>
        </p:spPr>
        <p:txBody>
          <a:bodyPr wrap="square" lIns="36576" rIns="36576" tIns="18288" bIns="18288" anchor="ctr">
            <a:spAutoFit/>
          </a:bodyPr>
          <a:lstStyle/>
          <a:p>
            <a:pPr algn="ctr"/>
            <a:r>
              <a:rPr sz="1400" b="1" i="0">
                <a:solidFill>
                  <a:srgbClr val="FFFFFF"/>
                </a:solidFill>
                <a:latin typeface="Segoe UI"/>
              </a:rPr>
              <a:t>Groq</a:t>
            </a:r>
          </a:p>
        </p:txBody>
      </p:sp>
      <p:sp>
        <p:nvSpPr>
          <p:cNvPr id="17" name="TextBox 16"/>
          <p:cNvSpPr txBox="1"/>
          <p:nvPr/>
        </p:nvSpPr>
        <p:spPr>
          <a:xfrm>
            <a:off x="3264408" y="3264408"/>
            <a:ext cx="2157984" cy="621792"/>
          </a:xfrm>
          <a:prstGeom prst="rect">
            <a:avLst/>
          </a:prstGeom>
          <a:noFill/>
        </p:spPr>
        <p:txBody>
          <a:bodyPr wrap="square" lIns="36576" rIns="36576" tIns="18288" bIns="18288" anchor="ctr">
            <a:spAutoFit/>
          </a:bodyPr>
          <a:lstStyle/>
          <a:p>
            <a:pPr algn="ctr"/>
            <a:r>
              <a:rPr sz="1050" b="0" i="0">
                <a:solidFill>
                  <a:srgbClr val="FFB7DE"/>
                </a:solidFill>
                <a:latin typeface="Segoe UI"/>
              </a:rPr>
              <a:t>llama-3.3-70b → 8b
fastest free tier</a:t>
            </a:r>
          </a:p>
        </p:txBody>
      </p:sp>
      <p:sp>
        <p:nvSpPr>
          <p:cNvPr id="18" name="Rounded Rectangle 17"/>
          <p:cNvSpPr/>
          <p:nvPr/>
        </p:nvSpPr>
        <p:spPr>
          <a:xfrm>
            <a:off x="6126480" y="2743200"/>
            <a:ext cx="2286000" cy="118872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2743200"/>
            <a:ext cx="201168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2807208"/>
            <a:ext cx="2194560" cy="457200"/>
          </a:xfrm>
          <a:prstGeom prst="rect">
            <a:avLst/>
          </a:prstGeom>
          <a:noFill/>
        </p:spPr>
        <p:txBody>
          <a:bodyPr wrap="square" lIns="36576" rIns="36576" tIns="18288" bIns="18288" anchor="ctr">
            <a:spAutoFit/>
          </a:bodyPr>
          <a:lstStyle/>
          <a:p>
            <a:pPr algn="ctr"/>
            <a:r>
              <a:rPr sz="1400" b="1" i="0">
                <a:solidFill>
                  <a:srgbClr val="FFFFFF"/>
                </a:solidFill>
                <a:latin typeface="Segoe UI"/>
              </a:rPr>
              <a:t>Gemini</a:t>
            </a:r>
          </a:p>
        </p:txBody>
      </p:sp>
      <p:sp>
        <p:nvSpPr>
          <p:cNvPr id="21" name="TextBox 20"/>
          <p:cNvSpPr txBox="1"/>
          <p:nvPr/>
        </p:nvSpPr>
        <p:spPr>
          <a:xfrm>
            <a:off x="6190488" y="3264408"/>
            <a:ext cx="2157984" cy="621792"/>
          </a:xfrm>
          <a:prstGeom prst="rect">
            <a:avLst/>
          </a:prstGeom>
          <a:noFill/>
        </p:spPr>
        <p:txBody>
          <a:bodyPr wrap="square" lIns="36576" rIns="36576" tIns="18288" bIns="18288" anchor="ctr">
            <a:spAutoFit/>
          </a:bodyPr>
          <a:lstStyle/>
          <a:p>
            <a:pPr algn="ctr"/>
            <a:r>
              <a:rPr sz="1050" b="0" i="0">
                <a:solidFill>
                  <a:srgbClr val="FFB7DE"/>
                </a:solidFill>
                <a:latin typeface="Segoe UI"/>
              </a:rPr>
              <a:t>2.5 flash → flash-lite
first for long transcripts</a:t>
            </a:r>
          </a:p>
        </p:txBody>
      </p:sp>
      <p:sp>
        <p:nvSpPr>
          <p:cNvPr id="22" name="Rounded Rectangle 21"/>
          <p:cNvSpPr/>
          <p:nvPr/>
        </p:nvSpPr>
        <p:spPr>
          <a:xfrm>
            <a:off x="9052560" y="2743200"/>
            <a:ext cx="2606040" cy="118872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9720" y="2743200"/>
            <a:ext cx="233172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807208"/>
            <a:ext cx="2514600" cy="457200"/>
          </a:xfrm>
          <a:prstGeom prst="rect">
            <a:avLst/>
          </a:prstGeom>
          <a:noFill/>
        </p:spPr>
        <p:txBody>
          <a:bodyPr wrap="square" lIns="36576" rIns="36576" tIns="18288" bIns="18288" anchor="ctr">
            <a:spAutoFit/>
          </a:bodyPr>
          <a:lstStyle/>
          <a:p>
            <a:pPr algn="ctr"/>
            <a:r>
              <a:rPr sz="1400" b="1" i="0">
                <a:solidFill>
                  <a:srgbClr val="FFFFFF"/>
                </a:solidFill>
                <a:latin typeface="Segoe UI"/>
              </a:rPr>
              <a:t>OpenRouter</a:t>
            </a:r>
          </a:p>
        </p:txBody>
      </p:sp>
      <p:sp>
        <p:nvSpPr>
          <p:cNvPr id="25" name="TextBox 24"/>
          <p:cNvSpPr txBox="1"/>
          <p:nvPr/>
        </p:nvSpPr>
        <p:spPr>
          <a:xfrm>
            <a:off x="9116568" y="3264408"/>
            <a:ext cx="2478024" cy="621792"/>
          </a:xfrm>
          <a:prstGeom prst="rect">
            <a:avLst/>
          </a:prstGeom>
          <a:noFill/>
        </p:spPr>
        <p:txBody>
          <a:bodyPr wrap="square" lIns="36576" rIns="36576" tIns="18288" bIns="18288" anchor="ctr">
            <a:spAutoFit/>
          </a:bodyPr>
          <a:lstStyle/>
          <a:p>
            <a:pPr algn="ctr"/>
            <a:r>
              <a:rPr sz="1050" b="0" i="0">
                <a:solidFill>
                  <a:srgbClr val="FFB7DE"/>
                </a:solidFill>
                <a:latin typeface="Segoe UI"/>
              </a:rPr>
              <a:t>:free models</a:t>
            </a:r>
          </a:p>
        </p:txBody>
      </p:sp>
      <p:cxnSp>
        <p:nvCxnSpPr>
          <p:cNvPr id="26" name="Connector 25"/>
          <p:cNvCxnSpPr/>
          <p:nvPr/>
        </p:nvCxnSpPr>
        <p:spPr>
          <a:xfrm>
            <a:off x="2560320" y="3337560"/>
            <a:ext cx="6400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0" y="3337560"/>
            <a:ext cx="640080" cy="0"/>
          </a:xfrm>
          <a:prstGeom prst="line">
            <a:avLst/>
          </a:prstGeom>
          <a:ln w="2413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349240" y="2889503"/>
            <a:ext cx="914400" cy="256032"/>
          </a:xfrm>
          <a:prstGeom prst="roundRect">
            <a:avLst>
              <a:gd name="adj" fmla="val 50000"/>
            </a:avLst>
          </a:prstGeom>
          <a:solidFill>
            <a:srgbClr val="151D5C"/>
          </a:solidFill>
          <a:ln w="1143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9240" y="2889503"/>
            <a:ext cx="91440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429 / error</a:t>
            </a:r>
          </a:p>
        </p:txBody>
      </p:sp>
      <p:cxnSp>
        <p:nvCxnSpPr>
          <p:cNvPr id="30" name="Connector 29"/>
          <p:cNvCxnSpPr/>
          <p:nvPr/>
        </p:nvCxnSpPr>
        <p:spPr>
          <a:xfrm>
            <a:off x="8412480" y="3337560"/>
            <a:ext cx="640080" cy="0"/>
          </a:xfrm>
          <a:prstGeom prst="line">
            <a:avLst/>
          </a:prstGeom>
          <a:ln w="2413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275320" y="2889503"/>
            <a:ext cx="914400" cy="256032"/>
          </a:xfrm>
          <a:prstGeom prst="roundRect">
            <a:avLst>
              <a:gd name="adj" fmla="val 50000"/>
            </a:avLst>
          </a:prstGeom>
          <a:solidFill>
            <a:srgbClr val="151D5C"/>
          </a:solidFill>
          <a:ln w="1143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2889503"/>
            <a:ext cx="91440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429 / error</a:t>
            </a:r>
          </a:p>
        </p:txBody>
      </p:sp>
      <p:sp>
        <p:nvSpPr>
          <p:cNvPr id="33" name="Rounded Rectangle 32"/>
          <p:cNvSpPr/>
          <p:nvPr/>
        </p:nvSpPr>
        <p:spPr>
          <a:xfrm>
            <a:off x="3200400" y="1371600"/>
            <a:ext cx="8458200" cy="77724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37560" y="1371600"/>
            <a:ext cx="8183879"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6120" y="1435608"/>
            <a:ext cx="8366760" cy="326440"/>
          </a:xfrm>
          <a:prstGeom prst="rect">
            <a:avLst/>
          </a:prstGeom>
          <a:noFill/>
        </p:spPr>
        <p:txBody>
          <a:bodyPr wrap="square" lIns="36576" rIns="36576" tIns="18288" bIns="18288" anchor="ctr">
            <a:spAutoFit/>
          </a:bodyPr>
          <a:lstStyle/>
          <a:p>
            <a:pPr algn="ctr"/>
            <a:r>
              <a:rPr sz="1300" b="1" i="0">
                <a:solidFill>
                  <a:srgbClr val="FFFFFF"/>
                </a:solidFill>
                <a:latin typeface="Segoe UI"/>
              </a:rPr>
              <a:t>Valid JSON / text  →  pipeline validation</a:t>
            </a:r>
          </a:p>
        </p:txBody>
      </p:sp>
      <p:sp>
        <p:nvSpPr>
          <p:cNvPr id="36" name="TextBox 35"/>
          <p:cNvSpPr txBox="1"/>
          <p:nvPr/>
        </p:nvSpPr>
        <p:spPr>
          <a:xfrm>
            <a:off x="3264408" y="1762048"/>
            <a:ext cx="8330183" cy="341071"/>
          </a:xfrm>
          <a:prstGeom prst="rect">
            <a:avLst/>
          </a:prstGeom>
          <a:noFill/>
        </p:spPr>
        <p:txBody>
          <a:bodyPr wrap="square" lIns="36576" rIns="36576" tIns="18288" bIns="18288" anchor="ctr">
            <a:spAutoFit/>
          </a:bodyPr>
          <a:lstStyle/>
          <a:p>
            <a:pPr algn="ctr"/>
            <a:r>
              <a:rPr sz="1050" b="0" i="0">
                <a:solidFill>
                  <a:srgbClr val="8CF0C6"/>
                </a:solidFill>
                <a:latin typeface="Segoe UI"/>
              </a:rPr>
              <a:t>one automatic repair attempt if the JSON is malformed</a:t>
            </a:r>
          </a:p>
        </p:txBody>
      </p:sp>
      <p:cxnSp>
        <p:nvCxnSpPr>
          <p:cNvPr id="37" name="Connector 36"/>
          <p:cNvCxnSpPr/>
          <p:nvPr/>
        </p:nvCxnSpPr>
        <p:spPr>
          <a:xfrm flipV="1">
            <a:off x="4343400" y="2148840"/>
            <a:ext cx="0" cy="594360"/>
          </a:xfrm>
          <a:prstGeom prst="line">
            <a:avLst/>
          </a:prstGeom>
          <a:ln w="24130">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269480" y="2148840"/>
            <a:ext cx="0" cy="594360"/>
          </a:xfrm>
          <a:prstGeom prst="line">
            <a:avLst/>
          </a:prstGeom>
          <a:ln w="24130">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332720" y="2148840"/>
            <a:ext cx="0" cy="594360"/>
          </a:xfrm>
          <a:prstGeom prst="line">
            <a:avLst/>
          </a:prstGeom>
          <a:ln w="24130">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137660" y="2322576"/>
            <a:ext cx="411480" cy="256032"/>
          </a:xfrm>
          <a:prstGeom prst="roundRect">
            <a:avLst>
              <a:gd name="adj" fmla="val 50000"/>
            </a:avLst>
          </a:prstGeom>
          <a:solidFill>
            <a:srgbClr val="151D5C"/>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37660" y="2322576"/>
            <a:ext cx="41148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ok</a:t>
            </a:r>
          </a:p>
        </p:txBody>
      </p:sp>
      <p:cxnSp>
        <p:nvCxnSpPr>
          <p:cNvPr id="42" name="Connector 41"/>
          <p:cNvCxnSpPr/>
          <p:nvPr/>
        </p:nvCxnSpPr>
        <p:spPr>
          <a:xfrm>
            <a:off x="10332720" y="3931920"/>
            <a:ext cx="0" cy="594360"/>
          </a:xfrm>
          <a:prstGeom prst="line">
            <a:avLst/>
          </a:prstGeom>
          <a:ln w="2413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898380" y="4096512"/>
            <a:ext cx="868680" cy="256032"/>
          </a:xfrm>
          <a:prstGeom prst="roundRect">
            <a:avLst>
              <a:gd name="adj" fmla="val 50000"/>
            </a:avLst>
          </a:prstGeom>
          <a:solidFill>
            <a:srgbClr val="151D5C"/>
          </a:solidFill>
          <a:ln w="1143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98380" y="4096512"/>
            <a:ext cx="86868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all failed</a:t>
            </a:r>
          </a:p>
        </p:txBody>
      </p:sp>
      <p:sp>
        <p:nvSpPr>
          <p:cNvPr id="45" name="Rounded Rectangle 44"/>
          <p:cNvSpPr/>
          <p:nvPr/>
        </p:nvSpPr>
        <p:spPr>
          <a:xfrm>
            <a:off x="548640" y="4572000"/>
            <a:ext cx="3291840" cy="123444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85800" y="4572000"/>
            <a:ext cx="3017520"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4636008"/>
            <a:ext cx="320040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Model retired?</a:t>
            </a:r>
          </a:p>
        </p:txBody>
      </p:sp>
      <p:sp>
        <p:nvSpPr>
          <p:cNvPr id="48" name="TextBox 47"/>
          <p:cNvSpPr txBox="1"/>
          <p:nvPr/>
        </p:nvSpPr>
        <p:spPr>
          <a:xfrm>
            <a:off x="612647" y="5093208"/>
            <a:ext cx="3163824" cy="667512"/>
          </a:xfrm>
          <a:prstGeom prst="rect">
            <a:avLst/>
          </a:prstGeom>
          <a:noFill/>
        </p:spPr>
        <p:txBody>
          <a:bodyPr wrap="square" lIns="36576" rIns="36576" tIns="18288" bIns="18288" anchor="ctr">
            <a:spAutoFit/>
          </a:bodyPr>
          <a:lstStyle/>
          <a:p>
            <a:pPr algn="ctr"/>
            <a:r>
              <a:rPr sz="1050" b="0" i="0">
                <a:solidFill>
                  <a:srgbClr val="D2D7F5"/>
                </a:solidFill>
                <a:latin typeface="Segoe UI"/>
              </a:rPr>
              <a:t>discover_model() asks the provider for a current free model</a:t>
            </a:r>
          </a:p>
        </p:txBody>
      </p:sp>
      <p:sp>
        <p:nvSpPr>
          <p:cNvPr id="49" name="Rounded Rectangle 48"/>
          <p:cNvSpPr/>
          <p:nvPr/>
        </p:nvSpPr>
        <p:spPr>
          <a:xfrm>
            <a:off x="4069080" y="4572000"/>
            <a:ext cx="3291840" cy="123444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206240" y="4572000"/>
            <a:ext cx="3017520"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800" y="4636008"/>
            <a:ext cx="320040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Rate-limited?</a:t>
            </a:r>
          </a:p>
        </p:txBody>
      </p:sp>
      <p:sp>
        <p:nvSpPr>
          <p:cNvPr id="52" name="TextBox 51"/>
          <p:cNvSpPr txBox="1"/>
          <p:nvPr/>
        </p:nvSpPr>
        <p:spPr>
          <a:xfrm>
            <a:off x="4133088" y="5093208"/>
            <a:ext cx="3163824" cy="667512"/>
          </a:xfrm>
          <a:prstGeom prst="rect">
            <a:avLst/>
          </a:prstGeom>
          <a:noFill/>
        </p:spPr>
        <p:txBody>
          <a:bodyPr wrap="square" lIns="36576" rIns="36576" tIns="18288" bIns="18288" anchor="ctr">
            <a:spAutoFit/>
          </a:bodyPr>
          <a:lstStyle/>
          <a:p>
            <a:pPr algn="ctr"/>
            <a:r>
              <a:rPr sz="1050" b="0" i="0">
                <a:solidFill>
                  <a:srgbClr val="D2D7F5"/>
                </a:solidFill>
                <a:latin typeface="Segoe UI"/>
              </a:rPr>
              <a:t>45-second cool-down, then the next provider</a:t>
            </a:r>
          </a:p>
        </p:txBody>
      </p:sp>
      <p:sp>
        <p:nvSpPr>
          <p:cNvPr id="53" name="Rounded Rectangle 52"/>
          <p:cNvSpPr/>
          <p:nvPr/>
        </p:nvSpPr>
        <p:spPr>
          <a:xfrm>
            <a:off x="7589520" y="4572000"/>
            <a:ext cx="4069080" cy="123444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726680" y="4572000"/>
            <a:ext cx="379476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635240" y="4636008"/>
            <a:ext cx="3977640" cy="457200"/>
          </a:xfrm>
          <a:prstGeom prst="rect">
            <a:avLst/>
          </a:prstGeom>
          <a:noFill/>
        </p:spPr>
        <p:txBody>
          <a:bodyPr wrap="square" lIns="36576" rIns="36576" tIns="18288" bIns="18288" anchor="ctr">
            <a:spAutoFit/>
          </a:bodyPr>
          <a:lstStyle/>
          <a:p>
            <a:pPr algn="ctr"/>
            <a:r>
              <a:rPr sz="1300" b="1" i="0">
                <a:solidFill>
                  <a:srgbClr val="FFFFFF"/>
                </a:solidFill>
                <a:latin typeface="Segoe UI"/>
              </a:rPr>
              <a:t>All providers failed</a:t>
            </a:r>
          </a:p>
        </p:txBody>
      </p:sp>
      <p:sp>
        <p:nvSpPr>
          <p:cNvPr id="56" name="TextBox 55"/>
          <p:cNvSpPr txBox="1"/>
          <p:nvPr/>
        </p:nvSpPr>
        <p:spPr>
          <a:xfrm>
            <a:off x="7653528" y="5093208"/>
            <a:ext cx="3941064" cy="667512"/>
          </a:xfrm>
          <a:prstGeom prst="rect">
            <a:avLst/>
          </a:prstGeom>
          <a:noFill/>
        </p:spPr>
        <p:txBody>
          <a:bodyPr wrap="square" lIns="36576" rIns="36576" tIns="18288" bIns="18288" anchor="ctr">
            <a:spAutoFit/>
          </a:bodyPr>
          <a:lstStyle/>
          <a:p>
            <a:pPr algn="ctr"/>
            <a:r>
              <a:rPr sz="1050" b="0" i="0">
                <a:solidFill>
                  <a:srgbClr val="FFD978"/>
                </a:solidFill>
                <a:latin typeface="Segoe UI"/>
              </a:rPr>
              <a:t>classical NLP result is shown; items marked 'Needs 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LLM · TASKS AND PROMPT RULES</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What the LLM is actually asked to do</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19</a:t>
            </a:r>
          </a:p>
        </p:txBody>
      </p:sp>
      <p:sp>
        <p:nvSpPr>
          <p:cNvPr id="10" name="Rectangle 9"/>
          <p:cNvSpPr/>
          <p:nvPr/>
        </p:nvSpPr>
        <p:spPr>
          <a:xfrm>
            <a:off x="548640" y="1371600"/>
            <a:ext cx="2926080" cy="50292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371600"/>
            <a:ext cx="2779776" cy="502920"/>
          </a:xfrm>
          <a:prstGeom prst="rect">
            <a:avLst/>
          </a:prstGeom>
          <a:noFill/>
        </p:spPr>
        <p:txBody>
          <a:bodyPr wrap="square" lIns="36576" rIns="36576" tIns="18288" bIns="18288" anchor="ctr">
            <a:spAutoFit/>
          </a:bodyPr>
          <a:lstStyle/>
          <a:p>
            <a:pPr algn="l"/>
            <a:r>
              <a:rPr sz="1150" b="1" i="0">
                <a:solidFill>
                  <a:srgbClr val="A78BFA"/>
                </a:solidFill>
                <a:latin typeface="Segoe UI"/>
              </a:rPr>
              <a:t>Call</a:t>
            </a:r>
          </a:p>
        </p:txBody>
      </p:sp>
      <p:sp>
        <p:nvSpPr>
          <p:cNvPr id="12" name="Rectangle 11"/>
          <p:cNvSpPr/>
          <p:nvPr/>
        </p:nvSpPr>
        <p:spPr>
          <a:xfrm>
            <a:off x="3474720" y="1371600"/>
            <a:ext cx="8183879" cy="502920"/>
          </a:xfrm>
          <a:prstGeom prst="rect">
            <a:avLst/>
          </a:prstGeom>
          <a:solidFill>
            <a:srgbClr val="0A0F2B"/>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371600"/>
            <a:ext cx="8037575" cy="502920"/>
          </a:xfrm>
          <a:prstGeom prst="rect">
            <a:avLst/>
          </a:prstGeom>
          <a:noFill/>
        </p:spPr>
        <p:txBody>
          <a:bodyPr wrap="square" lIns="36576" rIns="36576" tIns="18288" bIns="18288" anchor="ctr">
            <a:spAutoFit/>
          </a:bodyPr>
          <a:lstStyle/>
          <a:p>
            <a:pPr algn="l"/>
            <a:r>
              <a:rPr sz="1150" b="1" i="0">
                <a:solidFill>
                  <a:srgbClr val="A78BFA"/>
                </a:solidFill>
                <a:latin typeface="Segoe UI"/>
              </a:rPr>
              <a:t>Purpose</a:t>
            </a:r>
          </a:p>
        </p:txBody>
      </p:sp>
      <p:sp>
        <p:nvSpPr>
          <p:cNvPr id="14" name="Rectangle 13"/>
          <p:cNvSpPr/>
          <p:nvPr/>
        </p:nvSpPr>
        <p:spPr>
          <a:xfrm>
            <a:off x="548640" y="1874519"/>
            <a:ext cx="2926080" cy="50292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1874519"/>
            <a:ext cx="2779776" cy="502920"/>
          </a:xfrm>
          <a:prstGeom prst="rect">
            <a:avLst/>
          </a:prstGeom>
          <a:noFill/>
        </p:spPr>
        <p:txBody>
          <a:bodyPr wrap="square" lIns="36576" rIns="36576" tIns="18288" bIns="18288" anchor="ctr">
            <a:spAutoFit/>
          </a:bodyPr>
          <a:lstStyle/>
          <a:p>
            <a:pPr algn="l"/>
            <a:r>
              <a:rPr sz="1200" b="1" i="0">
                <a:solidFill>
                  <a:srgbClr val="FFFFFF"/>
                </a:solidFill>
                <a:latin typeface="Segoe UI"/>
              </a:rPr>
              <a:t>Analysis (per transcript chunk)</a:t>
            </a:r>
          </a:p>
        </p:txBody>
      </p:sp>
      <p:sp>
        <p:nvSpPr>
          <p:cNvPr id="16" name="Rectangle 15"/>
          <p:cNvSpPr/>
          <p:nvPr/>
        </p:nvSpPr>
        <p:spPr>
          <a:xfrm>
            <a:off x="3474720" y="1874519"/>
            <a:ext cx="8183879" cy="50292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7872" y="1874519"/>
            <a:ext cx="8037575" cy="502920"/>
          </a:xfrm>
          <a:prstGeom prst="rect">
            <a:avLst/>
          </a:prstGeom>
          <a:noFill/>
        </p:spPr>
        <p:txBody>
          <a:bodyPr wrap="square" lIns="36576" rIns="36576" tIns="18288" bIns="18288" anchor="ctr">
            <a:spAutoFit/>
          </a:bodyPr>
          <a:lstStyle/>
          <a:p>
            <a:pPr algn="l"/>
            <a:r>
              <a:rPr sz="1200" b="0" i="0">
                <a:solidFill>
                  <a:srgbClr val="C9D0FF"/>
                </a:solidFill>
                <a:latin typeface="Segoe UI"/>
              </a:rPr>
              <a:t>Summary, key points, topics, conclusions + independent task / decision / event suggestions</a:t>
            </a:r>
          </a:p>
        </p:txBody>
      </p:sp>
      <p:sp>
        <p:nvSpPr>
          <p:cNvPr id="18" name="Rectangle 17"/>
          <p:cNvSpPr/>
          <p:nvPr/>
        </p:nvSpPr>
        <p:spPr>
          <a:xfrm>
            <a:off x="548640" y="2377439"/>
            <a:ext cx="2926080" cy="50292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2377439"/>
            <a:ext cx="2779776" cy="502920"/>
          </a:xfrm>
          <a:prstGeom prst="rect">
            <a:avLst/>
          </a:prstGeom>
          <a:noFill/>
        </p:spPr>
        <p:txBody>
          <a:bodyPr wrap="square" lIns="36576" rIns="36576" tIns="18288" bIns="18288" anchor="ctr">
            <a:spAutoFit/>
          </a:bodyPr>
          <a:lstStyle/>
          <a:p>
            <a:pPr algn="l"/>
            <a:r>
              <a:rPr sz="1200" b="1" i="0">
                <a:solidFill>
                  <a:srgbClr val="FFFFFF"/>
                </a:solidFill>
                <a:latin typeface="Segoe UI"/>
              </a:rPr>
              <a:t>Merge (long meetings)</a:t>
            </a:r>
          </a:p>
        </p:txBody>
      </p:sp>
      <p:sp>
        <p:nvSpPr>
          <p:cNvPr id="20" name="Rectangle 19"/>
          <p:cNvSpPr/>
          <p:nvPr/>
        </p:nvSpPr>
        <p:spPr>
          <a:xfrm>
            <a:off x="3474720" y="2377439"/>
            <a:ext cx="8183879" cy="50292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47872" y="2377439"/>
            <a:ext cx="8037575" cy="502920"/>
          </a:xfrm>
          <a:prstGeom prst="rect">
            <a:avLst/>
          </a:prstGeom>
          <a:noFill/>
        </p:spPr>
        <p:txBody>
          <a:bodyPr wrap="square" lIns="36576" rIns="36576" tIns="18288" bIns="18288" anchor="ctr">
            <a:spAutoFit/>
          </a:bodyPr>
          <a:lstStyle/>
          <a:p>
            <a:pPr algn="l"/>
            <a:r>
              <a:rPr sz="1200" b="0" i="0">
                <a:solidFill>
                  <a:srgbClr val="C9D0FF"/>
                </a:solidFill>
                <a:latin typeface="Segoe UI"/>
              </a:rPr>
              <a:t>Combine chunk summaries into one coherent summary</a:t>
            </a:r>
          </a:p>
        </p:txBody>
      </p:sp>
      <p:sp>
        <p:nvSpPr>
          <p:cNvPr id="22" name="Rectangle 21"/>
          <p:cNvSpPr/>
          <p:nvPr/>
        </p:nvSpPr>
        <p:spPr>
          <a:xfrm>
            <a:off x="548640" y="2880359"/>
            <a:ext cx="2926080" cy="50292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2880359"/>
            <a:ext cx="2779776" cy="502920"/>
          </a:xfrm>
          <a:prstGeom prst="rect">
            <a:avLst/>
          </a:prstGeom>
          <a:noFill/>
        </p:spPr>
        <p:txBody>
          <a:bodyPr wrap="square" lIns="36576" rIns="36576" tIns="18288" bIns="18288" anchor="ctr">
            <a:spAutoFit/>
          </a:bodyPr>
          <a:lstStyle/>
          <a:p>
            <a:pPr algn="l"/>
            <a:r>
              <a:rPr sz="1200" b="1" i="0">
                <a:solidFill>
                  <a:srgbClr val="FFFFFF"/>
                </a:solidFill>
                <a:latin typeface="Segoe UI"/>
              </a:rPr>
              <a:t>Adjudication (one batch)</a:t>
            </a:r>
          </a:p>
        </p:txBody>
      </p:sp>
      <p:sp>
        <p:nvSpPr>
          <p:cNvPr id="24" name="Rectangle 23"/>
          <p:cNvSpPr/>
          <p:nvPr/>
        </p:nvSpPr>
        <p:spPr>
          <a:xfrm>
            <a:off x="3474720" y="2880359"/>
            <a:ext cx="8183879" cy="50292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7872" y="2880359"/>
            <a:ext cx="8037575" cy="502920"/>
          </a:xfrm>
          <a:prstGeom prst="rect">
            <a:avLst/>
          </a:prstGeom>
          <a:noFill/>
        </p:spPr>
        <p:txBody>
          <a:bodyPr wrap="square" lIns="36576" rIns="36576" tIns="18288" bIns="18288" anchor="ctr">
            <a:spAutoFit/>
          </a:bodyPr>
          <a:lstStyle/>
          <a:p>
            <a:pPr algn="l"/>
            <a:r>
              <a:rPr sz="1200" b="0" i="0">
                <a:solidFill>
                  <a:srgbClr val="C9D0FF"/>
                </a:solidFill>
                <a:latin typeface="Segoe UI"/>
              </a:rPr>
              <a:t>"Is each uncertain sentence a task, a decision, or neither?"</a:t>
            </a:r>
          </a:p>
        </p:txBody>
      </p:sp>
      <p:sp>
        <p:nvSpPr>
          <p:cNvPr id="26" name="Rectangle 25"/>
          <p:cNvSpPr/>
          <p:nvPr/>
        </p:nvSpPr>
        <p:spPr>
          <a:xfrm>
            <a:off x="548640" y="3383279"/>
            <a:ext cx="2926080" cy="50292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3383279"/>
            <a:ext cx="2779776" cy="502920"/>
          </a:xfrm>
          <a:prstGeom prst="rect">
            <a:avLst/>
          </a:prstGeom>
          <a:noFill/>
        </p:spPr>
        <p:txBody>
          <a:bodyPr wrap="square" lIns="36576" rIns="36576" tIns="18288" bIns="18288" anchor="ctr">
            <a:spAutoFit/>
          </a:bodyPr>
          <a:lstStyle/>
          <a:p>
            <a:pPr algn="l"/>
            <a:r>
              <a:rPr sz="1200" b="1" i="0">
                <a:solidFill>
                  <a:srgbClr val="FFFFFF"/>
                </a:solidFill>
                <a:latin typeface="Segoe UI"/>
              </a:rPr>
              <a:t>Answer</a:t>
            </a:r>
          </a:p>
        </p:txBody>
      </p:sp>
      <p:sp>
        <p:nvSpPr>
          <p:cNvPr id="28" name="Rectangle 27"/>
          <p:cNvSpPr/>
          <p:nvPr/>
        </p:nvSpPr>
        <p:spPr>
          <a:xfrm>
            <a:off x="3474720" y="3383279"/>
            <a:ext cx="8183879" cy="502920"/>
          </a:xfrm>
          <a:prstGeom prst="rect">
            <a:avLst/>
          </a:prstGeom>
          <a:solidFill>
            <a:srgbClr val="1B2360"/>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47872" y="3383279"/>
            <a:ext cx="8037575" cy="502920"/>
          </a:xfrm>
          <a:prstGeom prst="rect">
            <a:avLst/>
          </a:prstGeom>
          <a:noFill/>
        </p:spPr>
        <p:txBody>
          <a:bodyPr wrap="square" lIns="36576" rIns="36576" tIns="18288" bIns="18288" anchor="ctr">
            <a:spAutoFit/>
          </a:bodyPr>
          <a:lstStyle/>
          <a:p>
            <a:pPr algn="l"/>
            <a:r>
              <a:rPr sz="1200" b="0" i="0">
                <a:solidFill>
                  <a:srgbClr val="C9D0FF"/>
                </a:solidFill>
                <a:latin typeface="Segoe UI"/>
              </a:rPr>
              <a:t>Grounded chat and search answers from retrieved evidence only</a:t>
            </a:r>
          </a:p>
        </p:txBody>
      </p:sp>
      <p:sp>
        <p:nvSpPr>
          <p:cNvPr id="30" name="Rectangle 29"/>
          <p:cNvSpPr/>
          <p:nvPr/>
        </p:nvSpPr>
        <p:spPr>
          <a:xfrm>
            <a:off x="548640" y="3886199"/>
            <a:ext cx="2926080" cy="50292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3886199"/>
            <a:ext cx="2779776" cy="502920"/>
          </a:xfrm>
          <a:prstGeom prst="rect">
            <a:avLst/>
          </a:prstGeom>
          <a:noFill/>
        </p:spPr>
        <p:txBody>
          <a:bodyPr wrap="square" lIns="36576" rIns="36576" tIns="18288" bIns="18288" anchor="ctr">
            <a:spAutoFit/>
          </a:bodyPr>
          <a:lstStyle/>
          <a:p>
            <a:pPr algn="l"/>
            <a:r>
              <a:rPr sz="1200" b="1" i="0">
                <a:solidFill>
                  <a:srgbClr val="FFFFFF"/>
                </a:solidFill>
                <a:latin typeface="Segoe UI"/>
              </a:rPr>
              <a:t>Naming / polishing (optional)</a:t>
            </a:r>
          </a:p>
        </p:txBody>
      </p:sp>
      <p:sp>
        <p:nvSpPr>
          <p:cNvPr id="32" name="Rectangle 31"/>
          <p:cNvSpPr/>
          <p:nvPr/>
        </p:nvSpPr>
        <p:spPr>
          <a:xfrm>
            <a:off x="3474720" y="3886199"/>
            <a:ext cx="8183879" cy="502920"/>
          </a:xfrm>
          <a:prstGeom prst="rect">
            <a:avLst/>
          </a:prstGeom>
          <a:solidFill>
            <a:srgbClr val="151B4D"/>
          </a:solidFill>
          <a:ln w="9525">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47872" y="3886199"/>
            <a:ext cx="8037575" cy="502920"/>
          </a:xfrm>
          <a:prstGeom prst="rect">
            <a:avLst/>
          </a:prstGeom>
          <a:noFill/>
        </p:spPr>
        <p:txBody>
          <a:bodyPr wrap="square" lIns="36576" rIns="36576" tIns="18288" bIns="18288" anchor="ctr">
            <a:spAutoFit/>
          </a:bodyPr>
          <a:lstStyle/>
          <a:p>
            <a:pPr algn="l"/>
            <a:r>
              <a:rPr sz="1200" b="0" i="0">
                <a:solidFill>
                  <a:srgbClr val="C9D0FF"/>
                </a:solidFill>
                <a:latin typeface="Segoe UI"/>
              </a:rPr>
              <a:t>Speaker-name evidence, friendlier follow-up wording</a:t>
            </a:r>
          </a:p>
        </p:txBody>
      </p:sp>
      <p:sp>
        <p:nvSpPr>
          <p:cNvPr id="34" name="Rounded Rectangle 33"/>
          <p:cNvSpPr/>
          <p:nvPr/>
        </p:nvSpPr>
        <p:spPr>
          <a:xfrm>
            <a:off x="548640" y="4572000"/>
            <a:ext cx="3611880" cy="16002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 y="4572000"/>
            <a:ext cx="3282696" cy="4572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709160"/>
            <a:ext cx="3291840" cy="457200"/>
          </a:xfrm>
          <a:prstGeom prst="rect">
            <a:avLst/>
          </a:prstGeom>
          <a:noFill/>
        </p:spPr>
        <p:txBody>
          <a:bodyPr wrap="square" lIns="36576" rIns="36576" tIns="18288" bIns="18288" anchor="ctr">
            <a:spAutoFit/>
          </a:bodyPr>
          <a:lstStyle/>
          <a:p>
            <a:pPr algn="l"/>
            <a:r>
              <a:rPr sz="1400" b="1" i="0">
                <a:solidFill>
                  <a:srgbClr val="FFFFFF"/>
                </a:solidFill>
                <a:latin typeface="Segoe UI"/>
              </a:rPr>
              <a:t>Verbatim quotes</a:t>
            </a:r>
          </a:p>
        </p:txBody>
      </p:sp>
      <p:sp>
        <p:nvSpPr>
          <p:cNvPr id="37" name="TextBox 36"/>
          <p:cNvSpPr txBox="1"/>
          <p:nvPr/>
        </p:nvSpPr>
        <p:spPr>
          <a:xfrm>
            <a:off x="731520" y="5257800"/>
            <a:ext cx="3246120" cy="868680"/>
          </a:xfrm>
          <a:prstGeom prst="rect">
            <a:avLst/>
          </a:prstGeom>
          <a:noFill/>
        </p:spPr>
        <p:txBody>
          <a:bodyPr wrap="square" lIns="36576" rIns="36576" tIns="18288" bIns="18288" anchor="t">
            <a:spAutoFit/>
          </a:bodyPr>
          <a:lstStyle/>
          <a:p>
            <a:pPr algn="l"/>
            <a:r>
              <a:rPr sz="1200" b="0" i="0">
                <a:solidFill>
                  <a:srgbClr val="C9D0FF"/>
                </a:solidFill>
                <a:latin typeface="Segoe UI"/>
              </a:rPr>
              <a:t>Every task, decision and event must include an exact quote from the transcript.</a:t>
            </a:r>
          </a:p>
        </p:txBody>
      </p:sp>
      <p:sp>
        <p:nvSpPr>
          <p:cNvPr id="38" name="Rounded Rectangle 37"/>
          <p:cNvSpPr/>
          <p:nvPr/>
        </p:nvSpPr>
        <p:spPr>
          <a:xfrm>
            <a:off x="4297680" y="4572000"/>
            <a:ext cx="3611880" cy="16002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62272" y="4572000"/>
            <a:ext cx="32826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80560" y="4709160"/>
            <a:ext cx="3291840" cy="457200"/>
          </a:xfrm>
          <a:prstGeom prst="rect">
            <a:avLst/>
          </a:prstGeom>
          <a:noFill/>
        </p:spPr>
        <p:txBody>
          <a:bodyPr wrap="square" lIns="36576" rIns="36576" tIns="18288" bIns="18288" anchor="ctr">
            <a:spAutoFit/>
          </a:bodyPr>
          <a:lstStyle/>
          <a:p>
            <a:pPr algn="l"/>
            <a:r>
              <a:rPr sz="1400" b="1" i="0">
                <a:solidFill>
                  <a:srgbClr val="FFFFFF"/>
                </a:solidFill>
                <a:latin typeface="Segoe UI"/>
              </a:rPr>
              <a:t>Copied date phrases</a:t>
            </a:r>
          </a:p>
        </p:txBody>
      </p:sp>
      <p:sp>
        <p:nvSpPr>
          <p:cNvPr id="41" name="TextBox 40"/>
          <p:cNvSpPr txBox="1"/>
          <p:nvPr/>
        </p:nvSpPr>
        <p:spPr>
          <a:xfrm>
            <a:off x="4480560" y="5257800"/>
            <a:ext cx="3246120" cy="868680"/>
          </a:xfrm>
          <a:prstGeom prst="rect">
            <a:avLst/>
          </a:prstGeom>
          <a:noFill/>
        </p:spPr>
        <p:txBody>
          <a:bodyPr wrap="square" lIns="36576" rIns="36576" tIns="18288" bIns="18288" anchor="t">
            <a:spAutoFit/>
          </a:bodyPr>
          <a:lstStyle/>
          <a:p>
            <a:pPr algn="l"/>
            <a:r>
              <a:rPr sz="1200" b="0" i="0">
                <a:solidFill>
                  <a:srgbClr val="C9D0FF"/>
                </a:solidFill>
                <a:latin typeface="Segoe UI"/>
              </a:rPr>
              <a:t>The LLM copies "next Friday"; our dates.py converts it. LLMs are bad at calendar arithmetic.</a:t>
            </a:r>
          </a:p>
        </p:txBody>
      </p:sp>
      <p:sp>
        <p:nvSpPr>
          <p:cNvPr id="42" name="Rounded Rectangle 41"/>
          <p:cNvSpPr/>
          <p:nvPr/>
        </p:nvSpPr>
        <p:spPr>
          <a:xfrm>
            <a:off x="8046720" y="4572000"/>
            <a:ext cx="3611880" cy="16002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11312" y="4572000"/>
            <a:ext cx="32826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0" y="4709160"/>
            <a:ext cx="3291840" cy="457200"/>
          </a:xfrm>
          <a:prstGeom prst="rect">
            <a:avLst/>
          </a:prstGeom>
          <a:noFill/>
        </p:spPr>
        <p:txBody>
          <a:bodyPr wrap="square" lIns="36576" rIns="36576" tIns="18288" bIns="18288" anchor="ctr">
            <a:spAutoFit/>
          </a:bodyPr>
          <a:lstStyle/>
          <a:p>
            <a:pPr algn="l"/>
            <a:r>
              <a:rPr sz="1400" b="1" i="0">
                <a:solidFill>
                  <a:srgbClr val="FFFFFF"/>
                </a:solidFill>
                <a:latin typeface="Segoe UI"/>
              </a:rPr>
              <a:t>JSON only</a:t>
            </a:r>
          </a:p>
        </p:txBody>
      </p:sp>
      <p:sp>
        <p:nvSpPr>
          <p:cNvPr id="45" name="TextBox 44"/>
          <p:cNvSpPr txBox="1"/>
          <p:nvPr/>
        </p:nvSpPr>
        <p:spPr>
          <a:xfrm>
            <a:off x="8229600" y="5257800"/>
            <a:ext cx="3246120" cy="868680"/>
          </a:xfrm>
          <a:prstGeom prst="rect">
            <a:avLst/>
          </a:prstGeom>
          <a:noFill/>
        </p:spPr>
        <p:txBody>
          <a:bodyPr wrap="square" lIns="36576" rIns="36576" tIns="18288" bIns="18288" anchor="t">
            <a:spAutoFit/>
          </a:bodyPr>
          <a:lstStyle/>
          <a:p>
            <a:pPr algn="l"/>
            <a:r>
              <a:rPr sz="1200" b="0" i="0">
                <a:solidFill>
                  <a:srgbClr val="C9D0FF"/>
                </a:solidFill>
                <a:latin typeface="Segoe UI"/>
              </a:rPr>
              <a:t>Structured output that can be parsed and checked; one repair attempt if it is malformed.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LLM · VALIDATION</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Never trust an LLM blindly: the validation layer</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20</a:t>
            </a:r>
          </a:p>
        </p:txBody>
      </p:sp>
      <p:sp>
        <p:nvSpPr>
          <p:cNvPr id="10" name="Rounded Rectangle 9"/>
          <p:cNvSpPr/>
          <p:nvPr/>
        </p:nvSpPr>
        <p:spPr>
          <a:xfrm>
            <a:off x="548640" y="2606040"/>
            <a:ext cx="2103120" cy="137160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606040"/>
            <a:ext cx="1828799"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70048"/>
            <a:ext cx="2011679" cy="457200"/>
          </a:xfrm>
          <a:prstGeom prst="rect">
            <a:avLst/>
          </a:prstGeom>
          <a:noFill/>
        </p:spPr>
        <p:txBody>
          <a:bodyPr wrap="square" lIns="36576" rIns="36576" tIns="18288" bIns="18288" anchor="ctr">
            <a:spAutoFit/>
          </a:bodyPr>
          <a:lstStyle/>
          <a:p>
            <a:pPr algn="ctr"/>
            <a:r>
              <a:rPr sz="1400" b="1" i="0">
                <a:solidFill>
                  <a:srgbClr val="FFFFFF"/>
                </a:solidFill>
                <a:latin typeface="Segoe UI"/>
              </a:rPr>
              <a:t>LLM output</a:t>
            </a:r>
          </a:p>
        </p:txBody>
      </p:sp>
      <p:sp>
        <p:nvSpPr>
          <p:cNvPr id="13" name="TextBox 12"/>
          <p:cNvSpPr txBox="1"/>
          <p:nvPr/>
        </p:nvSpPr>
        <p:spPr>
          <a:xfrm>
            <a:off x="612647" y="3127248"/>
            <a:ext cx="1975103" cy="804672"/>
          </a:xfrm>
          <a:prstGeom prst="rect">
            <a:avLst/>
          </a:prstGeom>
          <a:noFill/>
        </p:spPr>
        <p:txBody>
          <a:bodyPr wrap="square" lIns="36576" rIns="36576" tIns="18288" bIns="18288" anchor="ctr">
            <a:spAutoFit/>
          </a:bodyPr>
          <a:lstStyle/>
          <a:p>
            <a:pPr algn="ctr"/>
            <a:r>
              <a:rPr sz="1100" b="0" i="0">
                <a:solidFill>
                  <a:srgbClr val="FFB7DE"/>
                </a:solidFill>
                <a:latin typeface="Segoe UI"/>
              </a:rPr>
              <a:t>tasks · decisions · events (JSON)</a:t>
            </a:r>
          </a:p>
        </p:txBody>
      </p:sp>
      <p:sp>
        <p:nvSpPr>
          <p:cNvPr id="14" name="Rounded Rectangle 13"/>
          <p:cNvSpPr/>
          <p:nvPr/>
        </p:nvSpPr>
        <p:spPr>
          <a:xfrm>
            <a:off x="3657600" y="1371600"/>
            <a:ext cx="4754880" cy="96012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94760" y="1371600"/>
            <a:ext cx="4480560"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1435608"/>
            <a:ext cx="4663440" cy="403250"/>
          </a:xfrm>
          <a:prstGeom prst="rect">
            <a:avLst/>
          </a:prstGeom>
          <a:noFill/>
        </p:spPr>
        <p:txBody>
          <a:bodyPr wrap="square" lIns="36576" rIns="36576" tIns="18288" bIns="18288" anchor="ctr">
            <a:spAutoFit/>
          </a:bodyPr>
          <a:lstStyle/>
          <a:p>
            <a:pPr algn="ctr"/>
            <a:r>
              <a:rPr sz="1300" b="1" i="0">
                <a:solidFill>
                  <a:srgbClr val="FFFFFF"/>
                </a:solidFill>
                <a:latin typeface="Segoe UI"/>
              </a:rPr>
              <a:t>Exact quote exists?</a:t>
            </a:r>
          </a:p>
        </p:txBody>
      </p:sp>
      <p:sp>
        <p:nvSpPr>
          <p:cNvPr id="17" name="TextBox 16"/>
          <p:cNvSpPr txBox="1"/>
          <p:nvPr/>
        </p:nvSpPr>
        <p:spPr>
          <a:xfrm>
            <a:off x="3721608" y="1838858"/>
            <a:ext cx="4626864" cy="447141"/>
          </a:xfrm>
          <a:prstGeom prst="rect">
            <a:avLst/>
          </a:prstGeom>
          <a:noFill/>
        </p:spPr>
        <p:txBody>
          <a:bodyPr wrap="square" lIns="36576" rIns="36576" tIns="18288" bIns="18288" anchor="ctr">
            <a:spAutoFit/>
          </a:bodyPr>
          <a:lstStyle/>
          <a:p>
            <a:pPr algn="ctr"/>
            <a:r>
              <a:rPr sz="1050" b="0" i="0">
                <a:solidFill>
                  <a:srgbClr val="FFB4B4"/>
                </a:solidFill>
                <a:latin typeface="Segoe UI"/>
              </a:rPr>
              <a:t>fuzzy-match against the transcript (82 / 92)
no match → dropped · MISSING_EVIDENCE</a:t>
            </a:r>
          </a:p>
        </p:txBody>
      </p:sp>
      <p:cxnSp>
        <p:nvCxnSpPr>
          <p:cNvPr id="18" name="Connector 17"/>
          <p:cNvCxnSpPr/>
          <p:nvPr/>
        </p:nvCxnSpPr>
        <p:spPr>
          <a:xfrm flipV="1">
            <a:off x="2651760" y="1847088"/>
            <a:ext cx="1005840" cy="1444752"/>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412480" y="1847088"/>
            <a:ext cx="914400" cy="1444752"/>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57600" y="2468880"/>
            <a:ext cx="4754880" cy="96012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794760" y="2468880"/>
            <a:ext cx="4480560"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03320" y="2532888"/>
            <a:ext cx="4663440" cy="403250"/>
          </a:xfrm>
          <a:prstGeom prst="rect">
            <a:avLst/>
          </a:prstGeom>
          <a:noFill/>
        </p:spPr>
        <p:txBody>
          <a:bodyPr wrap="square" lIns="36576" rIns="36576" tIns="18288" bIns="18288" anchor="ctr">
            <a:spAutoFit/>
          </a:bodyPr>
          <a:lstStyle/>
          <a:p>
            <a:pPr algn="ctr"/>
            <a:r>
              <a:rPr sz="1300" b="1" i="0">
                <a:solidFill>
                  <a:srgbClr val="FFFFFF"/>
                </a:solidFill>
                <a:latin typeface="Segoe UI"/>
              </a:rPr>
              <a:t>Owner is a real person?</a:t>
            </a:r>
          </a:p>
        </p:txBody>
      </p:sp>
      <p:sp>
        <p:nvSpPr>
          <p:cNvPr id="23" name="TextBox 22"/>
          <p:cNvSpPr txBox="1"/>
          <p:nvPr/>
        </p:nvSpPr>
        <p:spPr>
          <a:xfrm>
            <a:off x="3721608" y="2936138"/>
            <a:ext cx="4626864" cy="447141"/>
          </a:xfrm>
          <a:prstGeom prst="rect">
            <a:avLst/>
          </a:prstGeom>
          <a:noFill/>
        </p:spPr>
        <p:txBody>
          <a:bodyPr wrap="square" lIns="36576" rIns="36576" tIns="18288" bIns="18288" anchor="ctr">
            <a:spAutoFit/>
          </a:bodyPr>
          <a:lstStyle/>
          <a:p>
            <a:pPr algn="ctr"/>
            <a:r>
              <a:rPr sz="1050" b="0" i="0">
                <a:solidFill>
                  <a:srgbClr val="FFB4B4"/>
                </a:solidFill>
                <a:latin typeface="Segoe UI"/>
              </a:rPr>
              <a:t>participant or named in the transcript
else Unassigned + needs review</a:t>
            </a:r>
          </a:p>
        </p:txBody>
      </p:sp>
      <p:cxnSp>
        <p:nvCxnSpPr>
          <p:cNvPr id="24" name="Connector 23"/>
          <p:cNvCxnSpPr/>
          <p:nvPr/>
        </p:nvCxnSpPr>
        <p:spPr>
          <a:xfrm flipV="1">
            <a:off x="2651760" y="2944368"/>
            <a:ext cx="1005840" cy="347472"/>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412480" y="2944368"/>
            <a:ext cx="914400" cy="347472"/>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657600" y="3566160"/>
            <a:ext cx="4754880" cy="96012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794760" y="3566160"/>
            <a:ext cx="4480560"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03320" y="3630168"/>
            <a:ext cx="4663440" cy="403250"/>
          </a:xfrm>
          <a:prstGeom prst="rect">
            <a:avLst/>
          </a:prstGeom>
          <a:noFill/>
        </p:spPr>
        <p:txBody>
          <a:bodyPr wrap="square" lIns="36576" rIns="36576" tIns="18288" bIns="18288" anchor="ctr">
            <a:spAutoFit/>
          </a:bodyPr>
          <a:lstStyle/>
          <a:p>
            <a:pPr algn="ctr"/>
            <a:r>
              <a:rPr sz="1300" b="1" i="0">
                <a:solidFill>
                  <a:srgbClr val="FFFFFF"/>
                </a:solidFill>
                <a:latin typeface="Segoe UI"/>
              </a:rPr>
              <a:t>Date computed by code?</a:t>
            </a:r>
          </a:p>
        </p:txBody>
      </p:sp>
      <p:sp>
        <p:nvSpPr>
          <p:cNvPr id="29" name="TextBox 28"/>
          <p:cNvSpPr txBox="1"/>
          <p:nvPr/>
        </p:nvSpPr>
        <p:spPr>
          <a:xfrm>
            <a:off x="3721608" y="4033418"/>
            <a:ext cx="4626864" cy="447141"/>
          </a:xfrm>
          <a:prstGeom prst="rect">
            <a:avLst/>
          </a:prstGeom>
          <a:noFill/>
        </p:spPr>
        <p:txBody>
          <a:bodyPr wrap="square" lIns="36576" rIns="36576" tIns="18288" bIns="18288" anchor="ctr">
            <a:spAutoFit/>
          </a:bodyPr>
          <a:lstStyle/>
          <a:p>
            <a:pPr algn="ctr"/>
            <a:r>
              <a:rPr sz="1050" b="0" i="0">
                <a:solidFill>
                  <a:srgbClr val="FFB4B4"/>
                </a:solidFill>
                <a:latin typeface="Segoe UI"/>
              </a:rPr>
              <a:t>LLM copies "next Friday"; dates.py converts it
phrase must occur near the quote</a:t>
            </a:r>
          </a:p>
        </p:txBody>
      </p:sp>
      <p:cxnSp>
        <p:nvCxnSpPr>
          <p:cNvPr id="30" name="Connector 29"/>
          <p:cNvCxnSpPr/>
          <p:nvPr/>
        </p:nvCxnSpPr>
        <p:spPr>
          <a:xfrm>
            <a:off x="2651760" y="3291840"/>
            <a:ext cx="1005840" cy="749808"/>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412480" y="3291840"/>
            <a:ext cx="914400" cy="749808"/>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657600" y="4663440"/>
            <a:ext cx="4754880" cy="96012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94760" y="4663440"/>
            <a:ext cx="4480560"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03320" y="4727448"/>
            <a:ext cx="4663440" cy="403250"/>
          </a:xfrm>
          <a:prstGeom prst="rect">
            <a:avLst/>
          </a:prstGeom>
          <a:noFill/>
        </p:spPr>
        <p:txBody>
          <a:bodyPr wrap="square" lIns="36576" rIns="36576" tIns="18288" bIns="18288" anchor="ctr">
            <a:spAutoFit/>
          </a:bodyPr>
          <a:lstStyle/>
          <a:p>
            <a:pPr algn="ctr"/>
            <a:r>
              <a:rPr sz="1300" b="1" i="0">
                <a:solidFill>
                  <a:srgbClr val="FFFFFF"/>
                </a:solidFill>
                <a:latin typeface="Segoe UI"/>
              </a:rPr>
              <a:t>Agrees with classical NLP?</a:t>
            </a:r>
          </a:p>
        </p:txBody>
      </p:sp>
      <p:sp>
        <p:nvSpPr>
          <p:cNvPr id="35" name="TextBox 34"/>
          <p:cNvSpPr txBox="1"/>
          <p:nvPr/>
        </p:nvSpPr>
        <p:spPr>
          <a:xfrm>
            <a:off x="3721608" y="5130698"/>
            <a:ext cx="4626864" cy="447141"/>
          </a:xfrm>
          <a:prstGeom prst="rect">
            <a:avLst/>
          </a:prstGeom>
          <a:noFill/>
        </p:spPr>
        <p:txBody>
          <a:bodyPr wrap="square" lIns="36576" rIns="36576" tIns="18288" bIns="18288" anchor="ctr">
            <a:spAutoFit/>
          </a:bodyPr>
          <a:lstStyle/>
          <a:p>
            <a:pPr algn="ctr"/>
            <a:r>
              <a:rPr sz="1050" b="0" i="0">
                <a:solidFill>
                  <a:srgbClr val="FFB4B4"/>
                </a:solidFill>
                <a:latin typeface="Segoe UI"/>
              </a:rPr>
              <a:t>yes → confidence 0.95 (NLP + LLM agree)
conflict → CONFLICTING_EXTRACTIONS</a:t>
            </a:r>
          </a:p>
        </p:txBody>
      </p:sp>
      <p:cxnSp>
        <p:nvCxnSpPr>
          <p:cNvPr id="36" name="Connector 35"/>
          <p:cNvCxnSpPr/>
          <p:nvPr/>
        </p:nvCxnSpPr>
        <p:spPr>
          <a:xfrm>
            <a:off x="2651760" y="3291840"/>
            <a:ext cx="1005840" cy="1847087"/>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412480" y="3291840"/>
            <a:ext cx="914400" cy="1847087"/>
          </a:xfrm>
          <a:prstGeom prst="line">
            <a:avLst/>
          </a:prstGeom>
          <a:ln w="2032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326880" y="2606040"/>
            <a:ext cx="2331720" cy="137160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64040" y="2606040"/>
            <a:ext cx="205740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72600" y="2670048"/>
            <a:ext cx="2240279" cy="457200"/>
          </a:xfrm>
          <a:prstGeom prst="rect">
            <a:avLst/>
          </a:prstGeom>
          <a:noFill/>
        </p:spPr>
        <p:txBody>
          <a:bodyPr wrap="square" lIns="36576" rIns="36576" tIns="18288" bIns="18288" anchor="ctr">
            <a:spAutoFit/>
          </a:bodyPr>
          <a:lstStyle/>
          <a:p>
            <a:pPr algn="ctr"/>
            <a:r>
              <a:rPr sz="1400" b="1" i="0">
                <a:solidFill>
                  <a:srgbClr val="FFFFFF"/>
                </a:solidFill>
                <a:latin typeface="Segoe UI"/>
              </a:rPr>
              <a:t>Trusted results</a:t>
            </a:r>
          </a:p>
        </p:txBody>
      </p:sp>
      <p:sp>
        <p:nvSpPr>
          <p:cNvPr id="41" name="TextBox 40"/>
          <p:cNvSpPr txBox="1"/>
          <p:nvPr/>
        </p:nvSpPr>
        <p:spPr>
          <a:xfrm>
            <a:off x="9390888" y="3127248"/>
            <a:ext cx="2203703" cy="804672"/>
          </a:xfrm>
          <a:prstGeom prst="rect">
            <a:avLst/>
          </a:prstGeom>
          <a:noFill/>
        </p:spPr>
        <p:txBody>
          <a:bodyPr wrap="square" lIns="36576" rIns="36576" tIns="18288" bIns="18288" anchor="ctr">
            <a:spAutoFit/>
          </a:bodyPr>
          <a:lstStyle/>
          <a:p>
            <a:pPr algn="ctr"/>
            <a:r>
              <a:rPr sz="1100" b="0" i="0">
                <a:solidFill>
                  <a:srgbClr val="8CF0C6"/>
                </a:solidFill>
                <a:latin typeface="Segoe UI"/>
              </a:rPr>
              <a:t>saved with method, confidence and evidence</a:t>
            </a:r>
          </a:p>
        </p:txBody>
      </p:sp>
      <p:sp>
        <p:nvSpPr>
          <p:cNvPr id="42" name="Rounded Rectangle 41"/>
          <p:cNvSpPr/>
          <p:nvPr/>
        </p:nvSpPr>
        <p:spPr>
          <a:xfrm>
            <a:off x="548640" y="5897880"/>
            <a:ext cx="11109960" cy="45720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5971032"/>
            <a:ext cx="64008" cy="3108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808" y="5934456"/>
            <a:ext cx="10789920" cy="384048"/>
          </a:xfrm>
          <a:prstGeom prst="rect">
            <a:avLst/>
          </a:prstGeom>
          <a:noFill/>
        </p:spPr>
        <p:txBody>
          <a:bodyPr wrap="square" lIns="36576" rIns="36576" tIns="18288" bIns="18288" anchor="ctr">
            <a:spAutoFit/>
          </a:bodyPr>
          <a:lstStyle/>
          <a:p>
            <a:pPr algn="l"/>
            <a:r>
              <a:rPr sz="1100" b="1" i="0">
                <a:solidFill>
                  <a:srgbClr val="D4C8FF"/>
                </a:solidFill>
                <a:latin typeface="Segoe UI"/>
              </a:rPr>
              <a:t>RESULT   </a:t>
            </a:r>
            <a:r>
              <a:rPr sz="1200" b="0" i="0">
                <a:solidFill>
                  <a:srgbClr val="C9D0FF"/>
                </a:solidFill>
                <a:latin typeface="Segoe UI"/>
              </a:rPr>
              <a:t>Anything that fails a check is dropped or saved as 'Needs review' - it never silently becomes a 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6949440" y="-2011680"/>
            <a:ext cx="7772400" cy="77724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3291840"/>
            <a:ext cx="5669280" cy="566928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423160"/>
            <a:ext cx="1188720" cy="1188720"/>
          </a:xfrm>
          <a:prstGeom prst="ellipse">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23160"/>
            <a:ext cx="1188720" cy="1188720"/>
          </a:xfrm>
          <a:prstGeom prst="rect">
            <a:avLst/>
          </a:prstGeom>
          <a:noFill/>
        </p:spPr>
        <p:txBody>
          <a:bodyPr wrap="square" lIns="36576" rIns="36576" tIns="18288" bIns="18288" anchor="ctr">
            <a:spAutoFit/>
          </a:bodyPr>
          <a:lstStyle/>
          <a:p>
            <a:pPr algn="ctr"/>
            <a:r>
              <a:rPr sz="3800" b="1" i="0">
                <a:solidFill>
                  <a:srgbClr val="FFFFFF"/>
                </a:solidFill>
                <a:latin typeface="Segoe UI"/>
              </a:rPr>
              <a:t>4</a:t>
            </a:r>
          </a:p>
        </p:txBody>
      </p:sp>
      <p:sp>
        <p:nvSpPr>
          <p:cNvPr id="8" name="TextBox 7"/>
          <p:cNvSpPr txBox="1"/>
          <p:nvPr/>
        </p:nvSpPr>
        <p:spPr>
          <a:xfrm>
            <a:off x="2331720" y="2331720"/>
            <a:ext cx="8686800" cy="822960"/>
          </a:xfrm>
          <a:prstGeom prst="rect">
            <a:avLst/>
          </a:prstGeom>
          <a:noFill/>
        </p:spPr>
        <p:txBody>
          <a:bodyPr wrap="square" lIns="36576" rIns="36576" tIns="18288" bIns="18288" anchor="ctr">
            <a:spAutoFit/>
          </a:bodyPr>
          <a:lstStyle/>
          <a:p>
            <a:pPr algn="l"/>
            <a:r>
              <a:rPr sz="3800" b="1" i="0">
                <a:solidFill>
                  <a:srgbClr val="FFFFFF"/>
                </a:solidFill>
                <a:latin typeface="Segoe UI"/>
              </a:rPr>
              <a:t>Speakers, data, search and chat</a:t>
            </a:r>
          </a:p>
        </p:txBody>
      </p:sp>
      <p:sp>
        <p:nvSpPr>
          <p:cNvPr id="9" name="TextBox 8"/>
          <p:cNvSpPr txBox="1"/>
          <p:nvPr/>
        </p:nvSpPr>
        <p:spPr>
          <a:xfrm>
            <a:off x="2331720" y="3154680"/>
            <a:ext cx="8046720" cy="822960"/>
          </a:xfrm>
          <a:prstGeom prst="rect">
            <a:avLst/>
          </a:prstGeom>
          <a:noFill/>
        </p:spPr>
        <p:txBody>
          <a:bodyPr wrap="square" lIns="36576" rIns="36576" tIns="18288" bIns="18288" anchor="t">
            <a:spAutoFit/>
          </a:bodyPr>
          <a:lstStyle/>
          <a:p>
            <a:pPr algn="l"/>
            <a:r>
              <a:rPr sz="1700" b="0" i="0">
                <a:solidFill>
                  <a:srgbClr val="C9D0FF"/>
                </a:solidFill>
                <a:latin typeface="Segoe UI"/>
              </a:rPr>
              <a:t>Names on every voice, a two-store memory, and answers that cannot be made up.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SPEAKERS</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Names on every voice: pyannote speaker identification</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22</a:t>
            </a:r>
          </a:p>
        </p:txBody>
      </p:sp>
      <p:sp>
        <p:nvSpPr>
          <p:cNvPr id="10" name="Rounded Rectangle 9"/>
          <p:cNvSpPr/>
          <p:nvPr/>
        </p:nvSpPr>
        <p:spPr>
          <a:xfrm>
            <a:off x="548640" y="1371600"/>
            <a:ext cx="1645920" cy="91440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371600"/>
            <a:ext cx="137160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1554480" cy="822960"/>
          </a:xfrm>
          <a:prstGeom prst="rect">
            <a:avLst/>
          </a:prstGeom>
          <a:noFill/>
        </p:spPr>
        <p:txBody>
          <a:bodyPr wrap="square" lIns="36576" rIns="36576" tIns="18288" bIns="18288" anchor="ctr">
            <a:spAutoFit/>
          </a:bodyPr>
          <a:lstStyle/>
          <a:p>
            <a:pPr algn="ctr"/>
            <a:r>
              <a:rPr sz="1300" b="1" i="0">
                <a:solidFill>
                  <a:srgbClr val="FFFFFF"/>
                </a:solidFill>
                <a:latin typeface="Segoe UI"/>
              </a:rPr>
              <a:t>Audio file</a:t>
            </a:r>
          </a:p>
        </p:txBody>
      </p:sp>
      <p:sp>
        <p:nvSpPr>
          <p:cNvPr id="13" name="Rounded Rectangle 12"/>
          <p:cNvSpPr/>
          <p:nvPr/>
        </p:nvSpPr>
        <p:spPr>
          <a:xfrm>
            <a:off x="2743200" y="1371600"/>
            <a:ext cx="2377440" cy="91440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1371600"/>
            <a:ext cx="210312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1435608"/>
            <a:ext cx="2286000" cy="384048"/>
          </a:xfrm>
          <a:prstGeom prst="rect">
            <a:avLst/>
          </a:prstGeom>
          <a:noFill/>
        </p:spPr>
        <p:txBody>
          <a:bodyPr wrap="square" lIns="36576" rIns="36576" tIns="18288" bIns="18288" anchor="ctr">
            <a:spAutoFit/>
          </a:bodyPr>
          <a:lstStyle/>
          <a:p>
            <a:pPr algn="ctr"/>
            <a:r>
              <a:rPr sz="1300" b="1" i="0">
                <a:solidFill>
                  <a:srgbClr val="FFFFFF"/>
                </a:solidFill>
                <a:latin typeface="Segoe UI"/>
              </a:rPr>
              <a:t>Whisper (Groq)</a:t>
            </a:r>
          </a:p>
        </p:txBody>
      </p:sp>
      <p:sp>
        <p:nvSpPr>
          <p:cNvPr id="16" name="TextBox 15"/>
          <p:cNvSpPr txBox="1"/>
          <p:nvPr/>
        </p:nvSpPr>
        <p:spPr>
          <a:xfrm>
            <a:off x="2807208" y="1819656"/>
            <a:ext cx="2249424" cy="420624"/>
          </a:xfrm>
          <a:prstGeom prst="rect">
            <a:avLst/>
          </a:prstGeom>
          <a:noFill/>
        </p:spPr>
        <p:txBody>
          <a:bodyPr wrap="square" lIns="36576" rIns="36576" tIns="18288" bIns="18288" anchor="ctr">
            <a:spAutoFit/>
          </a:bodyPr>
          <a:lstStyle/>
          <a:p>
            <a:pPr algn="ctr"/>
            <a:r>
              <a:rPr sz="1050" b="0" i="0">
                <a:solidFill>
                  <a:srgbClr val="7DF0DF"/>
                </a:solidFill>
                <a:latin typeface="Segoe UI"/>
              </a:rPr>
              <a:t>text + word timestamps</a:t>
            </a:r>
          </a:p>
        </p:txBody>
      </p:sp>
      <p:sp>
        <p:nvSpPr>
          <p:cNvPr id="17" name="Rounded Rectangle 16"/>
          <p:cNvSpPr/>
          <p:nvPr/>
        </p:nvSpPr>
        <p:spPr>
          <a:xfrm>
            <a:off x="2743200" y="2560320"/>
            <a:ext cx="2377440" cy="91440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80360" y="2560320"/>
            <a:ext cx="210312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88920" y="2624327"/>
            <a:ext cx="2286000" cy="384048"/>
          </a:xfrm>
          <a:prstGeom prst="rect">
            <a:avLst/>
          </a:prstGeom>
          <a:noFill/>
        </p:spPr>
        <p:txBody>
          <a:bodyPr wrap="square" lIns="36576" rIns="36576" tIns="18288" bIns="18288" anchor="ctr">
            <a:spAutoFit/>
          </a:bodyPr>
          <a:lstStyle/>
          <a:p>
            <a:pPr algn="ctr"/>
            <a:r>
              <a:rPr sz="1300" b="1" i="0">
                <a:solidFill>
                  <a:srgbClr val="FFFFFF"/>
                </a:solidFill>
                <a:latin typeface="Segoe UI"/>
              </a:rPr>
              <a:t>pyannote</a:t>
            </a:r>
          </a:p>
        </p:txBody>
      </p:sp>
      <p:sp>
        <p:nvSpPr>
          <p:cNvPr id="20" name="TextBox 19"/>
          <p:cNvSpPr txBox="1"/>
          <p:nvPr/>
        </p:nvSpPr>
        <p:spPr>
          <a:xfrm>
            <a:off x="2807208" y="3008375"/>
            <a:ext cx="2249424" cy="420624"/>
          </a:xfrm>
          <a:prstGeom prst="rect">
            <a:avLst/>
          </a:prstGeom>
          <a:noFill/>
        </p:spPr>
        <p:txBody>
          <a:bodyPr wrap="square" lIns="36576" rIns="36576" tIns="18288" bIns="18288" anchor="ctr">
            <a:spAutoFit/>
          </a:bodyPr>
          <a:lstStyle/>
          <a:p>
            <a:pPr algn="ctr"/>
            <a:r>
              <a:rPr sz="1050" b="0" i="0">
                <a:solidFill>
                  <a:srgbClr val="7DF0DF"/>
                </a:solidFill>
                <a:latin typeface="Segoe UI"/>
              </a:rPr>
              <a:t>who spoke when: Speaker 1, 2...</a:t>
            </a:r>
          </a:p>
        </p:txBody>
      </p:sp>
      <p:sp>
        <p:nvSpPr>
          <p:cNvPr id="21" name="Rounded Rectangle 20"/>
          <p:cNvSpPr/>
          <p:nvPr/>
        </p:nvSpPr>
        <p:spPr>
          <a:xfrm>
            <a:off x="5760720" y="1965960"/>
            <a:ext cx="2194560" cy="91440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97880" y="1965960"/>
            <a:ext cx="192024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2029967"/>
            <a:ext cx="2103120" cy="384048"/>
          </a:xfrm>
          <a:prstGeom prst="rect">
            <a:avLst/>
          </a:prstGeom>
          <a:noFill/>
        </p:spPr>
        <p:txBody>
          <a:bodyPr wrap="square" lIns="36576" rIns="36576" tIns="18288" bIns="18288" anchor="ctr">
            <a:spAutoFit/>
          </a:bodyPr>
          <a:lstStyle/>
          <a:p>
            <a:pPr algn="ctr"/>
            <a:r>
              <a:rPr sz="1300" b="1" i="0">
                <a:solidFill>
                  <a:srgbClr val="FFFFFF"/>
                </a:solidFill>
                <a:latin typeface="Segoe UI"/>
              </a:rPr>
              <a:t>Align</a:t>
            </a:r>
          </a:p>
        </p:txBody>
      </p:sp>
      <p:sp>
        <p:nvSpPr>
          <p:cNvPr id="24" name="TextBox 23"/>
          <p:cNvSpPr txBox="1"/>
          <p:nvPr/>
        </p:nvSpPr>
        <p:spPr>
          <a:xfrm>
            <a:off x="5824728" y="2414015"/>
            <a:ext cx="2066543" cy="420624"/>
          </a:xfrm>
          <a:prstGeom prst="rect">
            <a:avLst/>
          </a:prstGeom>
          <a:noFill/>
        </p:spPr>
        <p:txBody>
          <a:bodyPr wrap="square" lIns="36576" rIns="36576" tIns="18288" bIns="18288" anchor="ctr">
            <a:spAutoFit/>
          </a:bodyPr>
          <a:lstStyle/>
          <a:p>
            <a:pPr algn="ctr"/>
            <a:r>
              <a:rPr sz="1050" b="0" i="0">
                <a:solidFill>
                  <a:srgbClr val="A9CCFF"/>
                </a:solidFill>
                <a:latin typeface="Segoe UI"/>
              </a:rPr>
              <a:t>word midpoint inside a speaker turn</a:t>
            </a:r>
          </a:p>
        </p:txBody>
      </p:sp>
      <p:sp>
        <p:nvSpPr>
          <p:cNvPr id="25" name="Rounded Rectangle 24"/>
          <p:cNvSpPr/>
          <p:nvPr/>
        </p:nvSpPr>
        <p:spPr>
          <a:xfrm>
            <a:off x="8595360" y="1965960"/>
            <a:ext cx="3063240" cy="91440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732520" y="1965960"/>
            <a:ext cx="278892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41080" y="2029967"/>
            <a:ext cx="2971800" cy="384048"/>
          </a:xfrm>
          <a:prstGeom prst="rect">
            <a:avLst/>
          </a:prstGeom>
          <a:noFill/>
        </p:spPr>
        <p:txBody>
          <a:bodyPr wrap="square" lIns="36576" rIns="36576" tIns="18288" bIns="18288" anchor="ctr">
            <a:spAutoFit/>
          </a:bodyPr>
          <a:lstStyle/>
          <a:p>
            <a:pPr algn="ctr"/>
            <a:r>
              <a:rPr sz="1300" b="1" i="0">
                <a:solidFill>
                  <a:srgbClr val="FFFFFF"/>
                </a:solidFill>
                <a:latin typeface="Segoe UI"/>
              </a:rPr>
              <a:t>Speaker-labelled transcript</a:t>
            </a:r>
          </a:p>
        </p:txBody>
      </p:sp>
      <p:sp>
        <p:nvSpPr>
          <p:cNvPr id="28" name="TextBox 27"/>
          <p:cNvSpPr txBox="1"/>
          <p:nvPr/>
        </p:nvSpPr>
        <p:spPr>
          <a:xfrm>
            <a:off x="8659368" y="2414015"/>
            <a:ext cx="2935224" cy="420624"/>
          </a:xfrm>
          <a:prstGeom prst="rect">
            <a:avLst/>
          </a:prstGeom>
          <a:noFill/>
        </p:spPr>
        <p:txBody>
          <a:bodyPr wrap="square" lIns="36576" rIns="36576" tIns="18288" bIns="18288" anchor="ctr">
            <a:spAutoFit/>
          </a:bodyPr>
          <a:lstStyle/>
          <a:p>
            <a:pPr algn="ctr"/>
            <a:r>
              <a:rPr sz="1050" b="0" i="0">
                <a:solidFill>
                  <a:srgbClr val="8CF0C6"/>
                </a:solidFill>
                <a:latin typeface="Segoe UI"/>
              </a:rPr>
              <a:t>"Speaker 1: I'll send it Monday"</a:t>
            </a:r>
          </a:p>
        </p:txBody>
      </p:sp>
      <p:cxnSp>
        <p:nvCxnSpPr>
          <p:cNvPr id="29" name="Connector 28"/>
          <p:cNvCxnSpPr/>
          <p:nvPr/>
        </p:nvCxnSpPr>
        <p:spPr>
          <a:xfrm>
            <a:off x="2194560" y="1828800"/>
            <a:ext cx="5486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71600" y="2286000"/>
            <a:ext cx="0" cy="73152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71600" y="3017520"/>
            <a:ext cx="13716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20640" y="1828800"/>
            <a:ext cx="32004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40680" y="1828800"/>
            <a:ext cx="0" cy="59436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40680" y="2423160"/>
            <a:ext cx="3200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20640" y="3017520"/>
            <a:ext cx="32004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440680" y="2423160"/>
            <a:ext cx="0" cy="59436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955279" y="2423160"/>
            <a:ext cx="640081"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8640" y="3657600"/>
            <a:ext cx="10972800" cy="274320"/>
          </a:xfrm>
          <a:prstGeom prst="rect">
            <a:avLst/>
          </a:prstGeom>
          <a:noFill/>
        </p:spPr>
        <p:txBody>
          <a:bodyPr wrap="square" lIns="36576" rIns="36576" tIns="18288" bIns="18288" anchor="t">
            <a:spAutoFit/>
          </a:bodyPr>
          <a:lstStyle/>
          <a:p>
            <a:pPr algn="l"/>
            <a:r>
              <a:rPr sz="1050" b="1" i="0">
                <a:solidFill>
                  <a:srgbClr val="A78BFA"/>
                </a:solidFill>
                <a:latin typeface="Segoe UI"/>
              </a:rPr>
              <a:t>THREE WAYS TO TURN "SPEAKER 1" INTO "PRIYA" - YOU ALWAYS CONFIRM</a:t>
            </a:r>
          </a:p>
        </p:txBody>
      </p:sp>
      <p:sp>
        <p:nvSpPr>
          <p:cNvPr id="39" name="Rounded Rectangle 38"/>
          <p:cNvSpPr/>
          <p:nvPr/>
        </p:nvSpPr>
        <p:spPr>
          <a:xfrm>
            <a:off x="548640" y="3977639"/>
            <a:ext cx="3611880" cy="2240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3232" y="3977639"/>
            <a:ext cx="32826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114800"/>
            <a:ext cx="3291840" cy="457200"/>
          </a:xfrm>
          <a:prstGeom prst="rect">
            <a:avLst/>
          </a:prstGeom>
          <a:noFill/>
        </p:spPr>
        <p:txBody>
          <a:bodyPr wrap="square" lIns="36576" rIns="36576" tIns="18288" bIns="18288" anchor="ctr">
            <a:spAutoFit/>
          </a:bodyPr>
          <a:lstStyle/>
          <a:p>
            <a:pPr algn="l"/>
            <a:r>
              <a:rPr sz="1500" b="1" i="0">
                <a:solidFill>
                  <a:srgbClr val="FFFFFF"/>
                </a:solidFill>
                <a:latin typeface="Segoe UI"/>
              </a:rPr>
              <a:t>1 · Voice profiles</a:t>
            </a:r>
          </a:p>
        </p:txBody>
      </p:sp>
      <p:sp>
        <p:nvSpPr>
          <p:cNvPr id="42" name="TextBox 41"/>
          <p:cNvSpPr txBox="1"/>
          <p:nvPr/>
        </p:nvSpPr>
        <p:spPr>
          <a:xfrm>
            <a:off x="731520" y="4663440"/>
            <a:ext cx="3246120" cy="1508760"/>
          </a:xfrm>
          <a:prstGeom prst="rect">
            <a:avLst/>
          </a:prstGeom>
          <a:noFill/>
        </p:spPr>
        <p:txBody>
          <a:bodyPr wrap="square" lIns="36576" rIns="36576" tIns="18288" bIns="18288" anchor="t">
            <a:spAutoFit/>
          </a:bodyPr>
          <a:lstStyle/>
          <a:p>
            <a:pPr algn="l">
              <a:spcAft>
                <a:spcPts val="400"/>
              </a:spcAft>
            </a:pPr>
            <a:r>
              <a:rPr sz="1300" b="1" i="0">
                <a:solidFill>
                  <a:srgbClr val="A78BFA"/>
                </a:solidFill>
                <a:latin typeface="Segoe UI"/>
              </a:rPr>
              <a:t>▸  </a:t>
            </a:r>
            <a:r>
              <a:rPr sz="1300" b="0" i="0">
                <a:solidFill>
                  <a:srgbClr val="C9D0FF"/>
                </a:solidFill>
                <a:latin typeface="Segoe UI"/>
              </a:rPr>
              <a:t>Save a 5-30 s clip once (voiceprint)</a:t>
            </a:r>
          </a:p>
          <a:p>
            <a:pPr algn="l">
              <a:spcAft>
                <a:spcPts val="400"/>
              </a:spcAft>
            </a:pPr>
            <a:r>
              <a:rPr sz="1300" b="1" i="0">
                <a:solidFill>
                  <a:srgbClr val="A78BFA"/>
                </a:solidFill>
                <a:latin typeface="Segoe UI"/>
              </a:rPr>
              <a:t>▸  </a:t>
            </a:r>
            <a:r>
              <a:rPr sz="1300" b="0" i="0">
                <a:solidFill>
                  <a:srgbClr val="C9D0FF"/>
                </a:solidFill>
                <a:latin typeface="Segoe UI"/>
              </a:rPr>
              <a:t>pyannoteAI matches it in later meetings</a:t>
            </a:r>
          </a:p>
          <a:p>
            <a:pPr algn="l">
              <a:spcAft>
                <a:spcPts val="400"/>
              </a:spcAft>
            </a:pPr>
            <a:r>
              <a:rPr sz="1300" b="1" i="0">
                <a:solidFill>
                  <a:srgbClr val="A78BFA"/>
                </a:solidFill>
                <a:latin typeface="Segoe UI"/>
              </a:rPr>
              <a:t>▸  </a:t>
            </a:r>
            <a:r>
              <a:rPr sz="1300" b="0" i="0">
                <a:solidFill>
                  <a:srgbClr val="C9D0FF"/>
                </a:solidFill>
                <a:latin typeface="Segoe UI"/>
              </a:rPr>
              <a:t>Match threshold 60 (adjustable)</a:t>
            </a:r>
          </a:p>
          <a:p>
            <a:pPr algn="l">
              <a:spcAft>
                <a:spcPts val="400"/>
              </a:spcAft>
            </a:pPr>
            <a:r>
              <a:rPr sz="1300" b="1" i="0">
                <a:solidFill>
                  <a:srgbClr val="A78BFA"/>
                </a:solidFill>
                <a:latin typeface="Segoe UI"/>
              </a:rPr>
              <a:t>▸  </a:t>
            </a:r>
            <a:r>
              <a:rPr sz="1300" b="0" i="0">
                <a:solidFill>
                  <a:srgbClr val="C9D0FF"/>
                </a:solidFill>
                <a:latin typeface="Segoe UI"/>
              </a:rPr>
              <a:t>Opt-in, deletable any time</a:t>
            </a:r>
          </a:p>
        </p:txBody>
      </p:sp>
      <p:sp>
        <p:nvSpPr>
          <p:cNvPr id="43" name="Rounded Rectangle 42"/>
          <p:cNvSpPr/>
          <p:nvPr/>
        </p:nvSpPr>
        <p:spPr>
          <a:xfrm>
            <a:off x="4297680" y="3977639"/>
            <a:ext cx="3611880" cy="2240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62272" y="3977639"/>
            <a:ext cx="32826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80560" y="4114800"/>
            <a:ext cx="3291840" cy="457200"/>
          </a:xfrm>
          <a:prstGeom prst="rect">
            <a:avLst/>
          </a:prstGeom>
          <a:noFill/>
        </p:spPr>
        <p:txBody>
          <a:bodyPr wrap="square" lIns="36576" rIns="36576" tIns="18288" bIns="18288" anchor="ctr">
            <a:spAutoFit/>
          </a:bodyPr>
          <a:lstStyle/>
          <a:p>
            <a:pPr algn="l"/>
            <a:r>
              <a:rPr sz="1500" b="1" i="0">
                <a:solidFill>
                  <a:srgbClr val="FFFFFF"/>
                </a:solidFill>
                <a:latin typeface="Segoe UI"/>
              </a:rPr>
              <a:t>2 · Clues in the conversation</a:t>
            </a:r>
          </a:p>
        </p:txBody>
      </p:sp>
      <p:sp>
        <p:nvSpPr>
          <p:cNvPr id="46" name="TextBox 45"/>
          <p:cNvSpPr txBox="1"/>
          <p:nvPr/>
        </p:nvSpPr>
        <p:spPr>
          <a:xfrm>
            <a:off x="4480560" y="4663440"/>
            <a:ext cx="3246120" cy="1508760"/>
          </a:xfrm>
          <a:prstGeom prst="rect">
            <a:avLst/>
          </a:prstGeom>
          <a:noFill/>
        </p:spPr>
        <p:txBody>
          <a:bodyPr wrap="square" lIns="36576" rIns="36576" tIns="18288" bIns="18288" anchor="t">
            <a:spAutoFit/>
          </a:bodyPr>
          <a:lstStyle/>
          <a:p>
            <a:pPr algn="l">
              <a:spcAft>
                <a:spcPts val="400"/>
              </a:spcAft>
            </a:pPr>
            <a:r>
              <a:rPr sz="1300" b="1" i="0">
                <a:solidFill>
                  <a:srgbClr val="A78BFA"/>
                </a:solidFill>
                <a:latin typeface="Segoe UI"/>
              </a:rPr>
              <a:t>▸  </a:t>
            </a:r>
            <a:r>
              <a:rPr sz="1300" b="0" i="0">
                <a:solidFill>
                  <a:srgbClr val="C9D0FF"/>
                </a:solidFill>
                <a:latin typeface="Segoe UI"/>
              </a:rPr>
              <a:t>Self-intro "I'm Priya" (weight 3)</a:t>
            </a:r>
          </a:p>
          <a:p>
            <a:pPr algn="l">
              <a:spcAft>
                <a:spcPts val="400"/>
              </a:spcAft>
            </a:pPr>
            <a:r>
              <a:rPr sz="1300" b="1" i="0">
                <a:solidFill>
                  <a:srgbClr val="A78BFA"/>
                </a:solidFill>
                <a:latin typeface="Segoe UI"/>
              </a:rPr>
              <a:t>▸  </a:t>
            </a:r>
            <a:r>
              <a:rPr sz="1300" b="0" i="0">
                <a:solidFill>
                  <a:srgbClr val="C9D0FF"/>
                </a:solidFill>
                <a:latin typeface="Segoe UI"/>
              </a:rPr>
              <a:t>Being addressed "Priya, can you..." (1.2)</a:t>
            </a:r>
          </a:p>
          <a:p>
            <a:pPr algn="l">
              <a:spcAft>
                <a:spcPts val="400"/>
              </a:spcAft>
            </a:pPr>
            <a:r>
              <a:rPr sz="1300" b="1" i="0">
                <a:solidFill>
                  <a:srgbClr val="A78BFA"/>
                </a:solidFill>
                <a:latin typeface="Segoe UI"/>
              </a:rPr>
              <a:t>▸  </a:t>
            </a:r>
            <a:r>
              <a:rPr sz="1300" b="0" i="0">
                <a:solidFill>
                  <a:srgbClr val="C9D0FF"/>
                </a:solidFill>
                <a:latin typeface="Segoe UI"/>
              </a:rPr>
              <a:t>Being thanked "Thanks Priya" (0.9)</a:t>
            </a:r>
          </a:p>
          <a:p>
            <a:pPr algn="l">
              <a:spcAft>
                <a:spcPts val="400"/>
              </a:spcAft>
            </a:pPr>
            <a:r>
              <a:rPr sz="1300" b="1" i="0">
                <a:solidFill>
                  <a:srgbClr val="A78BFA"/>
                </a:solidFill>
                <a:latin typeface="Segoe UI"/>
              </a:rPr>
              <a:t>▸  </a:t>
            </a:r>
            <a:r>
              <a:rPr sz="1300" b="0" i="0">
                <a:solidFill>
                  <a:srgbClr val="C9D0FF"/>
                </a:solidFill>
                <a:latin typeface="Segoe UI"/>
              </a:rPr>
              <a:t>Elimination; optional LLM check</a:t>
            </a:r>
          </a:p>
        </p:txBody>
      </p:sp>
      <p:sp>
        <p:nvSpPr>
          <p:cNvPr id="47" name="Rounded Rectangle 46"/>
          <p:cNvSpPr/>
          <p:nvPr/>
        </p:nvSpPr>
        <p:spPr>
          <a:xfrm>
            <a:off x="8046720" y="3977639"/>
            <a:ext cx="3611880" cy="224028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211312" y="3977639"/>
            <a:ext cx="32826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4114800"/>
            <a:ext cx="3291840" cy="457200"/>
          </a:xfrm>
          <a:prstGeom prst="rect">
            <a:avLst/>
          </a:prstGeom>
          <a:noFill/>
        </p:spPr>
        <p:txBody>
          <a:bodyPr wrap="square" lIns="36576" rIns="36576" tIns="18288" bIns="18288" anchor="ctr">
            <a:spAutoFit/>
          </a:bodyPr>
          <a:lstStyle/>
          <a:p>
            <a:pPr algn="l"/>
            <a:r>
              <a:rPr sz="1500" b="1" i="0">
                <a:solidFill>
                  <a:srgbClr val="FFFFFF"/>
                </a:solidFill>
                <a:latin typeface="Segoe UI"/>
              </a:rPr>
              <a:t>3 · Type it yourself</a:t>
            </a:r>
          </a:p>
        </p:txBody>
      </p:sp>
      <p:sp>
        <p:nvSpPr>
          <p:cNvPr id="50" name="TextBox 49"/>
          <p:cNvSpPr txBox="1"/>
          <p:nvPr/>
        </p:nvSpPr>
        <p:spPr>
          <a:xfrm>
            <a:off x="8229600" y="4663440"/>
            <a:ext cx="3246120" cy="1508760"/>
          </a:xfrm>
          <a:prstGeom prst="rect">
            <a:avLst/>
          </a:prstGeom>
          <a:noFill/>
        </p:spPr>
        <p:txBody>
          <a:bodyPr wrap="square" lIns="36576" rIns="36576" tIns="18288" bIns="18288" anchor="t">
            <a:spAutoFit/>
          </a:bodyPr>
          <a:lstStyle/>
          <a:p>
            <a:pPr algn="l">
              <a:spcAft>
                <a:spcPts val="400"/>
              </a:spcAft>
            </a:pPr>
            <a:r>
              <a:rPr sz="1300" b="1" i="0">
                <a:solidFill>
                  <a:srgbClr val="A78BFA"/>
                </a:solidFill>
                <a:latin typeface="Segoe UI"/>
              </a:rPr>
              <a:t>▸  </a:t>
            </a:r>
            <a:r>
              <a:rPr sz="1300" b="0" i="0">
                <a:solidFill>
                  <a:srgbClr val="C9D0FF"/>
                </a:solidFill>
                <a:latin typeface="Segoe UI"/>
              </a:rPr>
              <a:t>Who-is-who panel plays a sample</a:t>
            </a:r>
          </a:p>
          <a:p>
            <a:pPr algn="l">
              <a:spcAft>
                <a:spcPts val="400"/>
              </a:spcAft>
            </a:pPr>
            <a:r>
              <a:rPr sz="1300" b="1" i="0">
                <a:solidFill>
                  <a:srgbClr val="A78BFA"/>
                </a:solidFill>
                <a:latin typeface="Segoe UI"/>
              </a:rPr>
              <a:t>▸  </a:t>
            </a:r>
            <a:r>
              <a:rPr sz="1300" b="0" i="0">
                <a:solidFill>
                  <a:srgbClr val="C9D0FF"/>
                </a:solidFill>
                <a:latin typeface="Segoe UI"/>
              </a:rPr>
              <a:t>Shows evidence and attendees</a:t>
            </a:r>
          </a:p>
          <a:p>
            <a:pPr algn="l">
              <a:spcAft>
                <a:spcPts val="400"/>
              </a:spcAft>
            </a:pPr>
            <a:r>
              <a:rPr sz="1300" b="1" i="0">
                <a:solidFill>
                  <a:srgbClr val="A78BFA"/>
                </a:solidFill>
                <a:latin typeface="Segoe UI"/>
              </a:rPr>
              <a:t>▸  </a:t>
            </a:r>
            <a:r>
              <a:rPr sz="1300" b="0" i="0">
                <a:solidFill>
                  <a:srgbClr val="C9D0FF"/>
                </a:solidFill>
                <a:latin typeface="Segoe UI"/>
              </a:rPr>
              <a:t>Apply the name to the whole meeting</a:t>
            </a:r>
          </a:p>
          <a:p>
            <a:pPr algn="l">
              <a:spcAft>
                <a:spcPts val="400"/>
              </a:spcAft>
            </a:pPr>
            <a:r>
              <a:rPr sz="1300" b="1" i="0">
                <a:solidFill>
                  <a:srgbClr val="A78BFA"/>
                </a:solidFill>
                <a:latin typeface="Segoe UI"/>
              </a:rPr>
              <a:t>▸  </a:t>
            </a:r>
            <a:r>
              <a:rPr sz="1300" b="0" i="0">
                <a:solidFill>
                  <a:srgbClr val="C9D0FF"/>
                </a:solidFill>
                <a:latin typeface="Segoe UI"/>
              </a:rPr>
              <a:t>Names are used in tasks and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DATA AND STORAGE</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Where the data lives: SQLite + ChromaDB</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23</a:t>
            </a:r>
          </a:p>
        </p:txBody>
      </p:sp>
      <p:sp>
        <p:nvSpPr>
          <p:cNvPr id="10" name="Rounded Rectangle 9"/>
          <p:cNvSpPr/>
          <p:nvPr/>
        </p:nvSpPr>
        <p:spPr>
          <a:xfrm>
            <a:off x="548640" y="1371600"/>
            <a:ext cx="7498079" cy="6400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371600"/>
            <a:ext cx="7223759"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7406640" cy="548640"/>
          </a:xfrm>
          <a:prstGeom prst="rect">
            <a:avLst/>
          </a:prstGeom>
          <a:noFill/>
        </p:spPr>
        <p:txBody>
          <a:bodyPr wrap="square" lIns="36576" rIns="36576" tIns="18288" bIns="18288" anchor="ctr">
            <a:spAutoFit/>
          </a:bodyPr>
          <a:lstStyle/>
          <a:p>
            <a:pPr algn="ctr"/>
            <a:r>
              <a:rPr sz="1300" b="1" i="0">
                <a:solidFill>
                  <a:srgbClr val="FFFFFF"/>
                </a:solidFill>
                <a:latin typeface="Segoe UI"/>
              </a:rPr>
              <a:t>meetings   ·   every other table is linked by meeting_id</a:t>
            </a:r>
          </a:p>
        </p:txBody>
      </p:sp>
      <p:sp>
        <p:nvSpPr>
          <p:cNvPr id="13" name="Rounded Rectangle 12"/>
          <p:cNvSpPr/>
          <p:nvPr/>
        </p:nvSpPr>
        <p:spPr>
          <a:xfrm>
            <a:off x="548640" y="2240280"/>
            <a:ext cx="1783080" cy="2743200"/>
          </a:xfrm>
          <a:prstGeom prst="roundRect">
            <a:avLst>
              <a:gd name="adj" fmla="val 5000"/>
            </a:avLst>
          </a:prstGeom>
          <a:solidFill>
            <a:srgbClr val="151B4D"/>
          </a:solidFill>
          <a:ln w="1651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240280"/>
            <a:ext cx="1508760"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31720"/>
            <a:ext cx="1600200" cy="365760"/>
          </a:xfrm>
          <a:prstGeom prst="rect">
            <a:avLst/>
          </a:prstGeom>
          <a:noFill/>
        </p:spPr>
        <p:txBody>
          <a:bodyPr wrap="square" lIns="36576" rIns="36576" tIns="18288" bIns="18288" anchor="t">
            <a:spAutoFit/>
          </a:bodyPr>
          <a:lstStyle/>
          <a:p>
            <a:pPr algn="ctr"/>
            <a:r>
              <a:rPr sz="1350" b="1" i="0">
                <a:solidFill>
                  <a:srgbClr val="A9CCFF"/>
                </a:solidFill>
                <a:latin typeface="Segoe UI"/>
              </a:rPr>
              <a:t>Transcript</a:t>
            </a:r>
          </a:p>
        </p:txBody>
      </p:sp>
      <p:sp>
        <p:nvSpPr>
          <p:cNvPr id="16" name="TextBox 15"/>
          <p:cNvSpPr txBox="1"/>
          <p:nvPr/>
        </p:nvSpPr>
        <p:spPr>
          <a:xfrm>
            <a:off x="658368" y="2743200"/>
            <a:ext cx="1600200" cy="2194560"/>
          </a:xfrm>
          <a:prstGeom prst="rect">
            <a:avLst/>
          </a:prstGeom>
          <a:noFill/>
        </p:spPr>
        <p:txBody>
          <a:bodyPr wrap="square" lIns="36576" rIns="36576" tIns="18288" bIns="18288" anchor="t">
            <a:spAutoFit/>
          </a:bodyPr>
          <a:lstStyle/>
          <a:p>
            <a:pPr algn="l">
              <a:spcAft>
                <a:spcPts val="600"/>
              </a:spcAft>
            </a:pPr>
            <a:r>
              <a:rPr sz="1200" b="0" i="0">
                <a:solidFill>
                  <a:srgbClr val="3B82F6"/>
                </a:solidFill>
                <a:latin typeface="Segoe UI"/>
              </a:rPr>
              <a:t>▪ </a:t>
            </a:r>
            <a:r>
              <a:rPr sz="1200" b="0" i="0">
                <a:solidFill>
                  <a:srgbClr val="C9D0FF"/>
                </a:solidFill>
                <a:latin typeface="Segoe UI"/>
              </a:rPr>
              <a:t>segments</a:t>
            </a:r>
          </a:p>
          <a:p>
            <a:pPr algn="l">
              <a:spcAft>
                <a:spcPts val="600"/>
              </a:spcAft>
            </a:pPr>
            <a:r>
              <a:rPr sz="1200" b="0" i="0">
                <a:solidFill>
                  <a:srgbClr val="3B82F6"/>
                </a:solidFill>
                <a:latin typeface="Segoe UI"/>
              </a:rPr>
              <a:t>▪ </a:t>
            </a:r>
            <a:r>
              <a:rPr sz="1200" b="0" i="0">
                <a:solidFill>
                  <a:srgbClr val="C9D0FF"/>
                </a:solidFill>
                <a:latin typeface="Segoe UI"/>
              </a:rPr>
              <a:t>segments_fts (keyword index)</a:t>
            </a:r>
          </a:p>
          <a:p>
            <a:pPr algn="l">
              <a:spcAft>
                <a:spcPts val="600"/>
              </a:spcAft>
            </a:pPr>
            <a:r>
              <a:rPr sz="1200" b="0" i="0">
                <a:solidFill>
                  <a:srgbClr val="3B82F6"/>
                </a:solidFill>
                <a:latin typeface="Segoe UI"/>
              </a:rPr>
              <a:t>▪ </a:t>
            </a:r>
            <a:r>
              <a:rPr sz="1200" b="0" i="0">
                <a:solidFill>
                  <a:srgbClr val="C9D0FF"/>
                </a:solidFill>
                <a:latin typeface="Segoe UI"/>
              </a:rPr>
              <a:t>summaries</a:t>
            </a:r>
          </a:p>
        </p:txBody>
      </p:sp>
      <p:cxnSp>
        <p:nvCxnSpPr>
          <p:cNvPr id="17" name="Connector 16"/>
          <p:cNvCxnSpPr/>
          <p:nvPr/>
        </p:nvCxnSpPr>
        <p:spPr>
          <a:xfrm flipH="1">
            <a:off x="1435607" y="2011680"/>
            <a:ext cx="2862073" cy="228600"/>
          </a:xfrm>
          <a:prstGeom prst="line">
            <a:avLst/>
          </a:prstGeom>
          <a:ln w="1651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468880" y="2240280"/>
            <a:ext cx="1783080" cy="2743200"/>
          </a:xfrm>
          <a:prstGeom prst="roundRect">
            <a:avLst>
              <a:gd name="adj" fmla="val 5000"/>
            </a:avLst>
          </a:prstGeom>
          <a:solidFill>
            <a:srgbClr val="151B4D"/>
          </a:solidFill>
          <a:ln w="1651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06040" y="2240280"/>
            <a:ext cx="1508760"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0" y="2331720"/>
            <a:ext cx="1600200" cy="365760"/>
          </a:xfrm>
          <a:prstGeom prst="rect">
            <a:avLst/>
          </a:prstGeom>
          <a:noFill/>
        </p:spPr>
        <p:txBody>
          <a:bodyPr wrap="square" lIns="36576" rIns="36576" tIns="18288" bIns="18288" anchor="t">
            <a:spAutoFit/>
          </a:bodyPr>
          <a:lstStyle/>
          <a:p>
            <a:pPr algn="ctr"/>
            <a:r>
              <a:rPr sz="1350" b="1" i="0">
                <a:solidFill>
                  <a:srgbClr val="7DF0DF"/>
                </a:solidFill>
                <a:latin typeface="Segoe UI"/>
              </a:rPr>
              <a:t>Insights</a:t>
            </a:r>
          </a:p>
        </p:txBody>
      </p:sp>
      <p:sp>
        <p:nvSpPr>
          <p:cNvPr id="21" name="TextBox 20"/>
          <p:cNvSpPr txBox="1"/>
          <p:nvPr/>
        </p:nvSpPr>
        <p:spPr>
          <a:xfrm>
            <a:off x="2578608" y="2743200"/>
            <a:ext cx="1600200" cy="2194560"/>
          </a:xfrm>
          <a:prstGeom prst="rect">
            <a:avLst/>
          </a:prstGeom>
          <a:noFill/>
        </p:spPr>
        <p:txBody>
          <a:bodyPr wrap="square" lIns="36576" rIns="36576" tIns="18288" bIns="18288" anchor="t">
            <a:spAutoFit/>
          </a:bodyPr>
          <a:lstStyle/>
          <a:p>
            <a:pPr algn="l">
              <a:spcAft>
                <a:spcPts val="600"/>
              </a:spcAft>
            </a:pPr>
            <a:r>
              <a:rPr sz="1200" b="0" i="0">
                <a:solidFill>
                  <a:srgbClr val="14B8A6"/>
                </a:solidFill>
                <a:latin typeface="Segoe UI"/>
              </a:rPr>
              <a:t>▪ </a:t>
            </a:r>
            <a:r>
              <a:rPr sz="1200" b="0" i="0">
                <a:solidFill>
                  <a:srgbClr val="C9D0FF"/>
                </a:solidFill>
                <a:latin typeface="Segoe UI"/>
              </a:rPr>
              <a:t>tasks</a:t>
            </a:r>
          </a:p>
          <a:p>
            <a:pPr algn="l">
              <a:spcAft>
                <a:spcPts val="600"/>
              </a:spcAft>
            </a:pPr>
            <a:r>
              <a:rPr sz="1200" b="0" i="0">
                <a:solidFill>
                  <a:srgbClr val="14B8A6"/>
                </a:solidFill>
                <a:latin typeface="Segoe UI"/>
              </a:rPr>
              <a:t>▪ </a:t>
            </a:r>
            <a:r>
              <a:rPr sz="1200" b="0" i="0">
                <a:solidFill>
                  <a:srgbClr val="C9D0FF"/>
                </a:solidFill>
                <a:latin typeface="Segoe UI"/>
              </a:rPr>
              <a:t>decisions</a:t>
            </a:r>
          </a:p>
          <a:p>
            <a:pPr algn="l">
              <a:spcAft>
                <a:spcPts val="600"/>
              </a:spcAft>
            </a:pPr>
            <a:r>
              <a:rPr sz="1200" b="0" i="0">
                <a:solidFill>
                  <a:srgbClr val="14B8A6"/>
                </a:solidFill>
                <a:latin typeface="Segoe UI"/>
              </a:rPr>
              <a:t>▪ </a:t>
            </a:r>
            <a:r>
              <a:rPr sz="1200" b="0" i="0">
                <a:solidFill>
                  <a:srgbClr val="C9D0FF"/>
                </a:solidFill>
                <a:latin typeface="Segoe UI"/>
              </a:rPr>
              <a:t>events</a:t>
            </a:r>
          </a:p>
          <a:p>
            <a:pPr algn="l">
              <a:spcAft>
                <a:spcPts val="600"/>
              </a:spcAft>
            </a:pPr>
            <a:r>
              <a:rPr sz="1200" b="0" i="0">
                <a:solidFill>
                  <a:srgbClr val="14B8A6"/>
                </a:solidFill>
                <a:latin typeface="Segoe UI"/>
              </a:rPr>
              <a:t>▪ </a:t>
            </a:r>
            <a:r>
              <a:rPr sz="1200" b="0" i="0">
                <a:solidFill>
                  <a:srgbClr val="C9D0FF"/>
                </a:solidFill>
                <a:latin typeface="Segoe UI"/>
              </a:rPr>
              <a:t>analysis_log (reason codes)</a:t>
            </a:r>
          </a:p>
        </p:txBody>
      </p:sp>
      <p:cxnSp>
        <p:nvCxnSpPr>
          <p:cNvPr id="22" name="Connector 21"/>
          <p:cNvCxnSpPr/>
          <p:nvPr/>
        </p:nvCxnSpPr>
        <p:spPr>
          <a:xfrm flipH="1">
            <a:off x="3355848" y="2011680"/>
            <a:ext cx="941832" cy="228600"/>
          </a:xfrm>
          <a:prstGeom prst="line">
            <a:avLst/>
          </a:prstGeom>
          <a:ln w="1651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89120" y="2240280"/>
            <a:ext cx="1783080" cy="2743200"/>
          </a:xfrm>
          <a:prstGeom prst="roundRect">
            <a:avLst>
              <a:gd name="adj" fmla="val 5000"/>
            </a:avLst>
          </a:prstGeom>
          <a:solidFill>
            <a:srgbClr val="151B4D"/>
          </a:solidFill>
          <a:ln w="1651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26280" y="2240280"/>
            <a:ext cx="150876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59" y="2331720"/>
            <a:ext cx="1600200" cy="365760"/>
          </a:xfrm>
          <a:prstGeom prst="rect">
            <a:avLst/>
          </a:prstGeom>
          <a:noFill/>
        </p:spPr>
        <p:txBody>
          <a:bodyPr wrap="square" lIns="36576" rIns="36576" tIns="18288" bIns="18288" anchor="t">
            <a:spAutoFit/>
          </a:bodyPr>
          <a:lstStyle/>
          <a:p>
            <a:pPr algn="ctr"/>
            <a:r>
              <a:rPr sz="1350" b="1" i="0">
                <a:solidFill>
                  <a:srgbClr val="FFD978"/>
                </a:solidFill>
                <a:latin typeface="Segoe UI"/>
              </a:rPr>
              <a:t>Documents</a:t>
            </a:r>
          </a:p>
        </p:txBody>
      </p:sp>
      <p:sp>
        <p:nvSpPr>
          <p:cNvPr id="26" name="TextBox 25"/>
          <p:cNvSpPr txBox="1"/>
          <p:nvPr/>
        </p:nvSpPr>
        <p:spPr>
          <a:xfrm>
            <a:off x="4498848" y="2743200"/>
            <a:ext cx="1600200" cy="2194560"/>
          </a:xfrm>
          <a:prstGeom prst="rect">
            <a:avLst/>
          </a:prstGeom>
          <a:noFill/>
        </p:spPr>
        <p:txBody>
          <a:bodyPr wrap="square" lIns="36576" rIns="36576" tIns="18288" bIns="18288" anchor="t">
            <a:spAutoFit/>
          </a:bodyPr>
          <a:lstStyle/>
          <a:p>
            <a:pPr algn="l">
              <a:spcAft>
                <a:spcPts val="600"/>
              </a:spcAft>
            </a:pPr>
            <a:r>
              <a:rPr sz="1200" b="0" i="0">
                <a:solidFill>
                  <a:srgbClr val="F59E0B"/>
                </a:solidFill>
                <a:latin typeface="Segoe UI"/>
              </a:rPr>
              <a:t>▪ </a:t>
            </a:r>
            <a:r>
              <a:rPr sz="1200" b="0" i="0">
                <a:solidFill>
                  <a:srgbClr val="C9D0FF"/>
                </a:solidFill>
                <a:latin typeface="Segoe UI"/>
              </a:rPr>
              <a:t>mom (minutes)</a:t>
            </a:r>
          </a:p>
          <a:p>
            <a:pPr algn="l">
              <a:spcAft>
                <a:spcPts val="600"/>
              </a:spcAft>
            </a:pPr>
            <a:r>
              <a:rPr sz="1200" b="0" i="0">
                <a:solidFill>
                  <a:srgbClr val="F59E0B"/>
                </a:solidFill>
                <a:latin typeface="Segoe UI"/>
              </a:rPr>
              <a:t>▪ </a:t>
            </a:r>
            <a:r>
              <a:rPr sz="1200" b="0" i="0">
                <a:solidFill>
                  <a:srgbClr val="C9D0FF"/>
                </a:solidFill>
                <a:latin typeface="Segoe UI"/>
              </a:rPr>
              <a:t>followups</a:t>
            </a:r>
          </a:p>
          <a:p>
            <a:pPr algn="l">
              <a:spcAft>
                <a:spcPts val="600"/>
              </a:spcAft>
            </a:pPr>
            <a:r>
              <a:rPr sz="1200" b="0" i="0">
                <a:solidFill>
                  <a:srgbClr val="F59E0B"/>
                </a:solidFill>
                <a:latin typeface="Segoe UI"/>
              </a:rPr>
              <a:t>▪ </a:t>
            </a:r>
            <a:r>
              <a:rPr sz="1200" b="0" i="0">
                <a:solidFill>
                  <a:srgbClr val="C9D0FF"/>
                </a:solidFill>
                <a:latin typeface="Segoe UI"/>
              </a:rPr>
              <a:t>email_log</a:t>
            </a:r>
          </a:p>
        </p:txBody>
      </p:sp>
      <p:cxnSp>
        <p:nvCxnSpPr>
          <p:cNvPr id="27" name="Connector 26"/>
          <p:cNvCxnSpPr/>
          <p:nvPr/>
        </p:nvCxnSpPr>
        <p:spPr>
          <a:xfrm>
            <a:off x="4297680" y="2011680"/>
            <a:ext cx="978408" cy="228600"/>
          </a:xfrm>
          <a:prstGeom prst="line">
            <a:avLst/>
          </a:prstGeom>
          <a:ln w="1651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309360" y="2240280"/>
            <a:ext cx="1783080" cy="2743200"/>
          </a:xfrm>
          <a:prstGeom prst="roundRect">
            <a:avLst>
              <a:gd name="adj" fmla="val 5000"/>
            </a:avLst>
          </a:prstGeom>
          <a:solidFill>
            <a:srgbClr val="151B4D"/>
          </a:solidFill>
          <a:ln w="1651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46520" y="2240280"/>
            <a:ext cx="1508760"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2331720"/>
            <a:ext cx="1600200" cy="365760"/>
          </a:xfrm>
          <a:prstGeom prst="rect">
            <a:avLst/>
          </a:prstGeom>
          <a:noFill/>
        </p:spPr>
        <p:txBody>
          <a:bodyPr wrap="square" lIns="36576" rIns="36576" tIns="18288" bIns="18288" anchor="t">
            <a:spAutoFit/>
          </a:bodyPr>
          <a:lstStyle/>
          <a:p>
            <a:pPr algn="ctr"/>
            <a:r>
              <a:rPr sz="1350" b="1" i="0">
                <a:solidFill>
                  <a:srgbClr val="FFB7DE"/>
                </a:solidFill>
                <a:latin typeface="Segoe UI"/>
              </a:rPr>
              <a:t>Chat &amp; people</a:t>
            </a:r>
          </a:p>
        </p:txBody>
      </p:sp>
      <p:sp>
        <p:nvSpPr>
          <p:cNvPr id="31" name="TextBox 30"/>
          <p:cNvSpPr txBox="1"/>
          <p:nvPr/>
        </p:nvSpPr>
        <p:spPr>
          <a:xfrm>
            <a:off x="6419088" y="2743200"/>
            <a:ext cx="1600200" cy="2194560"/>
          </a:xfrm>
          <a:prstGeom prst="rect">
            <a:avLst/>
          </a:prstGeom>
          <a:noFill/>
        </p:spPr>
        <p:txBody>
          <a:bodyPr wrap="square" lIns="36576" rIns="36576" tIns="18288" bIns="18288" anchor="t">
            <a:spAutoFit/>
          </a:bodyPr>
          <a:lstStyle/>
          <a:p>
            <a:pPr algn="l">
              <a:spcAft>
                <a:spcPts val="600"/>
              </a:spcAft>
            </a:pPr>
            <a:r>
              <a:rPr sz="1200" b="0" i="0">
                <a:solidFill>
                  <a:srgbClr val="F472B6"/>
                </a:solidFill>
                <a:latin typeface="Segoe UI"/>
              </a:rPr>
              <a:t>▪ </a:t>
            </a:r>
            <a:r>
              <a:rPr sz="1200" b="0" i="0">
                <a:solidFill>
                  <a:srgbClr val="C9D0FF"/>
                </a:solidFill>
                <a:latin typeface="Segoe UI"/>
              </a:rPr>
              <a:t>chat_sessions</a:t>
            </a:r>
          </a:p>
          <a:p>
            <a:pPr algn="l">
              <a:spcAft>
                <a:spcPts val="600"/>
              </a:spcAft>
            </a:pPr>
            <a:r>
              <a:rPr sz="1200" b="0" i="0">
                <a:solidFill>
                  <a:srgbClr val="F472B6"/>
                </a:solidFill>
                <a:latin typeface="Segoe UI"/>
              </a:rPr>
              <a:t>▪ </a:t>
            </a:r>
            <a:r>
              <a:rPr sz="1200" b="0" i="0">
                <a:solidFill>
                  <a:srgbClr val="C9D0FF"/>
                </a:solidFill>
                <a:latin typeface="Segoe UI"/>
              </a:rPr>
              <a:t>chat_messages</a:t>
            </a:r>
          </a:p>
          <a:p>
            <a:pPr algn="l">
              <a:spcAft>
                <a:spcPts val="600"/>
              </a:spcAft>
            </a:pPr>
            <a:r>
              <a:rPr sz="1200" b="0" i="0">
                <a:solidFill>
                  <a:srgbClr val="F472B6"/>
                </a:solidFill>
                <a:latin typeface="Segoe UI"/>
              </a:rPr>
              <a:t>▪ </a:t>
            </a:r>
            <a:r>
              <a:rPr sz="1200" b="0" i="0">
                <a:solidFill>
                  <a:srgbClr val="C9D0FF"/>
                </a:solidFill>
                <a:latin typeface="Segoe UI"/>
              </a:rPr>
              <a:t>voiceprints</a:t>
            </a:r>
          </a:p>
          <a:p>
            <a:pPr algn="l">
              <a:spcAft>
                <a:spcPts val="600"/>
              </a:spcAft>
            </a:pPr>
            <a:r>
              <a:rPr sz="1200" b="0" i="0">
                <a:solidFill>
                  <a:srgbClr val="F472B6"/>
                </a:solidFill>
                <a:latin typeface="Segoe UI"/>
              </a:rPr>
              <a:t>▪ </a:t>
            </a:r>
            <a:r>
              <a:rPr sz="1200" b="0" i="0">
                <a:solidFill>
                  <a:srgbClr val="C9D0FF"/>
                </a:solidFill>
                <a:latin typeface="Segoe UI"/>
              </a:rPr>
              <a:t>settings</a:t>
            </a:r>
          </a:p>
        </p:txBody>
      </p:sp>
      <p:cxnSp>
        <p:nvCxnSpPr>
          <p:cNvPr id="32" name="Connector 31"/>
          <p:cNvCxnSpPr/>
          <p:nvPr/>
        </p:nvCxnSpPr>
        <p:spPr>
          <a:xfrm>
            <a:off x="4297680" y="2011680"/>
            <a:ext cx="2898648" cy="228600"/>
          </a:xfrm>
          <a:prstGeom prst="line">
            <a:avLst/>
          </a:prstGeom>
          <a:ln w="1651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366760" y="1371600"/>
            <a:ext cx="3291840" cy="3611880"/>
          </a:xfrm>
          <a:prstGeom prst="roundRect">
            <a:avLst>
              <a:gd name="adj" fmla="val 5000"/>
            </a:avLst>
          </a:prstGeom>
          <a:solidFill>
            <a:srgbClr val="151B4D"/>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03920" y="1371600"/>
            <a:ext cx="301752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58200" y="1463040"/>
            <a:ext cx="3108960" cy="365760"/>
          </a:xfrm>
          <a:prstGeom prst="rect">
            <a:avLst/>
          </a:prstGeom>
          <a:noFill/>
        </p:spPr>
        <p:txBody>
          <a:bodyPr wrap="square" lIns="36576" rIns="36576" tIns="18288" bIns="18288" anchor="t">
            <a:spAutoFit/>
          </a:bodyPr>
          <a:lstStyle/>
          <a:p>
            <a:pPr algn="ctr"/>
            <a:r>
              <a:rPr sz="1400" b="1" i="0">
                <a:solidFill>
                  <a:srgbClr val="8CF0C6"/>
                </a:solidFill>
                <a:latin typeface="Segoe UI"/>
              </a:rPr>
              <a:t>ChromaDB (data/chroma)</a:t>
            </a:r>
          </a:p>
        </p:txBody>
      </p:sp>
      <p:sp>
        <p:nvSpPr>
          <p:cNvPr id="36" name="TextBox 35"/>
          <p:cNvSpPr txBox="1"/>
          <p:nvPr/>
        </p:nvSpPr>
        <p:spPr>
          <a:xfrm>
            <a:off x="8503920" y="1920240"/>
            <a:ext cx="3017520" cy="3017520"/>
          </a:xfrm>
          <a:prstGeom prst="rect">
            <a:avLst/>
          </a:prstGeom>
          <a:noFill/>
        </p:spPr>
        <p:txBody>
          <a:bodyPr wrap="square" lIns="36576" rIns="36576" tIns="18288" bIns="18288" anchor="t">
            <a:spAutoFit/>
          </a:bodyPr>
          <a:lstStyle/>
          <a:p>
            <a:pPr algn="l">
              <a:spcAft>
                <a:spcPts val="800"/>
              </a:spcAft>
            </a:pPr>
            <a:r>
              <a:rPr sz="1250" b="0" i="0">
                <a:solidFill>
                  <a:srgbClr val="34D399"/>
                </a:solidFill>
                <a:latin typeface="Segoe UI"/>
              </a:rPr>
              <a:t>▪ </a:t>
            </a:r>
            <a:r>
              <a:rPr sz="1250" b="0" i="0">
                <a:solidFill>
                  <a:srgbClr val="C9D0FF"/>
                </a:solidFill>
                <a:latin typeface="Segoe UI"/>
              </a:rPr>
              <a:t>transcript chunks, ~110 words</a:t>
            </a:r>
          </a:p>
          <a:p>
            <a:pPr algn="l">
              <a:spcAft>
                <a:spcPts val="800"/>
              </a:spcAft>
            </a:pPr>
            <a:r>
              <a:rPr sz="1250" b="0" i="0">
                <a:solidFill>
                  <a:srgbClr val="34D399"/>
                </a:solidFill>
                <a:latin typeface="Segoe UI"/>
              </a:rPr>
              <a:t>▪ </a:t>
            </a:r>
            <a:r>
              <a:rPr sz="1250" b="0" i="0">
                <a:solidFill>
                  <a:srgbClr val="C9D0FF"/>
                </a:solidFill>
                <a:latin typeface="Segoe UI"/>
              </a:rPr>
              <a:t>decisions and tasks as vectors</a:t>
            </a:r>
          </a:p>
          <a:p>
            <a:pPr algn="l">
              <a:spcAft>
                <a:spcPts val="800"/>
              </a:spcAft>
            </a:pPr>
            <a:r>
              <a:rPr sz="1250" b="0" i="0">
                <a:solidFill>
                  <a:srgbClr val="34D399"/>
                </a:solidFill>
                <a:latin typeface="Segoe UI"/>
              </a:rPr>
              <a:t>▪ </a:t>
            </a:r>
            <a:r>
              <a:rPr sz="1250" b="0" i="0">
                <a:solidFill>
                  <a:srgbClr val="C9D0FF"/>
                </a:solidFill>
                <a:latin typeface="Segoe UI"/>
              </a:rPr>
              <a:t>cosine similarity</a:t>
            </a:r>
          </a:p>
          <a:p>
            <a:pPr algn="l">
              <a:spcAft>
                <a:spcPts val="800"/>
              </a:spcAft>
            </a:pPr>
            <a:r>
              <a:rPr sz="1250" b="0" i="0">
                <a:solidFill>
                  <a:srgbClr val="34D399"/>
                </a:solidFill>
                <a:latin typeface="Segoe UI"/>
              </a:rPr>
              <a:t>▪ </a:t>
            </a:r>
            <a:r>
              <a:rPr sz="1250" b="0" i="0">
                <a:solidFill>
                  <a:srgbClr val="C9D0FF"/>
                </a:solidFill>
                <a:latin typeface="Segoe UI"/>
              </a:rPr>
              <a:t>ONNX MiniLM-L6-v2, 384 dimensions</a:t>
            </a:r>
          </a:p>
          <a:p>
            <a:pPr algn="l">
              <a:spcAft>
                <a:spcPts val="800"/>
              </a:spcAft>
            </a:pPr>
            <a:r>
              <a:rPr sz="1250" b="0" i="0">
                <a:solidFill>
                  <a:srgbClr val="34D399"/>
                </a:solidFill>
                <a:latin typeface="Segoe UI"/>
              </a:rPr>
              <a:t>▪ </a:t>
            </a:r>
            <a:r>
              <a:rPr sz="1250" b="0" i="0">
                <a:solidFill>
                  <a:srgbClr val="C9D0FF"/>
                </a:solidFill>
                <a:latin typeface="Segoe UI"/>
              </a:rPr>
              <a:t>no PyTorch needed → fits ~1 GB RAM</a:t>
            </a:r>
          </a:p>
        </p:txBody>
      </p:sp>
      <p:sp>
        <p:nvSpPr>
          <p:cNvPr id="37" name="Rounded Rectangle 36"/>
          <p:cNvSpPr/>
          <p:nvPr/>
        </p:nvSpPr>
        <p:spPr>
          <a:xfrm>
            <a:off x="548640" y="5212080"/>
            <a:ext cx="5486400" cy="1005840"/>
          </a:xfrm>
          <a:prstGeom prst="roundRect">
            <a:avLst>
              <a:gd name="adj" fmla="val 12000"/>
            </a:avLst>
          </a:prstGeom>
          <a:solidFill>
            <a:srgbClr val="1C1A3A"/>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285232"/>
            <a:ext cx="64008" cy="85953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808" y="5248656"/>
            <a:ext cx="5166360" cy="932688"/>
          </a:xfrm>
          <a:prstGeom prst="rect">
            <a:avLst/>
          </a:prstGeom>
          <a:noFill/>
        </p:spPr>
        <p:txBody>
          <a:bodyPr wrap="square" lIns="36576" rIns="36576" tIns="18288" bIns="18288" anchor="ctr">
            <a:spAutoFit/>
          </a:bodyPr>
          <a:lstStyle/>
          <a:p>
            <a:pPr algn="l"/>
            <a:r>
              <a:rPr sz="1100" b="1" i="0">
                <a:solidFill>
                  <a:srgbClr val="A9CCFF"/>
                </a:solidFill>
                <a:latin typeface="Segoe UI"/>
              </a:rPr>
              <a:t>WHY SQLITE FTS5   </a:t>
            </a:r>
            <a:r>
              <a:rPr sz="1200" b="0" i="0">
                <a:solidFill>
                  <a:srgbClr val="C9D0FF"/>
                </a:solidFill>
                <a:latin typeface="Segoe UI"/>
              </a:rPr>
              <a:t>Keyword search with stemming: "deploying" finds "deployed". Zero server to run.</a:t>
            </a:r>
          </a:p>
        </p:txBody>
      </p:sp>
      <p:sp>
        <p:nvSpPr>
          <p:cNvPr id="40" name="Rounded Rectangle 39"/>
          <p:cNvSpPr/>
          <p:nvPr/>
        </p:nvSpPr>
        <p:spPr>
          <a:xfrm>
            <a:off x="6172200" y="5212080"/>
            <a:ext cx="5486400" cy="1005840"/>
          </a:xfrm>
          <a:prstGeom prst="roundRect">
            <a:avLst>
              <a:gd name="adj" fmla="val 12000"/>
            </a:avLst>
          </a:prstGeom>
          <a:solidFill>
            <a:srgbClr val="1C1A3A"/>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72200" y="5285232"/>
            <a:ext cx="64008" cy="8595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73368" y="5248656"/>
            <a:ext cx="5166360" cy="932688"/>
          </a:xfrm>
          <a:prstGeom prst="rect">
            <a:avLst/>
          </a:prstGeom>
          <a:noFill/>
        </p:spPr>
        <p:txBody>
          <a:bodyPr wrap="square" lIns="36576" rIns="36576" tIns="18288" bIns="18288" anchor="ctr">
            <a:spAutoFit/>
          </a:bodyPr>
          <a:lstStyle/>
          <a:p>
            <a:pPr algn="l"/>
            <a:r>
              <a:rPr sz="1100" b="1" i="0">
                <a:solidFill>
                  <a:srgbClr val="FFD978"/>
                </a:solidFill>
                <a:latin typeface="Segoe UI"/>
              </a:rPr>
              <a:t>BACKUP   </a:t>
            </a:r>
            <a:r>
              <a:rPr sz="1200" b="0" i="0">
                <a:solidFill>
                  <a:srgbClr val="C9D0FF"/>
                </a:solidFill>
                <a:latin typeface="Segoe UI"/>
              </a:rPr>
              <a:t>Free hosting disks are temporary, so Settings → Data &amp; backup exports everything as a zip and restores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SEARCH AND CHAT</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Chat and search that cannot make things up (RAG)</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24</a:t>
            </a:r>
          </a:p>
        </p:txBody>
      </p:sp>
      <p:sp>
        <p:nvSpPr>
          <p:cNvPr id="10" name="Rounded Rectangle 9"/>
          <p:cNvSpPr/>
          <p:nvPr/>
        </p:nvSpPr>
        <p:spPr>
          <a:xfrm>
            <a:off x="548640" y="2697480"/>
            <a:ext cx="1737360" cy="100584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697480"/>
            <a:ext cx="1463039"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43200"/>
            <a:ext cx="1645919" cy="914400"/>
          </a:xfrm>
          <a:prstGeom prst="rect">
            <a:avLst/>
          </a:prstGeom>
          <a:noFill/>
        </p:spPr>
        <p:txBody>
          <a:bodyPr wrap="square" lIns="36576" rIns="36576" tIns="18288" bIns="18288" anchor="ctr">
            <a:spAutoFit/>
          </a:bodyPr>
          <a:lstStyle/>
          <a:p>
            <a:pPr algn="ctr"/>
            <a:r>
              <a:rPr sz="1300" b="1" i="0">
                <a:solidFill>
                  <a:srgbClr val="FFFFFF"/>
                </a:solidFill>
                <a:latin typeface="Segoe UI"/>
              </a:rPr>
              <a:t>Your question</a:t>
            </a:r>
          </a:p>
        </p:txBody>
      </p:sp>
      <p:sp>
        <p:nvSpPr>
          <p:cNvPr id="13" name="Rounded Rectangle 12"/>
          <p:cNvSpPr/>
          <p:nvPr/>
        </p:nvSpPr>
        <p:spPr>
          <a:xfrm>
            <a:off x="2743200" y="2697480"/>
            <a:ext cx="1828800" cy="100584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2697480"/>
            <a:ext cx="155448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2761488"/>
            <a:ext cx="1737360" cy="422452"/>
          </a:xfrm>
          <a:prstGeom prst="rect">
            <a:avLst/>
          </a:prstGeom>
          <a:noFill/>
        </p:spPr>
        <p:txBody>
          <a:bodyPr wrap="square" lIns="36576" rIns="36576" tIns="18288" bIns="18288" anchor="ctr">
            <a:spAutoFit/>
          </a:bodyPr>
          <a:lstStyle/>
          <a:p>
            <a:pPr algn="ctr"/>
            <a:r>
              <a:rPr sz="1300" b="1" i="0">
                <a:solidFill>
                  <a:srgbClr val="FFFFFF"/>
                </a:solidFill>
                <a:latin typeface="Segoe UI"/>
              </a:rPr>
              <a:t>Query router</a:t>
            </a:r>
          </a:p>
        </p:txBody>
      </p:sp>
      <p:sp>
        <p:nvSpPr>
          <p:cNvPr id="16" name="TextBox 15"/>
          <p:cNvSpPr txBox="1"/>
          <p:nvPr/>
        </p:nvSpPr>
        <p:spPr>
          <a:xfrm>
            <a:off x="2807208" y="3183940"/>
            <a:ext cx="1700784" cy="473659"/>
          </a:xfrm>
          <a:prstGeom prst="rect">
            <a:avLst/>
          </a:prstGeom>
          <a:noFill/>
        </p:spPr>
        <p:txBody>
          <a:bodyPr wrap="square" lIns="36576" rIns="36576" tIns="18288" bIns="18288" anchor="ctr">
            <a:spAutoFit/>
          </a:bodyPr>
          <a:lstStyle/>
          <a:p>
            <a:pPr algn="ctr"/>
            <a:r>
              <a:rPr sz="950" b="0" i="0">
                <a:solidFill>
                  <a:srgbClr val="A9CCFF"/>
                </a:solidFill>
                <a:latin typeface="Segoe UI"/>
              </a:rPr>
              <a:t>tasks · decisions · events · summary · phrase</a:t>
            </a:r>
          </a:p>
        </p:txBody>
      </p:sp>
      <p:sp>
        <p:nvSpPr>
          <p:cNvPr id="17" name="Rounded Rectangle 16"/>
          <p:cNvSpPr/>
          <p:nvPr/>
        </p:nvSpPr>
        <p:spPr>
          <a:xfrm>
            <a:off x="5120640" y="1371600"/>
            <a:ext cx="2377440" cy="8686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57800" y="1371600"/>
            <a:ext cx="210312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1435608"/>
            <a:ext cx="2286000" cy="364845"/>
          </a:xfrm>
          <a:prstGeom prst="rect">
            <a:avLst/>
          </a:prstGeom>
          <a:noFill/>
        </p:spPr>
        <p:txBody>
          <a:bodyPr wrap="square" lIns="36576" rIns="36576" tIns="18288" bIns="18288" anchor="ctr">
            <a:spAutoFit/>
          </a:bodyPr>
          <a:lstStyle/>
          <a:p>
            <a:pPr algn="ctr"/>
            <a:r>
              <a:rPr sz="1250" b="1" i="0">
                <a:solidFill>
                  <a:srgbClr val="FFFFFF"/>
                </a:solidFill>
                <a:latin typeface="Segoe UI"/>
              </a:rPr>
              <a:t>Semantic search</a:t>
            </a:r>
          </a:p>
        </p:txBody>
      </p:sp>
      <p:sp>
        <p:nvSpPr>
          <p:cNvPr id="20" name="TextBox 19"/>
          <p:cNvSpPr txBox="1"/>
          <p:nvPr/>
        </p:nvSpPr>
        <p:spPr>
          <a:xfrm>
            <a:off x="5184648" y="1800453"/>
            <a:ext cx="2249424" cy="394106"/>
          </a:xfrm>
          <a:prstGeom prst="rect">
            <a:avLst/>
          </a:prstGeom>
          <a:noFill/>
        </p:spPr>
        <p:txBody>
          <a:bodyPr wrap="square" lIns="36576" rIns="36576" tIns="18288" bIns="18288" anchor="ctr">
            <a:spAutoFit/>
          </a:bodyPr>
          <a:lstStyle/>
          <a:p>
            <a:pPr algn="ctr"/>
            <a:r>
              <a:rPr sz="1000" b="0" i="0">
                <a:solidFill>
                  <a:srgbClr val="7DF0DF"/>
                </a:solidFill>
                <a:latin typeface="Segoe UI"/>
              </a:rPr>
              <a:t>ChromaDB meaning vectors</a:t>
            </a:r>
          </a:p>
        </p:txBody>
      </p:sp>
      <p:sp>
        <p:nvSpPr>
          <p:cNvPr id="21" name="Rounded Rectangle 20"/>
          <p:cNvSpPr/>
          <p:nvPr/>
        </p:nvSpPr>
        <p:spPr>
          <a:xfrm>
            <a:off x="5120640" y="2697480"/>
            <a:ext cx="2377440" cy="8686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57800" y="2697480"/>
            <a:ext cx="210312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761488"/>
            <a:ext cx="2286000" cy="364845"/>
          </a:xfrm>
          <a:prstGeom prst="rect">
            <a:avLst/>
          </a:prstGeom>
          <a:noFill/>
        </p:spPr>
        <p:txBody>
          <a:bodyPr wrap="square" lIns="36576" rIns="36576" tIns="18288" bIns="18288" anchor="ctr">
            <a:spAutoFit/>
          </a:bodyPr>
          <a:lstStyle/>
          <a:p>
            <a:pPr algn="ctr"/>
            <a:r>
              <a:rPr sz="1250" b="1" i="0">
                <a:solidFill>
                  <a:srgbClr val="FFFFFF"/>
                </a:solidFill>
                <a:latin typeface="Segoe UI"/>
              </a:rPr>
              <a:t>Keyword search</a:t>
            </a:r>
          </a:p>
        </p:txBody>
      </p:sp>
      <p:sp>
        <p:nvSpPr>
          <p:cNvPr id="24" name="TextBox 23"/>
          <p:cNvSpPr txBox="1"/>
          <p:nvPr/>
        </p:nvSpPr>
        <p:spPr>
          <a:xfrm>
            <a:off x="5184648" y="3126333"/>
            <a:ext cx="2249424" cy="394106"/>
          </a:xfrm>
          <a:prstGeom prst="rect">
            <a:avLst/>
          </a:prstGeom>
          <a:noFill/>
        </p:spPr>
        <p:txBody>
          <a:bodyPr wrap="square" lIns="36576" rIns="36576" tIns="18288" bIns="18288" anchor="ctr">
            <a:spAutoFit/>
          </a:bodyPr>
          <a:lstStyle/>
          <a:p>
            <a:pPr algn="ctr"/>
            <a:r>
              <a:rPr sz="1000" b="0" i="0">
                <a:solidFill>
                  <a:srgbClr val="7DF0DF"/>
                </a:solidFill>
                <a:latin typeface="Segoe UI"/>
              </a:rPr>
              <a:t>SQLite FTS5, stemmed</a:t>
            </a:r>
          </a:p>
        </p:txBody>
      </p:sp>
      <p:sp>
        <p:nvSpPr>
          <p:cNvPr id="25" name="Rounded Rectangle 24"/>
          <p:cNvSpPr/>
          <p:nvPr/>
        </p:nvSpPr>
        <p:spPr>
          <a:xfrm>
            <a:off x="5120640" y="4023360"/>
            <a:ext cx="2377440" cy="868680"/>
          </a:xfrm>
          <a:prstGeom prst="roundRect">
            <a:avLst>
              <a:gd name="adj" fmla="val 10000"/>
            </a:avLst>
          </a:prstGeom>
          <a:solidFill>
            <a:srgbClr val="0B3238"/>
          </a:solidFill>
          <a:ln w="2032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57800" y="4023360"/>
            <a:ext cx="210312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66359" y="4087368"/>
            <a:ext cx="2286000" cy="364845"/>
          </a:xfrm>
          <a:prstGeom prst="rect">
            <a:avLst/>
          </a:prstGeom>
          <a:noFill/>
        </p:spPr>
        <p:txBody>
          <a:bodyPr wrap="square" lIns="36576" rIns="36576" tIns="18288" bIns="18288" anchor="ctr">
            <a:spAutoFit/>
          </a:bodyPr>
          <a:lstStyle/>
          <a:p>
            <a:pPr algn="ctr"/>
            <a:r>
              <a:rPr sz="1250" b="1" i="0">
                <a:solidFill>
                  <a:srgbClr val="FFFFFF"/>
                </a:solidFill>
                <a:latin typeface="Segoe UI"/>
              </a:rPr>
              <a:t>Structured facts</a:t>
            </a:r>
          </a:p>
        </p:txBody>
      </p:sp>
      <p:sp>
        <p:nvSpPr>
          <p:cNvPr id="28" name="TextBox 27"/>
          <p:cNvSpPr txBox="1"/>
          <p:nvPr/>
        </p:nvSpPr>
        <p:spPr>
          <a:xfrm>
            <a:off x="5184648" y="4452213"/>
            <a:ext cx="2249424" cy="394106"/>
          </a:xfrm>
          <a:prstGeom prst="rect">
            <a:avLst/>
          </a:prstGeom>
          <a:noFill/>
        </p:spPr>
        <p:txBody>
          <a:bodyPr wrap="square" lIns="36576" rIns="36576" tIns="18288" bIns="18288" anchor="ctr">
            <a:spAutoFit/>
          </a:bodyPr>
          <a:lstStyle/>
          <a:p>
            <a:pPr algn="ctr"/>
            <a:r>
              <a:rPr sz="1000" b="0" i="0">
                <a:solidFill>
                  <a:srgbClr val="7DF0DF"/>
                </a:solidFill>
                <a:latin typeface="Segoe UI"/>
              </a:rPr>
              <a:t>tasks · decisions · events · summaries</a:t>
            </a:r>
          </a:p>
        </p:txBody>
      </p:sp>
      <p:sp>
        <p:nvSpPr>
          <p:cNvPr id="29" name="Rounded Rectangle 28"/>
          <p:cNvSpPr/>
          <p:nvPr/>
        </p:nvSpPr>
        <p:spPr>
          <a:xfrm>
            <a:off x="8138160" y="2697480"/>
            <a:ext cx="1691640" cy="914400"/>
          </a:xfrm>
          <a:prstGeom prst="roundRect">
            <a:avLst>
              <a:gd name="adj" fmla="val 10000"/>
            </a:avLst>
          </a:prstGeom>
          <a:solidFill>
            <a:srgbClr val="10285C"/>
          </a:solidFill>
          <a:ln w="2032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75320" y="2697480"/>
            <a:ext cx="1417320"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80" y="2761488"/>
            <a:ext cx="1600200" cy="384048"/>
          </a:xfrm>
          <a:prstGeom prst="rect">
            <a:avLst/>
          </a:prstGeom>
          <a:noFill/>
        </p:spPr>
        <p:txBody>
          <a:bodyPr wrap="square" lIns="36576" rIns="36576" tIns="18288" bIns="18288" anchor="ctr">
            <a:spAutoFit/>
          </a:bodyPr>
          <a:lstStyle/>
          <a:p>
            <a:pPr algn="ctr"/>
            <a:r>
              <a:rPr sz="1250" b="1" i="0">
                <a:solidFill>
                  <a:srgbClr val="FFFFFF"/>
                </a:solidFill>
                <a:latin typeface="Segoe UI"/>
              </a:rPr>
              <a:t>Fuse (RRF)</a:t>
            </a:r>
          </a:p>
        </p:txBody>
      </p:sp>
      <p:sp>
        <p:nvSpPr>
          <p:cNvPr id="32" name="TextBox 31"/>
          <p:cNvSpPr txBox="1"/>
          <p:nvPr/>
        </p:nvSpPr>
        <p:spPr>
          <a:xfrm>
            <a:off x="8202168" y="3145536"/>
            <a:ext cx="1563624" cy="420624"/>
          </a:xfrm>
          <a:prstGeom prst="rect">
            <a:avLst/>
          </a:prstGeom>
          <a:noFill/>
        </p:spPr>
        <p:txBody>
          <a:bodyPr wrap="square" lIns="36576" rIns="36576" tIns="18288" bIns="18288" anchor="ctr">
            <a:spAutoFit/>
          </a:bodyPr>
          <a:lstStyle/>
          <a:p>
            <a:pPr algn="ctr"/>
            <a:r>
              <a:rPr sz="1000" b="0" i="0">
                <a:solidFill>
                  <a:srgbClr val="A9CCFF"/>
                </a:solidFill>
                <a:latin typeface="Segoe UI"/>
              </a:rPr>
              <a:t>rank fusion, k = 60</a:t>
            </a:r>
          </a:p>
        </p:txBody>
      </p:sp>
      <p:sp>
        <p:nvSpPr>
          <p:cNvPr id="33" name="Rounded Rectangle 32"/>
          <p:cNvSpPr/>
          <p:nvPr/>
        </p:nvSpPr>
        <p:spPr>
          <a:xfrm>
            <a:off x="10058400" y="2697480"/>
            <a:ext cx="1600200" cy="91440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95560" y="2697480"/>
            <a:ext cx="132588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4120" y="2761488"/>
            <a:ext cx="1508760" cy="384048"/>
          </a:xfrm>
          <a:prstGeom prst="rect">
            <a:avLst/>
          </a:prstGeom>
          <a:noFill/>
        </p:spPr>
        <p:txBody>
          <a:bodyPr wrap="square" lIns="36576" rIns="36576" tIns="18288" bIns="18288" anchor="ctr">
            <a:spAutoFit/>
          </a:bodyPr>
          <a:lstStyle/>
          <a:p>
            <a:pPr algn="ctr"/>
            <a:r>
              <a:rPr sz="1200" b="1" i="0">
                <a:solidFill>
                  <a:srgbClr val="FFFFFF"/>
                </a:solidFill>
                <a:latin typeface="Segoe UI"/>
              </a:rPr>
              <a:t>Relevance gate</a:t>
            </a:r>
          </a:p>
        </p:txBody>
      </p:sp>
      <p:sp>
        <p:nvSpPr>
          <p:cNvPr id="36" name="TextBox 35"/>
          <p:cNvSpPr txBox="1"/>
          <p:nvPr/>
        </p:nvSpPr>
        <p:spPr>
          <a:xfrm>
            <a:off x="10122408" y="3145536"/>
            <a:ext cx="1472184" cy="420624"/>
          </a:xfrm>
          <a:prstGeom prst="rect">
            <a:avLst/>
          </a:prstGeom>
          <a:noFill/>
        </p:spPr>
        <p:txBody>
          <a:bodyPr wrap="square" lIns="36576" rIns="36576" tIns="18288" bIns="18288" anchor="ctr">
            <a:spAutoFit/>
          </a:bodyPr>
          <a:lstStyle/>
          <a:p>
            <a:pPr algn="ctr"/>
            <a:r>
              <a:rPr sz="950" b="0" i="0">
                <a:solidFill>
                  <a:srgbClr val="FFD978"/>
                </a:solidFill>
                <a:latin typeface="Segoe UI"/>
              </a:rPr>
              <a:t>sim ≥ 0.28 or 50% words</a:t>
            </a:r>
          </a:p>
        </p:txBody>
      </p:sp>
      <p:cxnSp>
        <p:nvCxnSpPr>
          <p:cNvPr id="37" name="Connector 36"/>
          <p:cNvCxnSpPr/>
          <p:nvPr/>
        </p:nvCxnSpPr>
        <p:spPr>
          <a:xfrm>
            <a:off x="2286000" y="3200400"/>
            <a:ext cx="4572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72000" y="3200400"/>
            <a:ext cx="27432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846320" y="1801368"/>
            <a:ext cx="0" cy="1399032"/>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846320" y="1801368"/>
            <a:ext cx="27432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572000" y="3200400"/>
            <a:ext cx="27432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846320" y="3127248"/>
            <a:ext cx="0" cy="73152"/>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46320" y="3127248"/>
            <a:ext cx="27432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572000" y="3200400"/>
            <a:ext cx="274320"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846320" y="3200400"/>
            <a:ext cx="0" cy="1252728"/>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846320" y="4453128"/>
            <a:ext cx="27432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498079" y="1801368"/>
            <a:ext cx="320041"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18120" y="1801368"/>
            <a:ext cx="0" cy="1353312"/>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818120" y="3154680"/>
            <a:ext cx="3200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98079" y="3127248"/>
            <a:ext cx="320041"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818120" y="3127248"/>
            <a:ext cx="0" cy="27432"/>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818120" y="3154680"/>
            <a:ext cx="3200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498079" y="4453128"/>
            <a:ext cx="320041" cy="0"/>
          </a:xfrm>
          <a:prstGeom prst="line">
            <a:avLst/>
          </a:prstGeom>
          <a:ln w="24130">
            <a:solidFill>
              <a:srgbClr val="8F99D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7818120" y="3154680"/>
            <a:ext cx="0" cy="1298448"/>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829800" y="3154680"/>
            <a:ext cx="2286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0853928" y="2194560"/>
            <a:ext cx="0" cy="502920"/>
          </a:xfrm>
          <a:prstGeom prst="line">
            <a:avLst/>
          </a:prstGeom>
          <a:ln w="2413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10995660" y="2322576"/>
            <a:ext cx="411480" cy="256032"/>
          </a:xfrm>
          <a:prstGeom prst="roundRect">
            <a:avLst>
              <a:gd name="adj" fmla="val 50000"/>
            </a:avLst>
          </a:prstGeom>
          <a:solidFill>
            <a:srgbClr val="151D5C"/>
          </a:solidFill>
          <a:ln w="1143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995660" y="2322576"/>
            <a:ext cx="41148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no</a:t>
            </a:r>
          </a:p>
        </p:txBody>
      </p:sp>
      <p:sp>
        <p:nvSpPr>
          <p:cNvPr id="59" name="Rounded Rectangle 58"/>
          <p:cNvSpPr/>
          <p:nvPr/>
        </p:nvSpPr>
        <p:spPr>
          <a:xfrm>
            <a:off x="9784080" y="1371600"/>
            <a:ext cx="1874519" cy="82296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921240" y="1371600"/>
            <a:ext cx="1600199"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29800" y="1435608"/>
            <a:ext cx="1783079" cy="345643"/>
          </a:xfrm>
          <a:prstGeom prst="rect">
            <a:avLst/>
          </a:prstGeom>
          <a:noFill/>
        </p:spPr>
        <p:txBody>
          <a:bodyPr wrap="square" lIns="36576" rIns="36576" tIns="18288" bIns="18288" anchor="ctr">
            <a:spAutoFit/>
          </a:bodyPr>
          <a:lstStyle/>
          <a:p>
            <a:pPr algn="ctr"/>
            <a:r>
              <a:rPr sz="1250" b="1" i="0">
                <a:solidFill>
                  <a:srgbClr val="FFFFFF"/>
                </a:solidFill>
                <a:latin typeface="Segoe UI"/>
              </a:rPr>
              <a:t>"Not found"</a:t>
            </a:r>
          </a:p>
        </p:txBody>
      </p:sp>
      <p:sp>
        <p:nvSpPr>
          <p:cNvPr id="62" name="TextBox 61"/>
          <p:cNvSpPr txBox="1"/>
          <p:nvPr/>
        </p:nvSpPr>
        <p:spPr>
          <a:xfrm>
            <a:off x="9848088" y="1781251"/>
            <a:ext cx="1746503" cy="367588"/>
          </a:xfrm>
          <a:prstGeom prst="rect">
            <a:avLst/>
          </a:prstGeom>
          <a:noFill/>
        </p:spPr>
        <p:txBody>
          <a:bodyPr wrap="square" lIns="36576" rIns="36576" tIns="18288" bIns="18288" anchor="ctr">
            <a:spAutoFit/>
          </a:bodyPr>
          <a:lstStyle/>
          <a:p>
            <a:pPr algn="ctr"/>
            <a:r>
              <a:rPr sz="1000" b="0" i="0">
                <a:solidFill>
                  <a:srgbClr val="D2D7F5"/>
                </a:solidFill>
                <a:latin typeface="Segoe UI"/>
              </a:rPr>
              <a:t>no LLM call made</a:t>
            </a:r>
          </a:p>
        </p:txBody>
      </p:sp>
      <p:sp>
        <p:nvSpPr>
          <p:cNvPr id="63" name="Rounded Rectangle 62"/>
          <p:cNvSpPr/>
          <p:nvPr/>
        </p:nvSpPr>
        <p:spPr>
          <a:xfrm>
            <a:off x="2743200" y="5257800"/>
            <a:ext cx="2834640" cy="914400"/>
          </a:xfrm>
          <a:prstGeom prst="roundRect">
            <a:avLst>
              <a:gd name="adj" fmla="val 10000"/>
            </a:avLst>
          </a:prstGeom>
          <a:solidFill>
            <a:srgbClr val="401537"/>
          </a:solidFill>
          <a:ln w="2032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880360" y="5257800"/>
            <a:ext cx="2560320" cy="4114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88920" y="5321808"/>
            <a:ext cx="2743200" cy="384048"/>
          </a:xfrm>
          <a:prstGeom prst="rect">
            <a:avLst/>
          </a:prstGeom>
          <a:noFill/>
        </p:spPr>
        <p:txBody>
          <a:bodyPr wrap="square" lIns="36576" rIns="36576" tIns="18288" bIns="18288" anchor="ctr">
            <a:spAutoFit/>
          </a:bodyPr>
          <a:lstStyle/>
          <a:p>
            <a:pPr algn="ctr"/>
            <a:r>
              <a:rPr sz="1300" b="1" i="0">
                <a:solidFill>
                  <a:srgbClr val="FFFFFF"/>
                </a:solidFill>
                <a:latin typeface="Segoe UI"/>
              </a:rPr>
              <a:t>LLM answers</a:t>
            </a:r>
          </a:p>
        </p:txBody>
      </p:sp>
      <p:sp>
        <p:nvSpPr>
          <p:cNvPr id="66" name="TextBox 65"/>
          <p:cNvSpPr txBox="1"/>
          <p:nvPr/>
        </p:nvSpPr>
        <p:spPr>
          <a:xfrm>
            <a:off x="2807208" y="5705856"/>
            <a:ext cx="2706624" cy="420624"/>
          </a:xfrm>
          <a:prstGeom prst="rect">
            <a:avLst/>
          </a:prstGeom>
          <a:noFill/>
        </p:spPr>
        <p:txBody>
          <a:bodyPr wrap="square" lIns="36576" rIns="36576" tIns="18288" bIns="18288" anchor="ctr">
            <a:spAutoFit/>
          </a:bodyPr>
          <a:lstStyle/>
          <a:p>
            <a:pPr algn="ctr"/>
            <a:r>
              <a:rPr sz="1050" b="0" i="0">
                <a:solidFill>
                  <a:srgbClr val="FFB7DE"/>
                </a:solidFill>
                <a:latin typeface="Segoe UI"/>
              </a:rPr>
              <a:t>from retrieved evidence ONLY</a:t>
            </a:r>
          </a:p>
        </p:txBody>
      </p:sp>
      <p:sp>
        <p:nvSpPr>
          <p:cNvPr id="67" name="Rounded Rectangle 66"/>
          <p:cNvSpPr/>
          <p:nvPr/>
        </p:nvSpPr>
        <p:spPr>
          <a:xfrm>
            <a:off x="5943600" y="5257800"/>
            <a:ext cx="2743200" cy="91440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080760" y="5257800"/>
            <a:ext cx="2468880"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89320" y="5321808"/>
            <a:ext cx="2651760" cy="384048"/>
          </a:xfrm>
          <a:prstGeom prst="rect">
            <a:avLst/>
          </a:prstGeom>
          <a:noFill/>
        </p:spPr>
        <p:txBody>
          <a:bodyPr wrap="square" lIns="36576" rIns="36576" tIns="18288" bIns="18288" anchor="ctr">
            <a:spAutoFit/>
          </a:bodyPr>
          <a:lstStyle/>
          <a:p>
            <a:pPr algn="ctr"/>
            <a:r>
              <a:rPr sz="1300" b="1" i="0">
                <a:solidFill>
                  <a:srgbClr val="FFFFFF"/>
                </a:solidFill>
                <a:latin typeface="Segoe UI"/>
              </a:rPr>
              <a:t>Verify</a:t>
            </a:r>
          </a:p>
        </p:txBody>
      </p:sp>
      <p:sp>
        <p:nvSpPr>
          <p:cNvPr id="70" name="TextBox 69"/>
          <p:cNvSpPr txBox="1"/>
          <p:nvPr/>
        </p:nvSpPr>
        <p:spPr>
          <a:xfrm>
            <a:off x="6007608" y="5705856"/>
            <a:ext cx="2615184" cy="420624"/>
          </a:xfrm>
          <a:prstGeom prst="rect">
            <a:avLst/>
          </a:prstGeom>
          <a:noFill/>
        </p:spPr>
        <p:txBody>
          <a:bodyPr wrap="square" lIns="36576" rIns="36576" tIns="18288" bIns="18288" anchor="ctr">
            <a:spAutoFit/>
          </a:bodyPr>
          <a:lstStyle/>
          <a:p>
            <a:pPr algn="ctr"/>
            <a:r>
              <a:rPr sz="1050" b="0" i="0">
                <a:solidFill>
                  <a:srgbClr val="FFB4B4"/>
                </a:solidFill>
                <a:latin typeface="Segoe UI"/>
              </a:rPr>
              <a:t>citations exist · numbers found in evidence</a:t>
            </a:r>
          </a:p>
        </p:txBody>
      </p:sp>
      <p:sp>
        <p:nvSpPr>
          <p:cNvPr id="71" name="Rounded Rectangle 70"/>
          <p:cNvSpPr/>
          <p:nvPr/>
        </p:nvSpPr>
        <p:spPr>
          <a:xfrm>
            <a:off x="9052560" y="5257800"/>
            <a:ext cx="2606040" cy="91440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189720" y="5257800"/>
            <a:ext cx="233172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098280" y="5321808"/>
            <a:ext cx="2514600" cy="384048"/>
          </a:xfrm>
          <a:prstGeom prst="rect">
            <a:avLst/>
          </a:prstGeom>
          <a:noFill/>
        </p:spPr>
        <p:txBody>
          <a:bodyPr wrap="square" lIns="36576" rIns="36576" tIns="18288" bIns="18288" anchor="ctr">
            <a:spAutoFit/>
          </a:bodyPr>
          <a:lstStyle/>
          <a:p>
            <a:pPr algn="ctr"/>
            <a:r>
              <a:rPr sz="1300" b="1" i="0">
                <a:solidFill>
                  <a:srgbClr val="FFFFFF"/>
                </a:solidFill>
                <a:latin typeface="Segoe UI"/>
              </a:rPr>
              <a:t>Answer + sources</a:t>
            </a:r>
          </a:p>
        </p:txBody>
      </p:sp>
      <p:sp>
        <p:nvSpPr>
          <p:cNvPr id="74" name="TextBox 73"/>
          <p:cNvSpPr txBox="1"/>
          <p:nvPr/>
        </p:nvSpPr>
        <p:spPr>
          <a:xfrm>
            <a:off x="9116568" y="5705856"/>
            <a:ext cx="2478024" cy="420624"/>
          </a:xfrm>
          <a:prstGeom prst="rect">
            <a:avLst/>
          </a:prstGeom>
          <a:noFill/>
        </p:spPr>
        <p:txBody>
          <a:bodyPr wrap="square" lIns="36576" rIns="36576" tIns="18288" bIns="18288" anchor="ctr">
            <a:spAutoFit/>
          </a:bodyPr>
          <a:lstStyle/>
          <a:p>
            <a:pPr algn="ctr"/>
            <a:r>
              <a:rPr sz="1050" b="0" i="0">
                <a:solidFill>
                  <a:srgbClr val="8CF0C6"/>
                </a:solidFill>
                <a:latin typeface="Segoe UI"/>
              </a:rPr>
              <a:t>saved in chat history</a:t>
            </a:r>
          </a:p>
        </p:txBody>
      </p:sp>
      <p:cxnSp>
        <p:nvCxnSpPr>
          <p:cNvPr id="75" name="Connector 74"/>
          <p:cNvCxnSpPr/>
          <p:nvPr/>
        </p:nvCxnSpPr>
        <p:spPr>
          <a:xfrm>
            <a:off x="5577840" y="5715000"/>
            <a:ext cx="36576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686800" y="5715000"/>
            <a:ext cx="36576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853928" y="3611880"/>
            <a:ext cx="0" cy="1463040"/>
          </a:xfrm>
          <a:prstGeom prst="line">
            <a:avLst/>
          </a:prstGeom>
          <a:ln w="24130">
            <a:solidFill>
              <a:srgbClr val="34D39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4160520" y="5074920"/>
            <a:ext cx="6693408" cy="0"/>
          </a:xfrm>
          <a:prstGeom prst="line">
            <a:avLst/>
          </a:prstGeom>
          <a:ln w="24130">
            <a:solidFill>
              <a:srgbClr val="34D39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160520" y="5074920"/>
            <a:ext cx="0" cy="182880"/>
          </a:xfrm>
          <a:prstGeom prst="line">
            <a:avLst/>
          </a:prstGeom>
          <a:ln w="24130">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Rounded Rectangle 79"/>
          <p:cNvSpPr/>
          <p:nvPr/>
        </p:nvSpPr>
        <p:spPr>
          <a:xfrm>
            <a:off x="6446520" y="4946904"/>
            <a:ext cx="1737360" cy="256032"/>
          </a:xfrm>
          <a:prstGeom prst="roundRect">
            <a:avLst>
              <a:gd name="adj" fmla="val 50000"/>
            </a:avLst>
          </a:prstGeom>
          <a:solidFill>
            <a:srgbClr val="151D5C"/>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46520" y="4946904"/>
            <a:ext cx="173736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yes: ranked evidence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SEARCH AND CHAT</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The query router: the right tool for each question</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25</a:t>
            </a:r>
          </a:p>
        </p:txBody>
      </p:sp>
      <p:pic>
        <p:nvPicPr>
          <p:cNvPr id="10" name="Picture 9" descr="11_chat.jpg"/>
          <p:cNvPicPr>
            <a:picLocks noChangeAspect="1"/>
          </p:cNvPicPr>
          <p:nvPr/>
        </p:nvPicPr>
        <p:blipFill>
          <a:blip r:embed="rId3"/>
          <a:stretch>
            <a:fillRect/>
          </a:stretch>
        </p:blipFill>
        <p:spPr>
          <a:xfrm>
            <a:off x="552297" y="1325880"/>
            <a:ext cx="6759244" cy="4224528"/>
          </a:xfrm>
          <a:prstGeom prst="rect">
            <a:avLst/>
          </a:prstGeom>
          <a:ln w="19050">
            <a:solidFill>
              <a:srgbClr val="6D4AFF"/>
            </a:solidFill>
          </a:ln>
        </p:spPr>
      </p:pic>
      <p:sp>
        <p:nvSpPr>
          <p:cNvPr id="11" name="TextBox 10"/>
          <p:cNvSpPr txBox="1"/>
          <p:nvPr/>
        </p:nvSpPr>
        <p:spPr>
          <a:xfrm>
            <a:off x="548640" y="5596128"/>
            <a:ext cx="6766560" cy="274320"/>
          </a:xfrm>
          <a:prstGeom prst="rect">
            <a:avLst/>
          </a:prstGeom>
          <a:noFill/>
        </p:spPr>
        <p:txBody>
          <a:bodyPr wrap="square" lIns="36576" rIns="36576" tIns="18288" bIns="18288" anchor="t">
            <a:spAutoFit/>
          </a:bodyPr>
          <a:lstStyle/>
          <a:p>
            <a:pPr algn="l"/>
            <a:r>
              <a:rPr sz="1050" b="0" i="1">
                <a:solidFill>
                  <a:srgbClr val="8E99E0"/>
                </a:solidFill>
                <a:latin typeface="Segoe UI"/>
              </a:rPr>
              <a:t>Ask MeetingAI - answers cite their source meeting and quote</a:t>
            </a:r>
          </a:p>
        </p:txBody>
      </p:sp>
      <p:sp>
        <p:nvSpPr>
          <p:cNvPr id="12" name="TextBox 11"/>
          <p:cNvSpPr txBox="1"/>
          <p:nvPr/>
        </p:nvSpPr>
        <p:spPr>
          <a:xfrm>
            <a:off x="7635240" y="1298448"/>
            <a:ext cx="4023360" cy="274320"/>
          </a:xfrm>
          <a:prstGeom prst="rect">
            <a:avLst/>
          </a:prstGeom>
          <a:noFill/>
        </p:spPr>
        <p:txBody>
          <a:bodyPr wrap="square" lIns="36576" rIns="36576" tIns="18288" bIns="18288" anchor="t">
            <a:spAutoFit/>
          </a:bodyPr>
          <a:lstStyle/>
          <a:p>
            <a:pPr algn="l"/>
            <a:r>
              <a:rPr sz="1050" b="1" i="0">
                <a:solidFill>
                  <a:srgbClr val="A78BFA"/>
                </a:solidFill>
                <a:latin typeface="Segoe UI"/>
              </a:rPr>
              <a:t>FIVE INTENTS</a:t>
            </a:r>
          </a:p>
        </p:txBody>
      </p:sp>
      <p:sp>
        <p:nvSpPr>
          <p:cNvPr id="13" name="Rounded Rectangle 12"/>
          <p:cNvSpPr/>
          <p:nvPr/>
        </p:nvSpPr>
        <p:spPr>
          <a:xfrm>
            <a:off x="7635240" y="1645920"/>
            <a:ext cx="4023360" cy="749808"/>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35240" y="1737360"/>
            <a:ext cx="64008"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1682496"/>
            <a:ext cx="3749039" cy="320040"/>
          </a:xfrm>
          <a:prstGeom prst="rect">
            <a:avLst/>
          </a:prstGeom>
          <a:noFill/>
        </p:spPr>
        <p:txBody>
          <a:bodyPr wrap="square" lIns="36576" rIns="36576" tIns="18288" bIns="18288" anchor="t">
            <a:spAutoFit/>
          </a:bodyPr>
          <a:lstStyle/>
          <a:p>
            <a:pPr algn="l"/>
            <a:r>
              <a:rPr sz="1300" b="1" i="0">
                <a:solidFill>
                  <a:srgbClr val="FFFFFF"/>
                </a:solidFill>
                <a:latin typeface="Segoe UI"/>
              </a:rPr>
              <a:t>Tasks</a:t>
            </a:r>
          </a:p>
        </p:txBody>
      </p:sp>
      <p:sp>
        <p:nvSpPr>
          <p:cNvPr id="16" name="TextBox 15"/>
          <p:cNvSpPr txBox="1"/>
          <p:nvPr/>
        </p:nvSpPr>
        <p:spPr>
          <a:xfrm>
            <a:off x="7818120" y="2011680"/>
            <a:ext cx="3749039" cy="365760"/>
          </a:xfrm>
          <a:prstGeom prst="rect">
            <a:avLst/>
          </a:prstGeom>
          <a:noFill/>
        </p:spPr>
        <p:txBody>
          <a:bodyPr wrap="square" lIns="36576" rIns="36576" tIns="18288" bIns="18288" anchor="t">
            <a:spAutoFit/>
          </a:bodyPr>
          <a:lstStyle/>
          <a:p>
            <a:pPr algn="l"/>
            <a:r>
              <a:rPr sz="1050" b="0" i="0">
                <a:solidFill>
                  <a:srgbClr val="C9D0FF"/>
                </a:solidFill>
                <a:latin typeface="Segoe UI"/>
              </a:rPr>
              <a:t>"Who is responsible for the report?" → tracker table</a:t>
            </a:r>
          </a:p>
        </p:txBody>
      </p:sp>
      <p:sp>
        <p:nvSpPr>
          <p:cNvPr id="17" name="Rounded Rectangle 16"/>
          <p:cNvSpPr/>
          <p:nvPr/>
        </p:nvSpPr>
        <p:spPr>
          <a:xfrm>
            <a:off x="7635240" y="2487168"/>
            <a:ext cx="4023360" cy="749808"/>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35240" y="2578608"/>
            <a:ext cx="64008" cy="566928"/>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2523744"/>
            <a:ext cx="3749039" cy="320040"/>
          </a:xfrm>
          <a:prstGeom prst="rect">
            <a:avLst/>
          </a:prstGeom>
          <a:noFill/>
        </p:spPr>
        <p:txBody>
          <a:bodyPr wrap="square" lIns="36576" rIns="36576" tIns="18288" bIns="18288" anchor="t">
            <a:spAutoFit/>
          </a:bodyPr>
          <a:lstStyle/>
          <a:p>
            <a:pPr algn="l"/>
            <a:r>
              <a:rPr sz="1300" b="1" i="0">
                <a:solidFill>
                  <a:srgbClr val="FFFFFF"/>
                </a:solidFill>
                <a:latin typeface="Segoe UI"/>
              </a:rPr>
              <a:t>Decisions</a:t>
            </a:r>
          </a:p>
        </p:txBody>
      </p:sp>
      <p:sp>
        <p:nvSpPr>
          <p:cNvPr id="20" name="TextBox 19"/>
          <p:cNvSpPr txBox="1"/>
          <p:nvPr/>
        </p:nvSpPr>
        <p:spPr>
          <a:xfrm>
            <a:off x="7818120" y="2852928"/>
            <a:ext cx="3749039" cy="365760"/>
          </a:xfrm>
          <a:prstGeom prst="rect">
            <a:avLst/>
          </a:prstGeom>
          <a:noFill/>
        </p:spPr>
        <p:txBody>
          <a:bodyPr wrap="square" lIns="36576" rIns="36576" tIns="18288" bIns="18288" anchor="t">
            <a:spAutoFit/>
          </a:bodyPr>
          <a:lstStyle/>
          <a:p>
            <a:pPr algn="l"/>
            <a:r>
              <a:rPr sz="1050" b="0" i="0">
                <a:solidFill>
                  <a:srgbClr val="C9D0FF"/>
                </a:solidFill>
                <a:latin typeface="Segoe UI"/>
              </a:rPr>
              <a:t>"What did we decide?" → decisions table</a:t>
            </a:r>
          </a:p>
        </p:txBody>
      </p:sp>
      <p:sp>
        <p:nvSpPr>
          <p:cNvPr id="21" name="Rounded Rectangle 20"/>
          <p:cNvSpPr/>
          <p:nvPr/>
        </p:nvSpPr>
        <p:spPr>
          <a:xfrm>
            <a:off x="7635240" y="3328416"/>
            <a:ext cx="4023360" cy="749808"/>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35240" y="3419856"/>
            <a:ext cx="64008" cy="5669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3364992"/>
            <a:ext cx="3749039" cy="320040"/>
          </a:xfrm>
          <a:prstGeom prst="rect">
            <a:avLst/>
          </a:prstGeom>
          <a:noFill/>
        </p:spPr>
        <p:txBody>
          <a:bodyPr wrap="square" lIns="36576" rIns="36576" tIns="18288" bIns="18288" anchor="t">
            <a:spAutoFit/>
          </a:bodyPr>
          <a:lstStyle/>
          <a:p>
            <a:pPr algn="l"/>
            <a:r>
              <a:rPr sz="1300" b="1" i="0">
                <a:solidFill>
                  <a:srgbClr val="FFFFFF"/>
                </a:solidFill>
                <a:latin typeface="Segoe UI"/>
              </a:rPr>
              <a:t>Events</a:t>
            </a:r>
          </a:p>
        </p:txBody>
      </p:sp>
      <p:sp>
        <p:nvSpPr>
          <p:cNvPr id="24" name="TextBox 23"/>
          <p:cNvSpPr txBox="1"/>
          <p:nvPr/>
        </p:nvSpPr>
        <p:spPr>
          <a:xfrm>
            <a:off x="7818120" y="3694176"/>
            <a:ext cx="3749039" cy="365760"/>
          </a:xfrm>
          <a:prstGeom prst="rect">
            <a:avLst/>
          </a:prstGeom>
          <a:noFill/>
        </p:spPr>
        <p:txBody>
          <a:bodyPr wrap="square" lIns="36576" rIns="36576" tIns="18288" bIns="18288" anchor="t">
            <a:spAutoFit/>
          </a:bodyPr>
          <a:lstStyle/>
          <a:p>
            <a:pPr algn="l"/>
            <a:r>
              <a:rPr sz="1050" b="0" i="0">
                <a:solidFill>
                  <a:srgbClr val="C9D0FF"/>
                </a:solidFill>
                <a:latin typeface="Segoe UI"/>
              </a:rPr>
              <a:t>"When is the next review?" → calendar data</a:t>
            </a:r>
          </a:p>
        </p:txBody>
      </p:sp>
      <p:sp>
        <p:nvSpPr>
          <p:cNvPr id="25" name="Rounded Rectangle 24"/>
          <p:cNvSpPr/>
          <p:nvPr/>
        </p:nvSpPr>
        <p:spPr>
          <a:xfrm>
            <a:off x="7635240" y="4169664"/>
            <a:ext cx="4023360" cy="749808"/>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35240" y="4261104"/>
            <a:ext cx="64008" cy="5669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4206240"/>
            <a:ext cx="3749039" cy="320040"/>
          </a:xfrm>
          <a:prstGeom prst="rect">
            <a:avLst/>
          </a:prstGeom>
          <a:noFill/>
        </p:spPr>
        <p:txBody>
          <a:bodyPr wrap="square" lIns="36576" rIns="36576" tIns="18288" bIns="18288" anchor="t">
            <a:spAutoFit/>
          </a:bodyPr>
          <a:lstStyle/>
          <a:p>
            <a:pPr algn="l"/>
            <a:r>
              <a:rPr sz="1300" b="1" i="0">
                <a:solidFill>
                  <a:srgbClr val="FFFFFF"/>
                </a:solidFill>
                <a:latin typeface="Segoe UI"/>
              </a:rPr>
              <a:t>Summary</a:t>
            </a:r>
          </a:p>
        </p:txBody>
      </p:sp>
      <p:sp>
        <p:nvSpPr>
          <p:cNvPr id="28" name="TextBox 27"/>
          <p:cNvSpPr txBox="1"/>
          <p:nvPr/>
        </p:nvSpPr>
        <p:spPr>
          <a:xfrm>
            <a:off x="7818120" y="4535424"/>
            <a:ext cx="3749039" cy="365760"/>
          </a:xfrm>
          <a:prstGeom prst="rect">
            <a:avLst/>
          </a:prstGeom>
          <a:noFill/>
        </p:spPr>
        <p:txBody>
          <a:bodyPr wrap="square" lIns="36576" rIns="36576" tIns="18288" bIns="18288" anchor="t">
            <a:spAutoFit/>
          </a:bodyPr>
          <a:lstStyle/>
          <a:p>
            <a:pPr algn="l"/>
            <a:r>
              <a:rPr sz="1050" b="0" i="0">
                <a:solidFill>
                  <a:srgbClr val="C9D0FF"/>
                </a:solidFill>
                <a:latin typeface="Segoe UI"/>
              </a:rPr>
              <a:t>"Summarise the kickoff" → stored summary</a:t>
            </a:r>
          </a:p>
        </p:txBody>
      </p:sp>
      <p:sp>
        <p:nvSpPr>
          <p:cNvPr id="29" name="Rounded Rectangle 28"/>
          <p:cNvSpPr/>
          <p:nvPr/>
        </p:nvSpPr>
        <p:spPr>
          <a:xfrm>
            <a:off x="7635240" y="5010912"/>
            <a:ext cx="4023360" cy="749808"/>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35240" y="5102352"/>
            <a:ext cx="64008" cy="56692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18120" y="5047488"/>
            <a:ext cx="3749039" cy="320040"/>
          </a:xfrm>
          <a:prstGeom prst="rect">
            <a:avLst/>
          </a:prstGeom>
          <a:noFill/>
        </p:spPr>
        <p:txBody>
          <a:bodyPr wrap="square" lIns="36576" rIns="36576" tIns="18288" bIns="18288" anchor="t">
            <a:spAutoFit/>
          </a:bodyPr>
          <a:lstStyle/>
          <a:p>
            <a:pPr algn="l"/>
            <a:r>
              <a:rPr sz="1300" b="1" i="0">
                <a:solidFill>
                  <a:srgbClr val="FFFFFF"/>
                </a:solidFill>
                <a:latin typeface="Segoe UI"/>
              </a:rPr>
              <a:t>Phrase</a:t>
            </a:r>
          </a:p>
        </p:txBody>
      </p:sp>
      <p:sp>
        <p:nvSpPr>
          <p:cNvPr id="32" name="TextBox 31"/>
          <p:cNvSpPr txBox="1"/>
          <p:nvPr/>
        </p:nvSpPr>
        <p:spPr>
          <a:xfrm>
            <a:off x="7818120" y="5376672"/>
            <a:ext cx="3749039" cy="365760"/>
          </a:xfrm>
          <a:prstGeom prst="rect">
            <a:avLst/>
          </a:prstGeom>
          <a:noFill/>
        </p:spPr>
        <p:txBody>
          <a:bodyPr wrap="square" lIns="36576" rIns="36576" tIns="18288" bIns="18288" anchor="t">
            <a:spAutoFit/>
          </a:bodyPr>
          <a:lstStyle/>
          <a:p>
            <a:pPr algn="l"/>
            <a:r>
              <a:rPr sz="1050" b="0" i="0">
                <a:solidFill>
                  <a:srgbClr val="C9D0FF"/>
                </a:solidFill>
                <a:latin typeface="Segoe UI"/>
              </a:rPr>
              <a:t>"Who said budget?" → hybrid search + LLM</a:t>
            </a:r>
          </a:p>
        </p:txBody>
      </p:sp>
      <p:sp>
        <p:nvSpPr>
          <p:cNvPr id="33" name="Rounded Rectangle 32"/>
          <p:cNvSpPr/>
          <p:nvPr/>
        </p:nvSpPr>
        <p:spPr>
          <a:xfrm>
            <a:off x="548640" y="5897880"/>
            <a:ext cx="11109960" cy="45720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971032"/>
            <a:ext cx="64008" cy="3108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5934456"/>
            <a:ext cx="10789920" cy="384048"/>
          </a:xfrm>
          <a:prstGeom prst="rect">
            <a:avLst/>
          </a:prstGeom>
          <a:noFill/>
        </p:spPr>
        <p:txBody>
          <a:bodyPr wrap="square" lIns="36576" rIns="36576" tIns="18288" bIns="18288" anchor="ctr">
            <a:spAutoFit/>
          </a:bodyPr>
          <a:lstStyle/>
          <a:p>
            <a:pPr algn="l"/>
            <a:r>
              <a:rPr sz="1100" b="1" i="0">
                <a:solidFill>
                  <a:srgbClr val="D4C8FF"/>
                </a:solidFill>
                <a:latin typeface="Segoe UI"/>
              </a:rPr>
              <a:t>HONEST   </a:t>
            </a:r>
            <a:r>
              <a:rPr sz="1200" b="0" i="0">
                <a:solidFill>
                  <a:srgbClr val="C9D0FF"/>
                </a:solidFill>
                <a:latin typeface="Segoe UI"/>
              </a:rPr>
              <a:t>If the transcripts do not say, the answer is "not found" - the LLM is not asked to guess.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6949440" y="-2011680"/>
            <a:ext cx="7772400" cy="77724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3291840"/>
            <a:ext cx="5669280" cy="566928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423160"/>
            <a:ext cx="1188720" cy="1188720"/>
          </a:xfrm>
          <a:prstGeom prst="ellipse">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23160"/>
            <a:ext cx="1188720" cy="1188720"/>
          </a:xfrm>
          <a:prstGeom prst="rect">
            <a:avLst/>
          </a:prstGeom>
          <a:noFill/>
        </p:spPr>
        <p:txBody>
          <a:bodyPr wrap="square" lIns="36576" rIns="36576" tIns="18288" bIns="18288" anchor="ctr">
            <a:spAutoFit/>
          </a:bodyPr>
          <a:lstStyle/>
          <a:p>
            <a:pPr algn="ctr"/>
            <a:r>
              <a:rPr sz="3800" b="1" i="0">
                <a:solidFill>
                  <a:srgbClr val="FFFFFF"/>
                </a:solidFill>
                <a:latin typeface="Segoe UI"/>
              </a:rPr>
              <a:t>5</a:t>
            </a:r>
          </a:p>
        </p:txBody>
      </p:sp>
      <p:sp>
        <p:nvSpPr>
          <p:cNvPr id="8" name="TextBox 7"/>
          <p:cNvSpPr txBox="1"/>
          <p:nvPr/>
        </p:nvSpPr>
        <p:spPr>
          <a:xfrm>
            <a:off x="2331720" y="2331720"/>
            <a:ext cx="8686800" cy="822960"/>
          </a:xfrm>
          <a:prstGeom prst="rect">
            <a:avLst/>
          </a:prstGeom>
          <a:noFill/>
        </p:spPr>
        <p:txBody>
          <a:bodyPr wrap="square" lIns="36576" rIns="36576" tIns="18288" bIns="18288" anchor="ctr">
            <a:spAutoFit/>
          </a:bodyPr>
          <a:lstStyle/>
          <a:p>
            <a:pPr algn="l"/>
            <a:r>
              <a:rPr sz="3800" b="1" i="0">
                <a:solidFill>
                  <a:srgbClr val="FFFFFF"/>
                </a:solidFill>
                <a:latin typeface="Segoe UI"/>
              </a:rPr>
              <a:t>The product</a:t>
            </a:r>
          </a:p>
        </p:txBody>
      </p:sp>
      <p:sp>
        <p:nvSpPr>
          <p:cNvPr id="9" name="TextBox 8"/>
          <p:cNvSpPr txBox="1"/>
          <p:nvPr/>
        </p:nvSpPr>
        <p:spPr>
          <a:xfrm>
            <a:off x="2331720" y="3154680"/>
            <a:ext cx="8046720" cy="822960"/>
          </a:xfrm>
          <a:prstGeom prst="rect">
            <a:avLst/>
          </a:prstGeom>
          <a:noFill/>
        </p:spPr>
        <p:txBody>
          <a:bodyPr wrap="square" lIns="36576" rIns="36576" tIns="18288" bIns="18288" anchor="t">
            <a:spAutoFit/>
          </a:bodyPr>
          <a:lstStyle/>
          <a:p>
            <a:pPr algn="l"/>
            <a:r>
              <a:rPr sz="1700" b="0" i="0">
                <a:solidFill>
                  <a:srgbClr val="C9D0FF"/>
                </a:solidFill>
                <a:latin typeface="Segoe UI"/>
              </a:rPr>
              <a:t>A tour of the screens - dashboard to minutes - and everything that can leave the app.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Dashboard: your meeting pulse</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27</a:t>
            </a:r>
          </a:p>
        </p:txBody>
      </p:sp>
      <p:pic>
        <p:nvPicPr>
          <p:cNvPr id="10" name="Picture 9" descr="01_dashboard.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Sidebar → Dashboard</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Six pulse tiles</a:t>
            </a:r>
          </a:p>
          <a:p>
            <a:pPr algn="l">
              <a:spcAft>
                <a:spcPts val="100"/>
              </a:spcAft>
            </a:pPr>
            <a:r>
              <a:rPr sz="1100" b="0" i="0">
                <a:solidFill>
                  <a:srgbClr val="C9D0FF"/>
                </a:solidFill>
                <a:latin typeface="Segoe UI"/>
              </a:rPr>
              <a:t>meetings analysed, action items, completed, pending, overdue, decisions - at a glance</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Recent meetings</a:t>
            </a:r>
          </a:p>
          <a:p>
            <a:pPr algn="l">
              <a:spcAft>
                <a:spcPts val="100"/>
              </a:spcAft>
            </a:pPr>
            <a:r>
              <a:rPr sz="1100" b="0" i="0">
                <a:solidFill>
                  <a:srgbClr val="C9D0FF"/>
                </a:solidFill>
                <a:latin typeface="Segoe UI"/>
              </a:rPr>
              <a:t>each with status, source and how it was analysed (NLP / LLM)</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Deadlines &amp; events</a:t>
            </a:r>
          </a:p>
          <a:p>
            <a:pPr algn="l">
              <a:spcAft>
                <a:spcPts val="100"/>
              </a:spcAft>
            </a:pPr>
            <a:r>
              <a:rPr sz="1100" b="0" i="0">
                <a:solidFill>
                  <a:srgbClr val="C9D0FF"/>
                </a:solidFill>
                <a:latin typeface="Segoe UI"/>
              </a:rPr>
              <a:t>upcoming and overdue items pulled from every meeting</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Charts below</a:t>
            </a:r>
          </a:p>
          <a:p>
            <a:pPr algn="l">
              <a:spcAft>
                <a:spcPts val="100"/>
              </a:spcAft>
            </a:pPr>
            <a:r>
              <a:rPr sz="1100" b="0" i="0">
                <a:solidFill>
                  <a:srgbClr val="C9D0FF"/>
                </a:solidFill>
                <a:latin typeface="Segoe UI"/>
              </a:rPr>
              <a:t>tasks by status, owner and priority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Meeting overview: summary and structure</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28</a:t>
            </a:r>
          </a:p>
        </p:txBody>
      </p:sp>
      <p:pic>
        <p:nvPicPr>
          <p:cNvPr id="10" name="Picture 9" descr="05_meeting_overview.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Sidebar → Meeting Library → open a meeting</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Tabs</a:t>
            </a:r>
          </a:p>
          <a:p>
            <a:pPr algn="l">
              <a:spcAft>
                <a:spcPts val="100"/>
              </a:spcAft>
            </a:pPr>
            <a:r>
              <a:rPr sz="1100" b="0" i="0">
                <a:solidFill>
                  <a:srgbClr val="C9D0FF"/>
                </a:solidFill>
                <a:latin typeface="Segoe UI"/>
              </a:rPr>
              <a:t>Overview · Transcript · Action items · Decisions &amp; events · How it was analysed</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Summary</a:t>
            </a:r>
          </a:p>
          <a:p>
            <a:pPr algn="l">
              <a:spcAft>
                <a:spcPts val="100"/>
              </a:spcAft>
            </a:pPr>
            <a:r>
              <a:rPr sz="1100" b="0" i="0">
                <a:solidFill>
                  <a:srgbClr val="C9D0FF"/>
                </a:solidFill>
                <a:latin typeface="Segoe UI"/>
              </a:rPr>
              <a:t>overview, key discussion points, conclusions and topics</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At a glance</a:t>
            </a:r>
          </a:p>
          <a:p>
            <a:pPr algn="l">
              <a:spcAft>
                <a:spcPts val="100"/>
              </a:spcAft>
            </a:pPr>
            <a:r>
              <a:rPr sz="1100" b="0" i="0">
                <a:solidFill>
                  <a:srgbClr val="C9D0FF"/>
                </a:solidFill>
                <a:latin typeface="Segoe UI"/>
              </a:rPr>
              <a:t>counts of tasks, decisions, events and speakers</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Mode badges</a:t>
            </a:r>
          </a:p>
          <a:p>
            <a:pPr algn="l">
              <a:spcAft>
                <a:spcPts val="100"/>
              </a:spcAft>
            </a:pPr>
            <a:r>
              <a:rPr sz="1100" b="0" i="0">
                <a:solidFill>
                  <a:srgbClr val="C9D0FF"/>
                </a:solidFill>
                <a:latin typeface="Segoe UI"/>
              </a:rPr>
              <a:t>shows which engine produced the result - classical NLP, LLM or both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Transcript with names on every line</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29</a:t>
            </a:r>
          </a:p>
        </p:txBody>
      </p:sp>
      <p:pic>
        <p:nvPicPr>
          <p:cNvPr id="10" name="Picture 9" descr="06_meeting_transcript.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Meeting → Transcript tab</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Speaker names + time</a:t>
            </a:r>
          </a:p>
          <a:p>
            <a:pPr algn="l">
              <a:spcAft>
                <a:spcPts val="100"/>
              </a:spcAft>
            </a:pPr>
            <a:r>
              <a:rPr sz="1100" b="0" i="0">
                <a:solidFill>
                  <a:srgbClr val="C9D0FF"/>
                </a:solidFill>
                <a:latin typeface="Segoe UI"/>
              </a:rPr>
              <a:t>every line shows who said it (Anita, Rahul, Priya...) and when</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Search and filter</a:t>
            </a:r>
          </a:p>
          <a:p>
            <a:pPr algn="l">
              <a:spcAft>
                <a:spcPts val="100"/>
              </a:spcAft>
            </a:pPr>
            <a:r>
              <a:rPr sz="1100" b="0" i="0">
                <a:solidFill>
                  <a:srgbClr val="C9D0FF"/>
                </a:solidFill>
                <a:latin typeface="Segoe UI"/>
              </a:rPr>
              <a:t>find a word or show only one speaker</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Mark insights</a:t>
            </a:r>
          </a:p>
          <a:p>
            <a:pPr algn="l">
              <a:spcAft>
                <a:spcPts val="100"/>
              </a:spcAft>
            </a:pPr>
            <a:r>
              <a:rPr sz="1100" b="0" i="0">
                <a:solidFill>
                  <a:srgbClr val="C9D0FF"/>
                </a:solidFill>
                <a:latin typeface="Segoe UI"/>
              </a:rPr>
              <a:t>lines that became tasks or decisions are tagged in place</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Evidence</a:t>
            </a:r>
          </a:p>
          <a:p>
            <a:pPr algn="l">
              <a:spcAft>
                <a:spcPts val="100"/>
              </a:spcAft>
            </a:pPr>
            <a:r>
              <a:rPr sz="1100" b="0" i="0">
                <a:solidFill>
                  <a:srgbClr val="C9D0FF"/>
                </a:solidFill>
                <a:latin typeface="Segoe UI"/>
              </a:rPr>
              <a:t>every extracted item links back to its original 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Action items with owner, deadline and evidence</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30</a:t>
            </a:r>
          </a:p>
        </p:txBody>
      </p:sp>
      <p:pic>
        <p:nvPicPr>
          <p:cNvPr id="10" name="Picture 9" descr="07_meeting_tasks.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Meeting → Action items tab</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Structured task</a:t>
            </a:r>
          </a:p>
          <a:p>
            <a:pPr algn="l">
              <a:spcAft>
                <a:spcPts val="100"/>
              </a:spcAft>
            </a:pPr>
            <a:r>
              <a:rPr sz="1100" b="0" i="0">
                <a:solidFill>
                  <a:srgbClr val="C9D0FF"/>
                </a:solidFill>
                <a:latin typeface="Segoe UI"/>
              </a:rPr>
              <a:t>what, who (owner), by when (deadline), priority, status</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Method badge</a:t>
            </a:r>
          </a:p>
          <a:p>
            <a:pPr algn="l">
              <a:spcAft>
                <a:spcPts val="100"/>
              </a:spcAft>
            </a:pPr>
            <a:r>
              <a:rPr sz="1100" b="0" i="0">
                <a:solidFill>
                  <a:srgbClr val="C9D0FF"/>
                </a:solidFill>
                <a:latin typeface="Segoe UI"/>
              </a:rPr>
              <a:t>NLP · LLM fallback · NLP + LLM agree - you see how it was found</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Confidence + quote</a:t>
            </a:r>
          </a:p>
          <a:p>
            <a:pPr algn="l">
              <a:spcAft>
                <a:spcPts val="100"/>
              </a:spcAft>
            </a:pPr>
            <a:r>
              <a:rPr sz="1100" b="0" i="0">
                <a:solidFill>
                  <a:srgbClr val="C9D0FF"/>
                </a:solidFill>
                <a:latin typeface="Segoe UI"/>
              </a:rPr>
              <a:t>the exact sentence from the transcript is attached as evidence</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Needs review</a:t>
            </a:r>
          </a:p>
          <a:p>
            <a:pPr algn="l">
              <a:spcAft>
                <a:spcPts val="100"/>
              </a:spcAft>
            </a:pPr>
            <a:r>
              <a:rPr sz="1100" b="0" i="0">
                <a:solidFill>
                  <a:srgbClr val="C9D0FF"/>
                </a:solidFill>
                <a:latin typeface="Segoe UI"/>
              </a:rPr>
              <a:t>uncertain items are flagged, never silently trusted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Who is who: naming the voices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31</a:t>
            </a:r>
          </a:p>
        </p:txBody>
      </p:sp>
      <p:pic>
        <p:nvPicPr>
          <p:cNvPr id="10" name="Picture 9" descr="10_who_is_who.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Meeting → Who is who panel</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Anonymous voices</a:t>
            </a:r>
          </a:p>
          <a:p>
            <a:pPr algn="l">
              <a:spcAft>
                <a:spcPts val="100"/>
              </a:spcAft>
            </a:pPr>
            <a:r>
              <a:rPr sz="1100" b="0" i="0">
                <a:solidFill>
                  <a:srgbClr val="C9D0FF"/>
                </a:solidFill>
                <a:latin typeface="Segoe UI"/>
              </a:rPr>
              <a:t>Speaker 1, Speaker 2... each with sample lines and talk time</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Suggestions with evidence</a:t>
            </a:r>
          </a:p>
          <a:p>
            <a:pPr algn="l">
              <a:spcAft>
                <a:spcPts val="100"/>
              </a:spcAft>
            </a:pPr>
            <a:r>
              <a:rPr sz="1100" b="0" i="0">
                <a:solidFill>
                  <a:srgbClr val="C9D0FF"/>
                </a:solidFill>
                <a:latin typeface="Segoe UI"/>
              </a:rPr>
              <a:t>e.g. 'introduced themselves as Priya' - you accept or change</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Type a name</a:t>
            </a:r>
          </a:p>
          <a:p>
            <a:pPr algn="l">
              <a:spcAft>
                <a:spcPts val="100"/>
              </a:spcAft>
            </a:pPr>
            <a:r>
              <a:rPr sz="1100" b="0" i="0">
                <a:solidFill>
                  <a:srgbClr val="C9D0FF"/>
                </a:solidFill>
                <a:latin typeface="Segoe UI"/>
              </a:rPr>
              <a:t>apply it to the whole meeting in one click</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Remember this voice</a:t>
            </a:r>
          </a:p>
          <a:p>
            <a:pPr algn="l">
              <a:spcAft>
                <a:spcPts val="100"/>
              </a:spcAft>
            </a:pPr>
            <a:r>
              <a:rPr sz="1100" b="0" i="0">
                <a:solidFill>
                  <a:srgbClr val="C9D0FF"/>
                </a:solidFill>
                <a:latin typeface="Segoe UI"/>
              </a:rPr>
              <a:t>optional voiceprint so future meetings are named automatically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Action tracker: everything to do, in one place</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32</a:t>
            </a:r>
          </a:p>
        </p:txBody>
      </p:sp>
      <p:pic>
        <p:nvPicPr>
          <p:cNvPr id="10" name="Picture 9" descr="13_tracker.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Sidebar → Action Tracker</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Summary tiles</a:t>
            </a:r>
          </a:p>
          <a:p>
            <a:pPr algn="l">
              <a:spcAft>
                <a:spcPts val="100"/>
              </a:spcAft>
            </a:pPr>
            <a:r>
              <a:rPr sz="1100" b="0" i="0">
                <a:solidFill>
                  <a:srgbClr val="C9D0FF"/>
                </a:solidFill>
                <a:latin typeface="Segoe UI"/>
              </a:rPr>
              <a:t>total, pending, in progress, done, overdue</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Filters</a:t>
            </a:r>
          </a:p>
          <a:p>
            <a:pPr algn="l">
              <a:spcAft>
                <a:spcPts val="100"/>
              </a:spcAft>
            </a:pPr>
            <a:r>
              <a:rPr sz="1100" b="0" i="0">
                <a:solidFill>
                  <a:srgbClr val="C9D0FF"/>
                </a:solidFill>
                <a:latin typeface="Segoe UI"/>
              </a:rPr>
              <a:t>by owner, status, priority, meeting or text</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Overdue highlighted</a:t>
            </a:r>
          </a:p>
          <a:p>
            <a:pPr algn="l">
              <a:spcAft>
                <a:spcPts val="100"/>
              </a:spcAft>
            </a:pPr>
            <a:r>
              <a:rPr sz="1100" b="0" i="0">
                <a:solidFill>
                  <a:srgbClr val="C9D0FF"/>
                </a:solidFill>
                <a:latin typeface="Segoe UI"/>
              </a:rPr>
              <a:t>deadlines already past are called out</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Update in place</a:t>
            </a:r>
          </a:p>
          <a:p>
            <a:pPr algn="l">
              <a:spcAft>
                <a:spcPts val="100"/>
              </a:spcAft>
            </a:pPr>
            <a:r>
              <a:rPr sz="1100" b="0" i="0">
                <a:solidFill>
                  <a:srgbClr val="C9D0FF"/>
                </a:solidFill>
                <a:latin typeface="Segoe UI"/>
              </a:rPr>
              <a:t>change status or owner; edits are saved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Calendar: deadlines and events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33</a:t>
            </a:r>
          </a:p>
        </p:txBody>
      </p:sp>
      <p:pic>
        <p:nvPicPr>
          <p:cNvPr id="10" name="Picture 9" descr="14_calendar.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Sidebar → Calendar</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Month grid</a:t>
            </a:r>
          </a:p>
          <a:p>
            <a:pPr algn="l">
              <a:spcAft>
                <a:spcPts val="100"/>
              </a:spcAft>
            </a:pPr>
            <a:r>
              <a:rPr sz="1100" b="0" i="0">
                <a:solidFill>
                  <a:srgbClr val="C9D0FF"/>
                </a:solidFill>
                <a:latin typeface="Segoe UI"/>
              </a:rPr>
              <a:t>deadlines and events from all meetings</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Agenda list</a:t>
            </a:r>
          </a:p>
          <a:p>
            <a:pPr algn="l">
              <a:spcAft>
                <a:spcPts val="100"/>
              </a:spcAft>
            </a:pPr>
            <a:r>
              <a:rPr sz="1100" b="0" i="0">
                <a:solidFill>
                  <a:srgbClr val="C9D0FF"/>
                </a:solidFill>
                <a:latin typeface="Segoe UI"/>
              </a:rPr>
              <a:t>chronological view with overdue items first</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Add to your calendar</a:t>
            </a:r>
          </a:p>
          <a:p>
            <a:pPr algn="l">
              <a:spcAft>
                <a:spcPts val="100"/>
              </a:spcAft>
            </a:pPr>
            <a:r>
              <a:rPr sz="1100" b="0" i="0">
                <a:solidFill>
                  <a:srgbClr val="C9D0FF"/>
                </a:solidFill>
                <a:latin typeface="Segoe UI"/>
              </a:rPr>
              <a:t>.ics file or Google Calendar link</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No sign-in needed</a:t>
            </a:r>
          </a:p>
          <a:p>
            <a:pPr algn="l">
              <a:spcAft>
                <a:spcPts val="100"/>
              </a:spcAft>
            </a:pPr>
            <a:r>
              <a:rPr sz="1100" b="0" i="0">
                <a:solidFill>
                  <a:srgbClr val="C9D0FF"/>
                </a:solidFill>
                <a:latin typeface="Segoe UI"/>
              </a:rPr>
              <a:t>no OAuth and no stored tokens - works with any calendar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Minutes of Meeting, generated on request</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34</a:t>
            </a:r>
          </a:p>
        </p:txBody>
      </p:sp>
      <p:pic>
        <p:nvPicPr>
          <p:cNvPr id="10" name="Picture 9" descr="16_mom_preview.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Sidebar → Minutes of Meeting</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Generated on demand</a:t>
            </a:r>
          </a:p>
          <a:p>
            <a:pPr algn="l">
              <a:spcAft>
                <a:spcPts val="100"/>
              </a:spcAft>
            </a:pPr>
            <a:r>
              <a:rPr sz="1100" b="0" i="0">
                <a:solidFill>
                  <a:srgbClr val="C9D0FF"/>
                </a:solidFill>
                <a:latin typeface="Segoe UI"/>
              </a:rPr>
              <a:t>the user reviews before anything is shared</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Professional layout</a:t>
            </a:r>
          </a:p>
          <a:p>
            <a:pPr algn="l">
              <a:spcAft>
                <a:spcPts val="100"/>
              </a:spcAft>
            </a:pPr>
            <a:r>
              <a:rPr sz="1100" b="0" i="0">
                <a:solidFill>
                  <a:srgbClr val="C9D0FF"/>
                </a:solidFill>
                <a:latin typeface="Segoe UI"/>
              </a:rPr>
              <a:t>attendees, agenda, decisions and an action table</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Edit and preview</a:t>
            </a:r>
          </a:p>
          <a:p>
            <a:pPr algn="l">
              <a:spcAft>
                <a:spcPts val="100"/>
              </a:spcAft>
            </a:pPr>
            <a:r>
              <a:rPr sz="1100" b="0" i="0">
                <a:solidFill>
                  <a:srgbClr val="C9D0FF"/>
                </a:solidFill>
                <a:latin typeface="Segoe UI"/>
              </a:rPr>
              <a:t>change the Markdown, see the formatted result</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Exports</a:t>
            </a:r>
          </a:p>
          <a:p>
            <a:pPr algn="l">
              <a:spcAft>
                <a:spcPts val="100"/>
              </a:spcAft>
            </a:pPr>
            <a:r>
              <a:rPr sz="1100" b="0" i="0">
                <a:solidFill>
                  <a:srgbClr val="C9D0FF"/>
                </a:solidFill>
                <a:latin typeface="Segoe UI"/>
              </a:rPr>
              <a:t>Markdown, HTML, Word (.docx) and PDF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Send the minutes by e-mail from the app</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35</a:t>
            </a:r>
          </a:p>
        </p:txBody>
      </p:sp>
      <p:pic>
        <p:nvPicPr>
          <p:cNvPr id="10" name="Picture 9" descr="17_mom_export.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Minutes of Meeting → Export &amp; e-mail</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Download</a:t>
            </a:r>
          </a:p>
          <a:p>
            <a:pPr algn="l">
              <a:spcAft>
                <a:spcPts val="100"/>
              </a:spcAft>
            </a:pPr>
            <a:r>
              <a:rPr sz="1100" b="0" i="0">
                <a:solidFill>
                  <a:srgbClr val="C9D0FF"/>
                </a:solidFill>
                <a:latin typeface="Segoe UI"/>
              </a:rPr>
              <a:t>Word, PDF or Markdown in one click</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Inline e-mail</a:t>
            </a:r>
          </a:p>
          <a:p>
            <a:pPr algn="l">
              <a:spcAft>
                <a:spcPts val="100"/>
              </a:spcAft>
            </a:pPr>
            <a:r>
              <a:rPr sz="1100" b="0" i="0">
                <a:solidFill>
                  <a:srgbClr val="C9D0FF"/>
                </a:solidFill>
                <a:latin typeface="Segoe UI"/>
              </a:rPr>
              <a:t>enter recipients and send directly over SMTP</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Or open a draft</a:t>
            </a:r>
          </a:p>
          <a:p>
            <a:pPr algn="l">
              <a:spcAft>
                <a:spcPts val="100"/>
              </a:spcAft>
            </a:pPr>
            <a:r>
              <a:rPr sz="1100" b="0" i="0">
                <a:solidFill>
                  <a:srgbClr val="C9D0FF"/>
                </a:solidFill>
                <a:latin typeface="Segoe UI"/>
              </a:rPr>
              <a:t>a prefilled mail in your own mail app (mailto)</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Confirmation first</a:t>
            </a:r>
          </a:p>
          <a:p>
            <a:pPr algn="l">
              <a:spcAft>
                <a:spcPts val="100"/>
              </a:spcAft>
            </a:pPr>
            <a:r>
              <a:rPr sz="1100" b="0" i="0">
                <a:solidFill>
                  <a:srgbClr val="C9D0FF"/>
                </a:solidFill>
                <a:latin typeface="Segoe UI"/>
              </a:rPr>
              <a:t>nothing is sent until the user clicks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Smart follow-ups: reminders drafted for you</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36</a:t>
            </a:r>
          </a:p>
        </p:txBody>
      </p:sp>
      <p:pic>
        <p:nvPicPr>
          <p:cNvPr id="10" name="Picture 9" descr="18_followups.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Sidebar → Follow-ups</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Suggested follow-ups</a:t>
            </a:r>
          </a:p>
          <a:p>
            <a:pPr algn="l">
              <a:spcAft>
                <a:spcPts val="100"/>
              </a:spcAft>
            </a:pPr>
            <a:r>
              <a:rPr sz="1100" b="0" i="0">
                <a:solidFill>
                  <a:srgbClr val="C9D0FF"/>
                </a:solidFill>
                <a:latin typeface="Segoe UI"/>
              </a:rPr>
              <a:t>reminders for pending tasks and a recap for the team</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Edit before sending</a:t>
            </a:r>
          </a:p>
          <a:p>
            <a:pPr algn="l">
              <a:spcAft>
                <a:spcPts val="100"/>
              </a:spcAft>
            </a:pPr>
            <a:r>
              <a:rPr sz="1100" b="0" i="0">
                <a:solidFill>
                  <a:srgbClr val="C9D0FF"/>
                </a:solidFill>
                <a:latin typeface="Segoe UI"/>
              </a:rPr>
              <a:t>optional LLM polish for friendlier wording</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One click to send</a:t>
            </a:r>
          </a:p>
          <a:p>
            <a:pPr algn="l">
              <a:spcAft>
                <a:spcPts val="100"/>
              </a:spcAft>
            </a:pPr>
            <a:r>
              <a:rPr sz="1100" b="0" i="0">
                <a:solidFill>
                  <a:srgbClr val="C9D0FF"/>
                </a:solidFill>
                <a:latin typeface="Segoe UI"/>
              </a:rPr>
              <a:t>or open as a draft; every send is logged</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Never automatic</a:t>
            </a:r>
          </a:p>
          <a:p>
            <a:pPr algn="l">
              <a:spcAft>
                <a:spcPts val="100"/>
              </a:spcAft>
            </a:pPr>
            <a:r>
              <a:rPr sz="1100" b="0" i="0">
                <a:solidFill>
                  <a:srgbClr val="C9D0FF"/>
                </a:solidFill>
                <a:latin typeface="Segoe UI"/>
              </a:rPr>
              <a:t>the user is always the one who sends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PRODUCT TOUR</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NLP Lab: see the classical NLP at work</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37</a:t>
            </a:r>
          </a:p>
        </p:txBody>
      </p:sp>
      <p:pic>
        <p:nvPicPr>
          <p:cNvPr id="10" name="Picture 9" descr="19_nlplab_live.jpg"/>
          <p:cNvPicPr>
            <a:picLocks noChangeAspect="1"/>
          </p:cNvPicPr>
          <p:nvPr/>
        </p:nvPicPr>
        <p:blipFill>
          <a:blip r:embed="rId3"/>
          <a:stretch>
            <a:fillRect/>
          </a:stretch>
        </p:blipFill>
        <p:spPr>
          <a:xfrm>
            <a:off x="548640" y="1325880"/>
            <a:ext cx="7223760" cy="4514850"/>
          </a:xfrm>
          <a:prstGeom prst="rect">
            <a:avLst/>
          </a:prstGeom>
          <a:ln w="19050">
            <a:solidFill>
              <a:srgbClr val="6D4AFF"/>
            </a:solidFill>
          </a:ln>
        </p:spPr>
      </p:pic>
      <p:sp>
        <p:nvSpPr>
          <p:cNvPr id="11" name="TextBox 10"/>
          <p:cNvSpPr txBox="1"/>
          <p:nvPr/>
        </p:nvSpPr>
        <p:spPr>
          <a:xfrm>
            <a:off x="548640" y="5913882"/>
            <a:ext cx="7223760" cy="274320"/>
          </a:xfrm>
          <a:prstGeom prst="rect">
            <a:avLst/>
          </a:prstGeom>
          <a:noFill/>
        </p:spPr>
        <p:txBody>
          <a:bodyPr wrap="square" lIns="36576" rIns="36576" tIns="18288" bIns="18288" anchor="t">
            <a:spAutoFit/>
          </a:bodyPr>
          <a:lstStyle/>
          <a:p>
            <a:pPr algn="l"/>
            <a:r>
              <a:rPr sz="1050" b="0" i="1">
                <a:solidFill>
                  <a:srgbClr val="8E99E0"/>
                </a:solidFill>
                <a:latin typeface="Segoe UI"/>
              </a:rPr>
              <a:t>Sidebar → NLP Lab</a:t>
            </a:r>
          </a:p>
        </p:txBody>
      </p:sp>
      <p:sp>
        <p:nvSpPr>
          <p:cNvPr id="12" name="TextBox 11"/>
          <p:cNvSpPr txBox="1"/>
          <p:nvPr/>
        </p:nvSpPr>
        <p:spPr>
          <a:xfrm>
            <a:off x="8092440" y="1298448"/>
            <a:ext cx="3550615" cy="320040"/>
          </a:xfrm>
          <a:prstGeom prst="rect">
            <a:avLst/>
          </a:prstGeom>
          <a:noFill/>
        </p:spPr>
        <p:txBody>
          <a:bodyPr wrap="square" lIns="36576" rIns="36576" tIns="18288" bIns="18288" anchor="t">
            <a:spAutoFit/>
          </a:bodyPr>
          <a:lstStyle/>
          <a:p>
            <a:pPr algn="l"/>
            <a:r>
              <a:rPr sz="1050" b="1" i="0">
                <a:solidFill>
                  <a:srgbClr val="A78BFA"/>
                </a:solidFill>
                <a:latin typeface="Segoe UI"/>
              </a:rPr>
              <a:t>WHAT YOU SEE</a:t>
            </a:r>
          </a:p>
        </p:txBody>
      </p:sp>
      <p:sp>
        <p:nvSpPr>
          <p:cNvPr id="13" name="Oval 12"/>
          <p:cNvSpPr/>
          <p:nvPr/>
        </p:nvSpPr>
        <p:spPr>
          <a:xfrm>
            <a:off x="8092440" y="1719072"/>
            <a:ext cx="310896" cy="310896"/>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1907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1</a:t>
            </a:r>
          </a:p>
        </p:txBody>
      </p:sp>
      <p:sp>
        <p:nvSpPr>
          <p:cNvPr id="15" name="TextBox 14"/>
          <p:cNvSpPr txBox="1"/>
          <p:nvPr/>
        </p:nvSpPr>
        <p:spPr>
          <a:xfrm>
            <a:off x="8503919" y="169164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Try it live</a:t>
            </a:r>
          </a:p>
          <a:p>
            <a:pPr algn="l">
              <a:spcAft>
                <a:spcPts val="100"/>
              </a:spcAft>
            </a:pPr>
            <a:r>
              <a:rPr sz="1100" b="0" i="0">
                <a:solidFill>
                  <a:srgbClr val="C9D0FF"/>
                </a:solidFill>
                <a:latin typeface="Segoe UI"/>
              </a:rPr>
              <a:t>paste any text, see each sentence's class, score, owner, date</a:t>
            </a:r>
          </a:p>
        </p:txBody>
      </p:sp>
      <p:sp>
        <p:nvSpPr>
          <p:cNvPr id="16" name="Oval 15"/>
          <p:cNvSpPr/>
          <p:nvPr/>
        </p:nvSpPr>
        <p:spPr>
          <a:xfrm>
            <a:off x="8092440" y="2873502"/>
            <a:ext cx="310896" cy="310896"/>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87350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2</a:t>
            </a:r>
          </a:p>
        </p:txBody>
      </p:sp>
      <p:sp>
        <p:nvSpPr>
          <p:cNvPr id="18" name="TextBox 17"/>
          <p:cNvSpPr txBox="1"/>
          <p:nvPr/>
        </p:nvSpPr>
        <p:spPr>
          <a:xfrm>
            <a:off x="8503919" y="284607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Evaluation</a:t>
            </a:r>
          </a:p>
          <a:p>
            <a:pPr algn="l">
              <a:spcAft>
                <a:spcPts val="100"/>
              </a:spcAft>
            </a:pPr>
            <a:r>
              <a:rPr sz="1100" b="0" i="0">
                <a:solidFill>
                  <a:srgbClr val="C9D0FF"/>
                </a:solidFill>
                <a:latin typeface="Segoe UI"/>
              </a:rPr>
              <a:t>accuracy, per-class report and confusion matrix on 42 test sentences</a:t>
            </a:r>
          </a:p>
        </p:txBody>
      </p:sp>
      <p:sp>
        <p:nvSpPr>
          <p:cNvPr id="19" name="Oval 18"/>
          <p:cNvSpPr/>
          <p:nvPr/>
        </p:nvSpPr>
        <p:spPr>
          <a:xfrm>
            <a:off x="8092440" y="4027932"/>
            <a:ext cx="310896" cy="310896"/>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402793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3</a:t>
            </a:r>
          </a:p>
        </p:txBody>
      </p:sp>
      <p:sp>
        <p:nvSpPr>
          <p:cNvPr id="21" name="TextBox 20"/>
          <p:cNvSpPr txBox="1"/>
          <p:nvPr/>
        </p:nvSpPr>
        <p:spPr>
          <a:xfrm>
            <a:off x="8503919" y="400050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Gateway log</a:t>
            </a:r>
          </a:p>
          <a:p>
            <a:pPr algn="l">
              <a:spcAft>
                <a:spcPts val="100"/>
              </a:spcAft>
            </a:pPr>
            <a:r>
              <a:rPr sz="1100" b="0" i="0">
                <a:solidFill>
                  <a:srgbClr val="C9D0FF"/>
                </a:solidFill>
                <a:latin typeface="Segoe UI"/>
              </a:rPr>
              <a:t>every decision with its reason code</a:t>
            </a:r>
          </a:p>
        </p:txBody>
      </p:sp>
      <p:sp>
        <p:nvSpPr>
          <p:cNvPr id="22" name="Oval 21"/>
          <p:cNvSpPr/>
          <p:nvPr/>
        </p:nvSpPr>
        <p:spPr>
          <a:xfrm>
            <a:off x="8092440" y="518236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182362"/>
            <a:ext cx="310896" cy="310896"/>
          </a:xfrm>
          <a:prstGeom prst="rect">
            <a:avLst/>
          </a:prstGeom>
          <a:noFill/>
        </p:spPr>
        <p:txBody>
          <a:bodyPr wrap="square" lIns="36576" rIns="36576" tIns="18288" bIns="18288" anchor="ctr">
            <a:spAutoFit/>
          </a:bodyPr>
          <a:lstStyle/>
          <a:p>
            <a:pPr algn="ctr"/>
            <a:r>
              <a:rPr sz="1050" b="1" i="0">
                <a:solidFill>
                  <a:srgbClr val="0B1030"/>
                </a:solidFill>
                <a:latin typeface="Segoe UI"/>
              </a:rPr>
              <a:t>4</a:t>
            </a:r>
          </a:p>
        </p:txBody>
      </p:sp>
      <p:sp>
        <p:nvSpPr>
          <p:cNvPr id="24" name="TextBox 23"/>
          <p:cNvSpPr txBox="1"/>
          <p:nvPr/>
        </p:nvSpPr>
        <p:spPr>
          <a:xfrm>
            <a:off x="8503919" y="5154930"/>
            <a:ext cx="3139135" cy="1108710"/>
          </a:xfrm>
          <a:prstGeom prst="rect">
            <a:avLst/>
          </a:prstGeom>
          <a:noFill/>
        </p:spPr>
        <p:txBody>
          <a:bodyPr wrap="square" lIns="36576" rIns="36576" tIns="18288" bIns="18288" anchor="t">
            <a:spAutoFit/>
          </a:bodyPr>
          <a:lstStyle/>
          <a:p>
            <a:pPr algn="l">
              <a:spcAft>
                <a:spcPts val="100"/>
              </a:spcAft>
            </a:pPr>
            <a:r>
              <a:rPr sz="1250" b="1" i="0">
                <a:solidFill>
                  <a:srgbClr val="FFFFFF"/>
                </a:solidFill>
                <a:latin typeface="Segoe UI"/>
              </a:rPr>
              <a:t>Threshold simulator</a:t>
            </a:r>
          </a:p>
          <a:p>
            <a:pPr algn="l">
              <a:spcAft>
                <a:spcPts val="100"/>
              </a:spcAft>
            </a:pPr>
            <a:r>
              <a:rPr sz="1100" b="0" i="0">
                <a:solidFill>
                  <a:srgbClr val="C9D0FF"/>
                </a:solidFill>
                <a:latin typeface="Segoe UI"/>
              </a:rPr>
              <a:t>see how changing the gateway values would change results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6949440" y="-2011680"/>
            <a:ext cx="7772400" cy="77724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3291840"/>
            <a:ext cx="5669280" cy="566928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423160"/>
            <a:ext cx="1188720" cy="1188720"/>
          </a:xfrm>
          <a:prstGeom prst="ellipse">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23160"/>
            <a:ext cx="1188720" cy="1188720"/>
          </a:xfrm>
          <a:prstGeom prst="rect">
            <a:avLst/>
          </a:prstGeom>
          <a:noFill/>
        </p:spPr>
        <p:txBody>
          <a:bodyPr wrap="square" lIns="36576" rIns="36576" tIns="18288" bIns="18288" anchor="ctr">
            <a:spAutoFit/>
          </a:bodyPr>
          <a:lstStyle/>
          <a:p>
            <a:pPr algn="ctr"/>
            <a:r>
              <a:rPr sz="3800" b="1" i="0">
                <a:solidFill>
                  <a:srgbClr val="FFFFFF"/>
                </a:solidFill>
                <a:latin typeface="Segoe UI"/>
              </a:rPr>
              <a:t>6</a:t>
            </a:r>
          </a:p>
        </p:txBody>
      </p:sp>
      <p:sp>
        <p:nvSpPr>
          <p:cNvPr id="8" name="TextBox 7"/>
          <p:cNvSpPr txBox="1"/>
          <p:nvPr/>
        </p:nvSpPr>
        <p:spPr>
          <a:xfrm>
            <a:off x="2331720" y="2331720"/>
            <a:ext cx="8686800" cy="822960"/>
          </a:xfrm>
          <a:prstGeom prst="rect">
            <a:avLst/>
          </a:prstGeom>
          <a:noFill/>
        </p:spPr>
        <p:txBody>
          <a:bodyPr wrap="square" lIns="36576" rIns="36576" tIns="18288" bIns="18288" anchor="ctr">
            <a:spAutoFit/>
          </a:bodyPr>
          <a:lstStyle/>
          <a:p>
            <a:pPr algn="l"/>
            <a:r>
              <a:rPr sz="3800" b="1" i="0">
                <a:solidFill>
                  <a:srgbClr val="FFFFFF"/>
                </a:solidFill>
                <a:latin typeface="Segoe UI"/>
              </a:rPr>
              <a:t>Engineering decisions</a:t>
            </a:r>
          </a:p>
        </p:txBody>
      </p:sp>
      <p:sp>
        <p:nvSpPr>
          <p:cNvPr id="9" name="TextBox 8"/>
          <p:cNvSpPr txBox="1"/>
          <p:nvPr/>
        </p:nvSpPr>
        <p:spPr>
          <a:xfrm>
            <a:off x="2331720" y="3154680"/>
            <a:ext cx="8046720" cy="822960"/>
          </a:xfrm>
          <a:prstGeom prst="rect">
            <a:avLst/>
          </a:prstGeom>
          <a:noFill/>
        </p:spPr>
        <p:txBody>
          <a:bodyPr wrap="square" lIns="36576" rIns="36576" tIns="18288" bIns="18288" anchor="t">
            <a:spAutoFit/>
          </a:bodyPr>
          <a:lstStyle/>
          <a:p>
            <a:pPr algn="l"/>
            <a:r>
              <a:rPr sz="1700" b="0" i="0">
                <a:solidFill>
                  <a:srgbClr val="C9D0FF"/>
                </a:solidFill>
                <a:latin typeface="Segoe UI"/>
              </a:rPr>
              <a:t>Technology, assumptions with reasons, security and deployment.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TECH STACK</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Technology and why we chose it</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39</a:t>
            </a:r>
          </a:p>
        </p:txBody>
      </p:sp>
      <p:sp>
        <p:nvSpPr>
          <p:cNvPr id="10" name="Rounded Rectangle 9"/>
          <p:cNvSpPr/>
          <p:nvPr/>
        </p:nvSpPr>
        <p:spPr>
          <a:xfrm>
            <a:off x="548640" y="1371600"/>
            <a:ext cx="36118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32826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3246120" cy="365760"/>
          </a:xfrm>
          <a:prstGeom prst="rect">
            <a:avLst/>
          </a:prstGeom>
          <a:noFill/>
        </p:spPr>
        <p:txBody>
          <a:bodyPr wrap="square" lIns="36576" rIns="36576" tIns="18288" bIns="18288" anchor="t">
            <a:spAutoFit/>
          </a:bodyPr>
          <a:lstStyle/>
          <a:p>
            <a:pPr algn="l"/>
            <a:r>
              <a:rPr sz="1600" b="1" i="0">
                <a:solidFill>
                  <a:srgbClr val="FFFFFF"/>
                </a:solidFill>
                <a:latin typeface="Segoe UI"/>
              </a:rPr>
              <a:t>Interface</a:t>
            </a:r>
          </a:p>
        </p:txBody>
      </p:sp>
      <p:sp>
        <p:nvSpPr>
          <p:cNvPr id="13" name="TextBox 12"/>
          <p:cNvSpPr txBox="1"/>
          <p:nvPr/>
        </p:nvSpPr>
        <p:spPr>
          <a:xfrm>
            <a:off x="731520" y="1965960"/>
            <a:ext cx="3246120" cy="914400"/>
          </a:xfrm>
          <a:prstGeom prst="rect">
            <a:avLst/>
          </a:prstGeom>
          <a:noFill/>
        </p:spPr>
        <p:txBody>
          <a:bodyPr wrap="square" lIns="36576" rIns="36576" tIns="18288" bIns="18288" anchor="t">
            <a:spAutoFit/>
          </a:bodyPr>
          <a:lstStyle/>
          <a:p>
            <a:pPr algn="l"/>
            <a:r>
              <a:rPr sz="1350" b="0" i="0">
                <a:solidFill>
                  <a:srgbClr val="C9D0FF"/>
                </a:solidFill>
                <a:latin typeface="Segoe UI"/>
              </a:rPr>
              <a:t>Streamlit · custom CSS theme · Plotly charts</a:t>
            </a:r>
          </a:p>
        </p:txBody>
      </p:sp>
      <p:sp>
        <p:nvSpPr>
          <p:cNvPr id="14" name="Rounded Rectangle 13"/>
          <p:cNvSpPr/>
          <p:nvPr/>
        </p:nvSpPr>
        <p:spPr>
          <a:xfrm>
            <a:off x="731520" y="2971800"/>
            <a:ext cx="3246120" cy="502920"/>
          </a:xfrm>
          <a:prstGeom prst="roundRect">
            <a:avLst>
              <a:gd name="adj" fmla="val 30000"/>
            </a:avLst>
          </a:prstGeom>
          <a:solidFill>
            <a:srgbClr val="221C5C"/>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971800"/>
            <a:ext cx="3154680" cy="502920"/>
          </a:xfrm>
          <a:prstGeom prst="rect">
            <a:avLst/>
          </a:prstGeom>
          <a:noFill/>
        </p:spPr>
        <p:txBody>
          <a:bodyPr wrap="square" lIns="36576" rIns="36576" tIns="18288" bIns="18288" anchor="ctr">
            <a:spAutoFit/>
          </a:bodyPr>
          <a:lstStyle/>
          <a:p>
            <a:pPr algn="ctr"/>
            <a:r>
              <a:rPr sz="1100" b="1" i="0">
                <a:solidFill>
                  <a:srgbClr val="D4C8FF"/>
                </a:solidFill>
                <a:latin typeface="Segoe UI"/>
              </a:rPr>
              <a:t>Why: Fast Python UI with free hosting</a:t>
            </a:r>
          </a:p>
        </p:txBody>
      </p:sp>
      <p:sp>
        <p:nvSpPr>
          <p:cNvPr id="16" name="Rounded Rectangle 15"/>
          <p:cNvSpPr/>
          <p:nvPr/>
        </p:nvSpPr>
        <p:spPr>
          <a:xfrm>
            <a:off x="4297679" y="1371600"/>
            <a:ext cx="36118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62271" y="1371600"/>
            <a:ext cx="32826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1508760"/>
            <a:ext cx="3246120" cy="365760"/>
          </a:xfrm>
          <a:prstGeom prst="rect">
            <a:avLst/>
          </a:prstGeom>
          <a:noFill/>
        </p:spPr>
        <p:txBody>
          <a:bodyPr wrap="square" lIns="36576" rIns="36576" tIns="18288" bIns="18288" anchor="t">
            <a:spAutoFit/>
          </a:bodyPr>
          <a:lstStyle/>
          <a:p>
            <a:pPr algn="l"/>
            <a:r>
              <a:rPr sz="1600" b="1" i="0">
                <a:solidFill>
                  <a:srgbClr val="FFFFFF"/>
                </a:solidFill>
                <a:latin typeface="Segoe UI"/>
              </a:rPr>
              <a:t>Storage &amp; search</a:t>
            </a:r>
          </a:p>
        </p:txBody>
      </p:sp>
      <p:sp>
        <p:nvSpPr>
          <p:cNvPr id="19" name="TextBox 18"/>
          <p:cNvSpPr txBox="1"/>
          <p:nvPr/>
        </p:nvSpPr>
        <p:spPr>
          <a:xfrm>
            <a:off x="4480559" y="1965960"/>
            <a:ext cx="3246120" cy="914400"/>
          </a:xfrm>
          <a:prstGeom prst="rect">
            <a:avLst/>
          </a:prstGeom>
          <a:noFill/>
        </p:spPr>
        <p:txBody>
          <a:bodyPr wrap="square" lIns="36576" rIns="36576" tIns="18288" bIns="18288" anchor="t">
            <a:spAutoFit/>
          </a:bodyPr>
          <a:lstStyle/>
          <a:p>
            <a:pPr algn="l"/>
            <a:r>
              <a:rPr sz="1350" b="0" i="0">
                <a:solidFill>
                  <a:srgbClr val="C9D0FF"/>
                </a:solidFill>
                <a:latin typeface="Segoe UI"/>
              </a:rPr>
              <a:t>SQLite + FTS5 · ChromaDB · ONNX MiniLM</a:t>
            </a:r>
          </a:p>
        </p:txBody>
      </p:sp>
      <p:sp>
        <p:nvSpPr>
          <p:cNvPr id="20" name="Rounded Rectangle 19"/>
          <p:cNvSpPr/>
          <p:nvPr/>
        </p:nvSpPr>
        <p:spPr>
          <a:xfrm>
            <a:off x="4480559" y="2971800"/>
            <a:ext cx="3246120" cy="502920"/>
          </a:xfrm>
          <a:prstGeom prst="roundRect">
            <a:avLst>
              <a:gd name="adj" fmla="val 30000"/>
            </a:avLst>
          </a:prstGeom>
          <a:solidFill>
            <a:srgbClr val="0C3626"/>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79" y="2971800"/>
            <a:ext cx="3154680" cy="502920"/>
          </a:xfrm>
          <a:prstGeom prst="rect">
            <a:avLst/>
          </a:prstGeom>
          <a:noFill/>
        </p:spPr>
        <p:txBody>
          <a:bodyPr wrap="square" lIns="36576" rIns="36576" tIns="18288" bIns="18288" anchor="ctr">
            <a:spAutoFit/>
          </a:bodyPr>
          <a:lstStyle/>
          <a:p>
            <a:pPr algn="ctr"/>
            <a:r>
              <a:rPr sz="1100" b="1" i="0">
                <a:solidFill>
                  <a:srgbClr val="8CF0C6"/>
                </a:solidFill>
                <a:latin typeface="Segoe UI"/>
              </a:rPr>
              <a:t>Why: No server, no cost, small memory</a:t>
            </a:r>
          </a:p>
        </p:txBody>
      </p:sp>
      <p:sp>
        <p:nvSpPr>
          <p:cNvPr id="22" name="Rounded Rectangle 21"/>
          <p:cNvSpPr/>
          <p:nvPr/>
        </p:nvSpPr>
        <p:spPr>
          <a:xfrm>
            <a:off x="8046719" y="1371600"/>
            <a:ext cx="36118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11311" y="1371600"/>
            <a:ext cx="32826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9" y="1508760"/>
            <a:ext cx="3246120" cy="365760"/>
          </a:xfrm>
          <a:prstGeom prst="rect">
            <a:avLst/>
          </a:prstGeom>
          <a:noFill/>
        </p:spPr>
        <p:txBody>
          <a:bodyPr wrap="square" lIns="36576" rIns="36576" tIns="18288" bIns="18288" anchor="t">
            <a:spAutoFit/>
          </a:bodyPr>
          <a:lstStyle/>
          <a:p>
            <a:pPr algn="l"/>
            <a:r>
              <a:rPr sz="1600" b="1" i="0">
                <a:solidFill>
                  <a:srgbClr val="FFFFFF"/>
                </a:solidFill>
                <a:latin typeface="Segoe UI"/>
              </a:rPr>
              <a:t>Classical NLP</a:t>
            </a:r>
          </a:p>
        </p:txBody>
      </p:sp>
      <p:sp>
        <p:nvSpPr>
          <p:cNvPr id="25" name="TextBox 24"/>
          <p:cNvSpPr txBox="1"/>
          <p:nvPr/>
        </p:nvSpPr>
        <p:spPr>
          <a:xfrm>
            <a:off x="8229599" y="1965960"/>
            <a:ext cx="3246120" cy="914400"/>
          </a:xfrm>
          <a:prstGeom prst="rect">
            <a:avLst/>
          </a:prstGeom>
          <a:noFill/>
        </p:spPr>
        <p:txBody>
          <a:bodyPr wrap="square" lIns="36576" rIns="36576" tIns="18288" bIns="18288" anchor="t">
            <a:spAutoFit/>
          </a:bodyPr>
          <a:lstStyle/>
          <a:p>
            <a:pPr algn="l"/>
            <a:r>
              <a:rPr sz="1350" b="0" i="0">
                <a:solidFill>
                  <a:srgbClr val="C9D0FF"/>
                </a:solidFill>
                <a:latin typeface="Segoe UI"/>
              </a:rPr>
              <a:t>scikit-learn TF-IDF + Naive Bayes · rule cues · rapidfuzz · own date resolver</a:t>
            </a:r>
          </a:p>
        </p:txBody>
      </p:sp>
      <p:sp>
        <p:nvSpPr>
          <p:cNvPr id="26" name="Rounded Rectangle 25"/>
          <p:cNvSpPr/>
          <p:nvPr/>
        </p:nvSpPr>
        <p:spPr>
          <a:xfrm>
            <a:off x="8229599" y="2971800"/>
            <a:ext cx="3246120" cy="502920"/>
          </a:xfrm>
          <a:prstGeom prst="roundRect">
            <a:avLst>
              <a:gd name="adj" fmla="val 30000"/>
            </a:avLst>
          </a:prstGeom>
          <a:solidFill>
            <a:srgbClr val="0B3238"/>
          </a:solidFill>
          <a:ln w="127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2971800"/>
            <a:ext cx="3154680" cy="502920"/>
          </a:xfrm>
          <a:prstGeom prst="rect">
            <a:avLst/>
          </a:prstGeom>
          <a:noFill/>
        </p:spPr>
        <p:txBody>
          <a:bodyPr wrap="square" lIns="36576" rIns="36576" tIns="18288" bIns="18288" anchor="ctr">
            <a:spAutoFit/>
          </a:bodyPr>
          <a:lstStyle/>
          <a:p>
            <a:pPr algn="ctr"/>
            <a:r>
              <a:rPr sz="1100" b="1" i="0">
                <a:solidFill>
                  <a:srgbClr val="7DF0DF"/>
                </a:solidFill>
                <a:latin typeface="Segoe UI"/>
              </a:rPr>
              <a:t>Why: Small, fast and explainable</a:t>
            </a:r>
          </a:p>
        </p:txBody>
      </p:sp>
      <p:sp>
        <p:nvSpPr>
          <p:cNvPr id="28" name="Rounded Rectangle 27"/>
          <p:cNvSpPr/>
          <p:nvPr/>
        </p:nvSpPr>
        <p:spPr>
          <a:xfrm>
            <a:off x="548640" y="3840480"/>
            <a:ext cx="36118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3232" y="3840480"/>
            <a:ext cx="32826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977640"/>
            <a:ext cx="3246120" cy="365760"/>
          </a:xfrm>
          <a:prstGeom prst="rect">
            <a:avLst/>
          </a:prstGeom>
          <a:noFill/>
        </p:spPr>
        <p:txBody>
          <a:bodyPr wrap="square" lIns="36576" rIns="36576" tIns="18288" bIns="18288" anchor="t">
            <a:spAutoFit/>
          </a:bodyPr>
          <a:lstStyle/>
          <a:p>
            <a:pPr algn="l"/>
            <a:r>
              <a:rPr sz="1600" b="1" i="0">
                <a:solidFill>
                  <a:srgbClr val="FFFFFF"/>
                </a:solidFill>
                <a:latin typeface="Segoe UI"/>
              </a:rPr>
              <a:t>Speech &amp; speakers</a:t>
            </a:r>
          </a:p>
        </p:txBody>
      </p:sp>
      <p:sp>
        <p:nvSpPr>
          <p:cNvPr id="31" name="TextBox 30"/>
          <p:cNvSpPr txBox="1"/>
          <p:nvPr/>
        </p:nvSpPr>
        <p:spPr>
          <a:xfrm>
            <a:off x="731520" y="4434840"/>
            <a:ext cx="3246120" cy="914400"/>
          </a:xfrm>
          <a:prstGeom prst="rect">
            <a:avLst/>
          </a:prstGeom>
          <a:noFill/>
        </p:spPr>
        <p:txBody>
          <a:bodyPr wrap="square" lIns="36576" rIns="36576" tIns="18288" bIns="18288" anchor="t">
            <a:spAutoFit/>
          </a:bodyPr>
          <a:lstStyle/>
          <a:p>
            <a:pPr algn="l"/>
            <a:r>
              <a:rPr sz="1350" b="0" i="0">
                <a:solidFill>
                  <a:srgbClr val="C9D0FF"/>
                </a:solidFill>
                <a:latin typeface="Segoe UI"/>
              </a:rPr>
              <a:t>FFmpeg · Whisper (Groq) · pyannoteAI / pyannote · AssemblyAI</a:t>
            </a:r>
          </a:p>
        </p:txBody>
      </p:sp>
      <p:sp>
        <p:nvSpPr>
          <p:cNvPr id="32" name="Rounded Rectangle 31"/>
          <p:cNvSpPr/>
          <p:nvPr/>
        </p:nvSpPr>
        <p:spPr>
          <a:xfrm>
            <a:off x="731520" y="5440680"/>
            <a:ext cx="3246120" cy="502920"/>
          </a:xfrm>
          <a:prstGeom prst="roundRect">
            <a:avLst>
              <a:gd name="adj" fmla="val 30000"/>
            </a:avLst>
          </a:prstGeom>
          <a:solidFill>
            <a:srgbClr val="10285C"/>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440680"/>
            <a:ext cx="3154680" cy="502920"/>
          </a:xfrm>
          <a:prstGeom prst="rect">
            <a:avLst/>
          </a:prstGeom>
          <a:noFill/>
        </p:spPr>
        <p:txBody>
          <a:bodyPr wrap="square" lIns="36576" rIns="36576" tIns="18288" bIns="18288" anchor="ctr">
            <a:spAutoFit/>
          </a:bodyPr>
          <a:lstStyle/>
          <a:p>
            <a:pPr algn="ctr"/>
            <a:r>
              <a:rPr sz="1100" b="1" i="0">
                <a:solidFill>
                  <a:srgbClr val="A9CCFF"/>
                </a:solidFill>
                <a:latin typeface="Segoe UI"/>
              </a:rPr>
              <a:t>Why: Names on voices without a GPU</a:t>
            </a:r>
          </a:p>
        </p:txBody>
      </p:sp>
      <p:sp>
        <p:nvSpPr>
          <p:cNvPr id="34" name="Rounded Rectangle 33"/>
          <p:cNvSpPr/>
          <p:nvPr/>
        </p:nvSpPr>
        <p:spPr>
          <a:xfrm>
            <a:off x="4297679" y="3840480"/>
            <a:ext cx="36118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62271" y="3840480"/>
            <a:ext cx="3282696"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0559" y="3977640"/>
            <a:ext cx="3246120" cy="365760"/>
          </a:xfrm>
          <a:prstGeom prst="rect">
            <a:avLst/>
          </a:prstGeom>
          <a:noFill/>
        </p:spPr>
        <p:txBody>
          <a:bodyPr wrap="square" lIns="36576" rIns="36576" tIns="18288" bIns="18288" anchor="t">
            <a:spAutoFit/>
          </a:bodyPr>
          <a:lstStyle/>
          <a:p>
            <a:pPr algn="l"/>
            <a:r>
              <a:rPr sz="1600" b="1" i="0">
                <a:solidFill>
                  <a:srgbClr val="FFFFFF"/>
                </a:solidFill>
                <a:latin typeface="Segoe UI"/>
              </a:rPr>
              <a:t>Free AI models</a:t>
            </a:r>
          </a:p>
        </p:txBody>
      </p:sp>
      <p:sp>
        <p:nvSpPr>
          <p:cNvPr id="37" name="TextBox 36"/>
          <p:cNvSpPr txBox="1"/>
          <p:nvPr/>
        </p:nvSpPr>
        <p:spPr>
          <a:xfrm>
            <a:off x="4480559" y="4434840"/>
            <a:ext cx="3246120" cy="914400"/>
          </a:xfrm>
          <a:prstGeom prst="rect">
            <a:avLst/>
          </a:prstGeom>
          <a:noFill/>
        </p:spPr>
        <p:txBody>
          <a:bodyPr wrap="square" lIns="36576" rIns="36576" tIns="18288" bIns="18288" anchor="t">
            <a:spAutoFit/>
          </a:bodyPr>
          <a:lstStyle/>
          <a:p>
            <a:pPr algn="l"/>
            <a:r>
              <a:rPr sz="1350" b="0" i="0">
                <a:solidFill>
                  <a:srgbClr val="C9D0FF"/>
                </a:solidFill>
                <a:latin typeface="Segoe UI"/>
              </a:rPr>
              <a:t>Groq Llama 3.3 · Gemini 2.5 Flash · OpenRouter :free</a:t>
            </a:r>
          </a:p>
        </p:txBody>
      </p:sp>
      <p:sp>
        <p:nvSpPr>
          <p:cNvPr id="38" name="Rounded Rectangle 37"/>
          <p:cNvSpPr/>
          <p:nvPr/>
        </p:nvSpPr>
        <p:spPr>
          <a:xfrm>
            <a:off x="4480559" y="5440680"/>
            <a:ext cx="3246120" cy="502920"/>
          </a:xfrm>
          <a:prstGeom prst="roundRect">
            <a:avLst>
              <a:gd name="adj" fmla="val 30000"/>
            </a:avLst>
          </a:prstGeom>
          <a:solidFill>
            <a:srgbClr val="401537"/>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6279" y="5440680"/>
            <a:ext cx="3154680" cy="502920"/>
          </a:xfrm>
          <a:prstGeom prst="rect">
            <a:avLst/>
          </a:prstGeom>
          <a:noFill/>
        </p:spPr>
        <p:txBody>
          <a:bodyPr wrap="square" lIns="36576" rIns="36576" tIns="18288" bIns="18288" anchor="ctr">
            <a:spAutoFit/>
          </a:bodyPr>
          <a:lstStyle/>
          <a:p>
            <a:pPr algn="ctr"/>
            <a:r>
              <a:rPr sz="1100" b="1" i="0">
                <a:solidFill>
                  <a:srgbClr val="FFB7DE"/>
                </a:solidFill>
                <a:latin typeface="Segoe UI"/>
              </a:rPr>
              <a:t>Why: Three providers behind one router</a:t>
            </a:r>
          </a:p>
        </p:txBody>
      </p:sp>
      <p:sp>
        <p:nvSpPr>
          <p:cNvPr id="40" name="Rounded Rectangle 39"/>
          <p:cNvSpPr/>
          <p:nvPr/>
        </p:nvSpPr>
        <p:spPr>
          <a:xfrm>
            <a:off x="8046719" y="3840480"/>
            <a:ext cx="36118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11311" y="3840480"/>
            <a:ext cx="32826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599" y="3977640"/>
            <a:ext cx="3246120" cy="365760"/>
          </a:xfrm>
          <a:prstGeom prst="rect">
            <a:avLst/>
          </a:prstGeom>
          <a:noFill/>
        </p:spPr>
        <p:txBody>
          <a:bodyPr wrap="square" lIns="36576" rIns="36576" tIns="18288" bIns="18288" anchor="t">
            <a:spAutoFit/>
          </a:bodyPr>
          <a:lstStyle/>
          <a:p>
            <a:pPr algn="l"/>
            <a:r>
              <a:rPr sz="1600" b="1" i="0">
                <a:solidFill>
                  <a:srgbClr val="FFFFFF"/>
                </a:solidFill>
                <a:latin typeface="Segoe UI"/>
              </a:rPr>
              <a:t>Documents &amp; delivery</a:t>
            </a:r>
          </a:p>
        </p:txBody>
      </p:sp>
      <p:sp>
        <p:nvSpPr>
          <p:cNvPr id="43" name="TextBox 42"/>
          <p:cNvSpPr txBox="1"/>
          <p:nvPr/>
        </p:nvSpPr>
        <p:spPr>
          <a:xfrm>
            <a:off x="8229599" y="4434840"/>
            <a:ext cx="3246120" cy="914400"/>
          </a:xfrm>
          <a:prstGeom prst="rect">
            <a:avLst/>
          </a:prstGeom>
          <a:noFill/>
        </p:spPr>
        <p:txBody>
          <a:bodyPr wrap="square" lIns="36576" rIns="36576" tIns="18288" bIns="18288" anchor="t">
            <a:spAutoFit/>
          </a:bodyPr>
          <a:lstStyle/>
          <a:p>
            <a:pPr algn="l"/>
            <a:r>
              <a:rPr sz="1350" b="0" i="0">
                <a:solidFill>
                  <a:srgbClr val="C9D0FF"/>
                </a:solidFill>
                <a:latin typeface="Segoe UI"/>
              </a:rPr>
              <a:t>python-docx · ReportLab · SMTP · .ics · Streamlit Cloud</a:t>
            </a:r>
          </a:p>
        </p:txBody>
      </p:sp>
      <p:sp>
        <p:nvSpPr>
          <p:cNvPr id="44" name="Rounded Rectangle 43"/>
          <p:cNvSpPr/>
          <p:nvPr/>
        </p:nvSpPr>
        <p:spPr>
          <a:xfrm>
            <a:off x="8229599" y="5440680"/>
            <a:ext cx="3246120" cy="502920"/>
          </a:xfrm>
          <a:prstGeom prst="roundRect">
            <a:avLst>
              <a:gd name="adj" fmla="val 30000"/>
            </a:avLst>
          </a:prstGeom>
          <a:solidFill>
            <a:srgbClr val="3F2D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319" y="5440680"/>
            <a:ext cx="3154680" cy="502920"/>
          </a:xfrm>
          <a:prstGeom prst="rect">
            <a:avLst/>
          </a:prstGeom>
          <a:noFill/>
        </p:spPr>
        <p:txBody>
          <a:bodyPr wrap="square" lIns="36576" rIns="36576" tIns="18288" bIns="18288" anchor="ctr">
            <a:spAutoFit/>
          </a:bodyPr>
          <a:lstStyle/>
          <a:p>
            <a:pPr algn="ctr"/>
            <a:r>
              <a:rPr sz="1100" b="1" i="0">
                <a:solidFill>
                  <a:srgbClr val="FFD978"/>
                </a:solidFill>
                <a:latin typeface="Segoe UI"/>
              </a:rPr>
              <a:t>Why: Word / PDF minutes, e-mail, calendar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HONEST ENGINEERING</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Assumptions and decisions (1/3): the NLP numbers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40</a:t>
            </a:r>
          </a:p>
        </p:txBody>
      </p:sp>
      <p:sp>
        <p:nvSpPr>
          <p:cNvPr id="10" name="Rounded Rectangle 9"/>
          <p:cNvSpPr/>
          <p:nvPr/>
        </p:nvSpPr>
        <p:spPr>
          <a:xfrm>
            <a:off x="548640" y="137160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51114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Gateway thresholds 0.80 / 0.15 / 0.85 / 0.85</a:t>
            </a:r>
          </a:p>
        </p:txBody>
      </p:sp>
      <p:sp>
        <p:nvSpPr>
          <p:cNvPr id="13" name="TextBox 12"/>
          <p:cNvSpPr txBox="1"/>
          <p:nvPr/>
        </p:nvSpPr>
        <p:spPr>
          <a:xfrm>
            <a:off x="731520" y="205740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Sensible starting values, not measured optima. Owner and deadline are held to a higher bar than the label because a wrong owner or date does more harm than a wrong class. All are sliders in Settings.</a:t>
            </a:r>
          </a:p>
        </p:txBody>
      </p:sp>
      <p:sp>
        <p:nvSpPr>
          <p:cNvPr id="14" name="Rounded Rectangle 13"/>
          <p:cNvSpPr/>
          <p:nvPr/>
        </p:nvSpPr>
        <p:spPr>
          <a:xfrm>
            <a:off x="6172200" y="137160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6792" y="1371600"/>
            <a:ext cx="51114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Fusion 50 / 50 and hedge × 0.8</a:t>
            </a:r>
          </a:p>
        </p:txBody>
      </p:sp>
      <p:sp>
        <p:nvSpPr>
          <p:cNvPr id="17" name="TextBox 16"/>
          <p:cNvSpPr txBox="1"/>
          <p:nvPr/>
        </p:nvSpPr>
        <p:spPr>
          <a:xfrm>
            <a:off x="6355080" y="205740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Naive Bayes alone is over-confident; rules keep scores honest. A hedged sentence ("maybe") is rarely a firm commitment, so its score is reduced.</a:t>
            </a:r>
          </a:p>
        </p:txBody>
      </p:sp>
      <p:sp>
        <p:nvSpPr>
          <p:cNvPr id="18" name="Rounded Rectangle 17"/>
          <p:cNvSpPr/>
          <p:nvPr/>
        </p:nvSpPr>
        <p:spPr>
          <a:xfrm>
            <a:off x="548640" y="384048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3840480"/>
            <a:ext cx="51114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7764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Template training data (610 sentences)</a:t>
            </a:r>
          </a:p>
        </p:txBody>
      </p:sp>
      <p:sp>
        <p:nvSpPr>
          <p:cNvPr id="21" name="TextBox 20"/>
          <p:cNvSpPr txBox="1"/>
          <p:nvPr/>
        </p:nvSpPr>
        <p:spPr>
          <a:xfrm>
            <a:off x="731520" y="452628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No labelled meeting corpus exists for our domain and free hosting rules out heavy training. Templates give an explainable baseline, measured on 42 separate test sentences.</a:t>
            </a:r>
          </a:p>
        </p:txBody>
      </p:sp>
      <p:sp>
        <p:nvSpPr>
          <p:cNvPr id="22" name="Rounded Rectangle 21"/>
          <p:cNvSpPr/>
          <p:nvPr/>
        </p:nvSpPr>
        <p:spPr>
          <a:xfrm>
            <a:off x="6172200" y="384048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3840480"/>
            <a:ext cx="51114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97764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Candidate floor 0.33 / review floor 0.55</a:t>
            </a:r>
          </a:p>
        </p:txBody>
      </p:sp>
      <p:sp>
        <p:nvSpPr>
          <p:cNvPr id="25" name="TextBox 24"/>
          <p:cNvSpPr txBox="1"/>
          <p:nvPr/>
        </p:nvSpPr>
        <p:spPr>
          <a:xfrm>
            <a:off x="6355080" y="452628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A low floor keeps recall so the gateway can judge borderline sentences. Without an LLM, only items scoring 0.55+ are kept, marked Needs review.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HONEST ENGINEERING</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Assumptions and decisions (2/3): trusting the output</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41</a:t>
            </a:r>
          </a:p>
        </p:txBody>
      </p:sp>
      <p:sp>
        <p:nvSpPr>
          <p:cNvPr id="10" name="Rounded Rectangle 9"/>
          <p:cNvSpPr/>
          <p:nvPr/>
        </p:nvSpPr>
        <p:spPr>
          <a:xfrm>
            <a:off x="548640" y="137160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5111496"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Vague deadlines stay empty</a:t>
            </a:r>
          </a:p>
        </p:txBody>
      </p:sp>
      <p:sp>
        <p:nvSpPr>
          <p:cNvPr id="13" name="TextBox 12"/>
          <p:cNvSpPr txBox="1"/>
          <p:nvPr/>
        </p:nvSpPr>
        <p:spPr>
          <a:xfrm>
            <a:off x="731520" y="205740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"Soon" or "later" has no date. An LLM cannot invent one that was never said, so the field shows Not specified - and this deliberately does not fail the gateway.</a:t>
            </a:r>
          </a:p>
        </p:txBody>
      </p:sp>
      <p:sp>
        <p:nvSpPr>
          <p:cNvPr id="14" name="Rounded Rectangle 13"/>
          <p:cNvSpPr/>
          <p:nvPr/>
        </p:nvSpPr>
        <p:spPr>
          <a:xfrm>
            <a:off x="6172200" y="137160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6792" y="1371600"/>
            <a:ext cx="51114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Free-model names will change</a:t>
            </a:r>
          </a:p>
        </p:txBody>
      </p:sp>
      <p:sp>
        <p:nvSpPr>
          <p:cNvPr id="17" name="TextBox 16"/>
          <p:cNvSpPr txBox="1"/>
          <p:nvPr/>
        </p:nvSpPr>
        <p:spPr>
          <a:xfrm>
            <a:off x="6355080" y="205740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Free catalogues are renamed or retired often. The router carries defaults, allows overrides in secrets, and discovers a working model on its own.</a:t>
            </a:r>
          </a:p>
        </p:txBody>
      </p:sp>
      <p:sp>
        <p:nvSpPr>
          <p:cNvPr id="18" name="Rounded Rectangle 17"/>
          <p:cNvSpPr/>
          <p:nvPr/>
        </p:nvSpPr>
        <p:spPr>
          <a:xfrm>
            <a:off x="548640" y="384048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3840480"/>
            <a:ext cx="51114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7764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Chunks ~110 words, RRF k = 60</a:t>
            </a:r>
          </a:p>
        </p:txBody>
      </p:sp>
      <p:sp>
        <p:nvSpPr>
          <p:cNvPr id="21" name="TextBox 20"/>
          <p:cNvSpPr txBox="1"/>
          <p:nvPr/>
        </p:nvSpPr>
        <p:spPr>
          <a:xfrm>
            <a:off x="731520" y="452628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Short enough to be specific, long enough for context; k = 60 is the standard Reciprocal Rank Fusion constant, a safe default.</a:t>
            </a:r>
          </a:p>
        </p:txBody>
      </p:sp>
      <p:sp>
        <p:nvSpPr>
          <p:cNvPr id="22" name="Rounded Rectangle 21"/>
          <p:cNvSpPr/>
          <p:nvPr/>
        </p:nvSpPr>
        <p:spPr>
          <a:xfrm>
            <a:off x="6172200" y="384048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3840480"/>
            <a:ext cx="51114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97764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Relevance gate 0.28 / 50% word overlap</a:t>
            </a:r>
          </a:p>
        </p:txBody>
      </p:sp>
      <p:sp>
        <p:nvSpPr>
          <p:cNvPr id="25" name="TextBox 24"/>
          <p:cNvSpPr txBox="1"/>
          <p:nvPr/>
        </p:nvSpPr>
        <p:spPr>
          <a:xfrm>
            <a:off x="6355080" y="452628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Conservative on purpose: a wrong confident answer is worse than "not found". Below the gate no LLM call is made at all.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HONEST ENGINEERING</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Assumptions and decisions (3/3): platform choices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42</a:t>
            </a:r>
          </a:p>
        </p:txBody>
      </p:sp>
      <p:sp>
        <p:nvSpPr>
          <p:cNvPr id="10" name="Rounded Rectangle 9"/>
          <p:cNvSpPr/>
          <p:nvPr/>
        </p:nvSpPr>
        <p:spPr>
          <a:xfrm>
            <a:off x="548640" y="137160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51114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Calendar through links and .ics, not OAuth</a:t>
            </a:r>
          </a:p>
        </p:txBody>
      </p:sp>
      <p:sp>
        <p:nvSpPr>
          <p:cNvPr id="13" name="TextBox 12"/>
          <p:cNvSpPr txBox="1"/>
          <p:nvPr/>
        </p:nvSpPr>
        <p:spPr>
          <a:xfrm>
            <a:off x="731520" y="205740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No stored tokens, nothing to revoke, works with any calendar app.</a:t>
            </a:r>
          </a:p>
        </p:txBody>
      </p:sp>
      <p:sp>
        <p:nvSpPr>
          <p:cNvPr id="14" name="Rounded Rectangle 13"/>
          <p:cNvSpPr/>
          <p:nvPr/>
        </p:nvSpPr>
        <p:spPr>
          <a:xfrm>
            <a:off x="6172200" y="137160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6792" y="1371600"/>
            <a:ext cx="51114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Temporary disk on free hosting</a:t>
            </a:r>
          </a:p>
        </p:txBody>
      </p:sp>
      <p:sp>
        <p:nvSpPr>
          <p:cNvPr id="17" name="TextBox 16"/>
          <p:cNvSpPr txBox="1"/>
          <p:nvPr/>
        </p:nvSpPr>
        <p:spPr>
          <a:xfrm>
            <a:off x="6355080" y="205740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A persistent database would be a paid service, so Settings → Data &amp; backup exports and restores everything as a zip.</a:t>
            </a:r>
          </a:p>
        </p:txBody>
      </p:sp>
      <p:sp>
        <p:nvSpPr>
          <p:cNvPr id="18" name="Rounded Rectangle 17"/>
          <p:cNvSpPr/>
          <p:nvPr/>
        </p:nvSpPr>
        <p:spPr>
          <a:xfrm>
            <a:off x="548640" y="384048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3840480"/>
            <a:ext cx="51114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7764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Synchronous processing, minutes on request</a:t>
            </a:r>
          </a:p>
        </p:txBody>
      </p:sp>
      <p:sp>
        <p:nvSpPr>
          <p:cNvPr id="21" name="TextBox 20"/>
          <p:cNvSpPr txBox="1"/>
          <p:nvPr/>
        </p:nvSpPr>
        <p:spPr>
          <a:xfrm>
            <a:off x="731520" y="452628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Free hosting has one process and no worker queue. Minutes are generated only when asked so the user reviews before sharing.</a:t>
            </a:r>
          </a:p>
        </p:txBody>
      </p:sp>
      <p:sp>
        <p:nvSpPr>
          <p:cNvPr id="22" name="Rounded Rectangle 21"/>
          <p:cNvSpPr/>
          <p:nvPr/>
        </p:nvSpPr>
        <p:spPr>
          <a:xfrm>
            <a:off x="6172200" y="3840480"/>
            <a:ext cx="5440680" cy="22860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3840480"/>
            <a:ext cx="51114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977640"/>
            <a:ext cx="5120640" cy="457200"/>
          </a:xfrm>
          <a:prstGeom prst="rect">
            <a:avLst/>
          </a:prstGeom>
          <a:noFill/>
        </p:spPr>
        <p:txBody>
          <a:bodyPr wrap="square" lIns="36576" rIns="36576" tIns="18288" bIns="18288" anchor="ctr">
            <a:spAutoFit/>
          </a:bodyPr>
          <a:lstStyle/>
          <a:p>
            <a:pPr algn="l"/>
            <a:r>
              <a:rPr sz="1550" b="1" i="0">
                <a:solidFill>
                  <a:srgbClr val="FFFFFF"/>
                </a:solidFill>
                <a:latin typeface="Segoe UI"/>
              </a:rPr>
              <a:t>English-language focus</a:t>
            </a:r>
          </a:p>
        </p:txBody>
      </p:sp>
      <p:sp>
        <p:nvSpPr>
          <p:cNvPr id="25" name="TextBox 24"/>
          <p:cNvSpPr txBox="1"/>
          <p:nvPr/>
        </p:nvSpPr>
        <p:spPr>
          <a:xfrm>
            <a:off x="6355080" y="4526280"/>
            <a:ext cx="5074920" cy="1554480"/>
          </a:xfrm>
          <a:prstGeom prst="rect">
            <a:avLst/>
          </a:prstGeom>
          <a:noFill/>
        </p:spPr>
        <p:txBody>
          <a:bodyPr wrap="square" lIns="36576" rIns="36576" tIns="18288" bIns="18288" anchor="t">
            <a:spAutoFit/>
          </a:bodyPr>
          <a:lstStyle/>
          <a:p>
            <a:pPr algn="l"/>
            <a:r>
              <a:rPr sz="1400" b="0" i="0">
                <a:solidFill>
                  <a:srgbClr val="C9D0FF"/>
                </a:solidFill>
                <a:latin typeface="Segoe UI"/>
              </a:rPr>
              <a:t>Models, cue patterns and seed sentences are English. Other languages would need new cue patterns and training sentences.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TRUST</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Security, privacy and honesty by design</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43</a:t>
            </a:r>
          </a:p>
        </p:txBody>
      </p:sp>
      <p:sp>
        <p:nvSpPr>
          <p:cNvPr id="10" name="Rounded Rectangle 9"/>
          <p:cNvSpPr/>
          <p:nvPr/>
        </p:nvSpPr>
        <p:spPr>
          <a:xfrm>
            <a:off x="548640" y="1371600"/>
            <a:ext cx="3611880" cy="20574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3282696"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Keys stay secret</a:t>
            </a:r>
          </a:p>
        </p:txBody>
      </p:sp>
      <p:sp>
        <p:nvSpPr>
          <p:cNvPr id="13" name="TextBox 12"/>
          <p:cNvSpPr txBox="1"/>
          <p:nvPr/>
        </p:nvSpPr>
        <p:spPr>
          <a:xfrm>
            <a:off x="731520" y="2057400"/>
            <a:ext cx="3246120" cy="1325880"/>
          </a:xfrm>
          <a:prstGeom prst="rect">
            <a:avLst/>
          </a:prstGeom>
          <a:noFill/>
        </p:spPr>
        <p:txBody>
          <a:bodyPr wrap="square" lIns="36576" rIns="36576" tIns="18288" bIns="18288" anchor="t">
            <a:spAutoFit/>
          </a:bodyPr>
          <a:lstStyle/>
          <a:p>
            <a:pPr algn="l"/>
            <a:r>
              <a:rPr sz="1300" b="0" i="0">
                <a:solidFill>
                  <a:srgbClr val="C9D0FF"/>
                </a:solidFill>
                <a:latin typeface="Segoe UI"/>
              </a:rPr>
              <a:t>Never in the database or the repository - Streamlit secrets or typed into Settings (session only).</a:t>
            </a:r>
          </a:p>
        </p:txBody>
      </p:sp>
      <p:sp>
        <p:nvSpPr>
          <p:cNvPr id="14" name="Rounded Rectangle 13"/>
          <p:cNvSpPr/>
          <p:nvPr/>
        </p:nvSpPr>
        <p:spPr>
          <a:xfrm>
            <a:off x="4297679" y="1371600"/>
            <a:ext cx="3611880" cy="20574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62271" y="1371600"/>
            <a:ext cx="328269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150876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Password gate</a:t>
            </a:r>
          </a:p>
        </p:txBody>
      </p:sp>
      <p:sp>
        <p:nvSpPr>
          <p:cNvPr id="17" name="TextBox 16"/>
          <p:cNvSpPr txBox="1"/>
          <p:nvPr/>
        </p:nvSpPr>
        <p:spPr>
          <a:xfrm>
            <a:off x="4480559" y="2057400"/>
            <a:ext cx="3246120" cy="1325880"/>
          </a:xfrm>
          <a:prstGeom prst="rect">
            <a:avLst/>
          </a:prstGeom>
          <a:noFill/>
        </p:spPr>
        <p:txBody>
          <a:bodyPr wrap="square" lIns="36576" rIns="36576" tIns="18288" bIns="18288" anchor="t">
            <a:spAutoFit/>
          </a:bodyPr>
          <a:lstStyle/>
          <a:p>
            <a:pPr algn="l"/>
            <a:r>
              <a:rPr sz="1300" b="0" i="0">
                <a:solidFill>
                  <a:srgbClr val="C9D0FF"/>
                </a:solidFill>
                <a:latin typeface="Segoe UI"/>
              </a:rPr>
              <a:t>APP_PASSWORD protects a public deployment; compared in constant time.</a:t>
            </a:r>
          </a:p>
        </p:txBody>
      </p:sp>
      <p:sp>
        <p:nvSpPr>
          <p:cNvPr id="18" name="Rounded Rectangle 17"/>
          <p:cNvSpPr/>
          <p:nvPr/>
        </p:nvSpPr>
        <p:spPr>
          <a:xfrm>
            <a:off x="8046719" y="1371600"/>
            <a:ext cx="3611880" cy="20574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11311" y="1371600"/>
            <a:ext cx="3282696"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9" y="150876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Confirm before acting</a:t>
            </a:r>
          </a:p>
        </p:txBody>
      </p:sp>
      <p:sp>
        <p:nvSpPr>
          <p:cNvPr id="21" name="TextBox 20"/>
          <p:cNvSpPr txBox="1"/>
          <p:nvPr/>
        </p:nvSpPr>
        <p:spPr>
          <a:xfrm>
            <a:off x="8229599" y="2057400"/>
            <a:ext cx="3246120" cy="1325880"/>
          </a:xfrm>
          <a:prstGeom prst="rect">
            <a:avLst/>
          </a:prstGeom>
          <a:noFill/>
        </p:spPr>
        <p:txBody>
          <a:bodyPr wrap="square" lIns="36576" rIns="36576" tIns="18288" bIns="18288" anchor="t">
            <a:spAutoFit/>
          </a:bodyPr>
          <a:lstStyle/>
          <a:p>
            <a:pPr algn="l"/>
            <a:r>
              <a:rPr sz="1300" b="0" i="0">
                <a:solidFill>
                  <a:srgbClr val="C9D0FF"/>
                </a:solidFill>
                <a:latin typeface="Segoe UI"/>
              </a:rPr>
              <a:t>E-mails and follow-ups go out only after an explicit click; calendar items are links the user clicks.</a:t>
            </a:r>
          </a:p>
        </p:txBody>
      </p:sp>
      <p:sp>
        <p:nvSpPr>
          <p:cNvPr id="22" name="Rounded Rectangle 21"/>
          <p:cNvSpPr/>
          <p:nvPr/>
        </p:nvSpPr>
        <p:spPr>
          <a:xfrm>
            <a:off x="548640" y="3611880"/>
            <a:ext cx="3611880" cy="20574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3611880"/>
            <a:ext cx="3282696" cy="4572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74904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Data is just data</a:t>
            </a:r>
          </a:p>
        </p:txBody>
      </p:sp>
      <p:sp>
        <p:nvSpPr>
          <p:cNvPr id="25" name="TextBox 24"/>
          <p:cNvSpPr txBox="1"/>
          <p:nvPr/>
        </p:nvSpPr>
        <p:spPr>
          <a:xfrm>
            <a:off x="731520" y="4297680"/>
            <a:ext cx="3246120" cy="1325880"/>
          </a:xfrm>
          <a:prstGeom prst="rect">
            <a:avLst/>
          </a:prstGeom>
          <a:noFill/>
        </p:spPr>
        <p:txBody>
          <a:bodyPr wrap="square" lIns="36576" rIns="36576" tIns="18288" bIns="18288" anchor="t">
            <a:spAutoFit/>
          </a:bodyPr>
          <a:lstStyle/>
          <a:p>
            <a:pPr algn="l"/>
            <a:r>
              <a:rPr sz="1300" b="0" i="0">
                <a:solidFill>
                  <a:srgbClr val="C9D0FF"/>
                </a:solidFill>
                <a:latin typeface="Segoe UI"/>
              </a:rPr>
              <a:t>Transcripts and LLM output cannot trigger actions and must pass validation.</a:t>
            </a:r>
          </a:p>
        </p:txBody>
      </p:sp>
      <p:sp>
        <p:nvSpPr>
          <p:cNvPr id="26" name="Rounded Rectangle 25"/>
          <p:cNvSpPr/>
          <p:nvPr/>
        </p:nvSpPr>
        <p:spPr>
          <a:xfrm>
            <a:off x="4297679" y="3611880"/>
            <a:ext cx="3611880" cy="20574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62271" y="3611880"/>
            <a:ext cx="3282696"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59" y="374904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Voice privacy</a:t>
            </a:r>
          </a:p>
        </p:txBody>
      </p:sp>
      <p:sp>
        <p:nvSpPr>
          <p:cNvPr id="29" name="TextBox 28"/>
          <p:cNvSpPr txBox="1"/>
          <p:nvPr/>
        </p:nvSpPr>
        <p:spPr>
          <a:xfrm>
            <a:off x="4480559" y="4297680"/>
            <a:ext cx="3246120" cy="1325880"/>
          </a:xfrm>
          <a:prstGeom prst="rect">
            <a:avLst/>
          </a:prstGeom>
          <a:noFill/>
        </p:spPr>
        <p:txBody>
          <a:bodyPr wrap="square" lIns="36576" rIns="36576" tIns="18288" bIns="18288" anchor="t">
            <a:spAutoFit/>
          </a:bodyPr>
          <a:lstStyle/>
          <a:p>
            <a:pPr algn="l"/>
            <a:r>
              <a:rPr sz="1300" b="0" i="0">
                <a:solidFill>
                  <a:srgbClr val="C9D0FF"/>
                </a:solidFill>
                <a:latin typeface="Segoe UI"/>
              </a:rPr>
              <a:t>Voiceprints only for people who agreed, deletable any time. Per-meeting switch turns LLM use off.</a:t>
            </a:r>
          </a:p>
        </p:txBody>
      </p:sp>
      <p:sp>
        <p:nvSpPr>
          <p:cNvPr id="30" name="Rounded Rectangle 29"/>
          <p:cNvSpPr/>
          <p:nvPr/>
        </p:nvSpPr>
        <p:spPr>
          <a:xfrm>
            <a:off x="8046719" y="3611880"/>
            <a:ext cx="3611880" cy="2057400"/>
          </a:xfrm>
          <a:prstGeom prst="roundRect">
            <a:avLst>
              <a:gd name="adj" fmla="val 5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11311" y="3611880"/>
            <a:ext cx="3282696"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9" y="3749040"/>
            <a:ext cx="3291840" cy="457200"/>
          </a:xfrm>
          <a:prstGeom prst="rect">
            <a:avLst/>
          </a:prstGeom>
          <a:noFill/>
        </p:spPr>
        <p:txBody>
          <a:bodyPr wrap="square" lIns="36576" rIns="36576" tIns="18288" bIns="18288" anchor="ctr">
            <a:spAutoFit/>
          </a:bodyPr>
          <a:lstStyle/>
          <a:p>
            <a:pPr algn="l"/>
            <a:r>
              <a:rPr sz="1700" b="1" i="0">
                <a:solidFill>
                  <a:srgbClr val="FFFFFF"/>
                </a:solidFill>
                <a:latin typeface="Segoe UI"/>
              </a:rPr>
              <a:t>Says "I don't know"</a:t>
            </a:r>
          </a:p>
        </p:txBody>
      </p:sp>
      <p:sp>
        <p:nvSpPr>
          <p:cNvPr id="33" name="TextBox 32"/>
          <p:cNvSpPr txBox="1"/>
          <p:nvPr/>
        </p:nvSpPr>
        <p:spPr>
          <a:xfrm>
            <a:off x="8229599" y="4297680"/>
            <a:ext cx="3246120" cy="1325880"/>
          </a:xfrm>
          <a:prstGeom prst="rect">
            <a:avLst/>
          </a:prstGeom>
          <a:noFill/>
        </p:spPr>
        <p:txBody>
          <a:bodyPr wrap="square" lIns="36576" rIns="36576" tIns="18288" bIns="18288" anchor="t">
            <a:spAutoFit/>
          </a:bodyPr>
          <a:lstStyle/>
          <a:p>
            <a:pPr algn="l"/>
            <a:r>
              <a:rPr sz="1300" b="0" i="0">
                <a:solidFill>
                  <a:srgbClr val="C9D0FF"/>
                </a:solidFill>
                <a:latin typeface="Segoe UI"/>
              </a:rPr>
              <a:t>Unassigned · Not specified · Not found · Needs review - never a guess.</a:t>
            </a:r>
          </a:p>
        </p:txBody>
      </p:sp>
      <p:sp>
        <p:nvSpPr>
          <p:cNvPr id="34" name="Rounded Rectangle 33"/>
          <p:cNvSpPr/>
          <p:nvPr/>
        </p:nvSpPr>
        <p:spPr>
          <a:xfrm>
            <a:off x="548640" y="5852160"/>
            <a:ext cx="11109960" cy="457200"/>
          </a:xfrm>
          <a:prstGeom prst="roundRect">
            <a:avLst>
              <a:gd name="adj" fmla="val 12000"/>
            </a:avLst>
          </a:prstGeom>
          <a:solidFill>
            <a:srgbClr val="1C1A3A"/>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925312"/>
            <a:ext cx="64008" cy="3108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5888736"/>
            <a:ext cx="10789920" cy="384048"/>
          </a:xfrm>
          <a:prstGeom prst="rect">
            <a:avLst/>
          </a:prstGeom>
          <a:noFill/>
        </p:spPr>
        <p:txBody>
          <a:bodyPr wrap="square" lIns="36576" rIns="36576" tIns="18288" bIns="18288" anchor="ctr">
            <a:spAutoFit/>
          </a:bodyPr>
          <a:lstStyle/>
          <a:p>
            <a:pPr algn="l"/>
            <a:r>
              <a:rPr sz="1000" b="1" i="0">
                <a:solidFill>
                  <a:srgbClr val="D4C8FF"/>
                </a:solidFill>
                <a:latin typeface="Segoe UI"/>
              </a:rPr>
              <a:t>WHAT LEAVES THE MACHINE   </a:t>
            </a:r>
            <a:r>
              <a:rPr sz="1100" b="0" i="0">
                <a:solidFill>
                  <a:srgbClr val="C9D0FF"/>
                </a:solidFill>
                <a:latin typeface="Segoe UI"/>
              </a:rPr>
              <a:t>only when configured: audio → Groq / pyannoteAI (or AssemblyAI); transcript text → Groq / Gemini / OpenRouter.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DEPLOYMENT</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Deployment: free on Streamlit Community Cloud</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44</a:t>
            </a:r>
          </a:p>
        </p:txBody>
      </p:sp>
      <p:sp>
        <p:nvSpPr>
          <p:cNvPr id="10" name="Rounded Rectangle 9"/>
          <p:cNvSpPr/>
          <p:nvPr/>
        </p:nvSpPr>
        <p:spPr>
          <a:xfrm>
            <a:off x="548640" y="1371600"/>
            <a:ext cx="1737360" cy="8686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371600"/>
            <a:ext cx="1463039"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35608"/>
            <a:ext cx="1645919" cy="364845"/>
          </a:xfrm>
          <a:prstGeom prst="rect">
            <a:avLst/>
          </a:prstGeom>
          <a:noFill/>
        </p:spPr>
        <p:txBody>
          <a:bodyPr wrap="square" lIns="36576" rIns="36576" tIns="18288" bIns="18288" anchor="ctr">
            <a:spAutoFit/>
          </a:bodyPr>
          <a:lstStyle/>
          <a:p>
            <a:pPr algn="ctr"/>
            <a:r>
              <a:rPr sz="1300" b="1" i="0">
                <a:solidFill>
                  <a:srgbClr val="FFFFFF"/>
                </a:solidFill>
                <a:latin typeface="Segoe UI"/>
              </a:rPr>
              <a:t>You</a:t>
            </a:r>
          </a:p>
        </p:txBody>
      </p:sp>
      <p:sp>
        <p:nvSpPr>
          <p:cNvPr id="13" name="TextBox 12"/>
          <p:cNvSpPr txBox="1"/>
          <p:nvPr/>
        </p:nvSpPr>
        <p:spPr>
          <a:xfrm>
            <a:off x="612647" y="1800453"/>
            <a:ext cx="1609343" cy="394106"/>
          </a:xfrm>
          <a:prstGeom prst="rect">
            <a:avLst/>
          </a:prstGeom>
          <a:noFill/>
        </p:spPr>
        <p:txBody>
          <a:bodyPr wrap="square" lIns="36576" rIns="36576" tIns="18288" bIns="18288" anchor="ctr">
            <a:spAutoFit/>
          </a:bodyPr>
          <a:lstStyle/>
          <a:p>
            <a:pPr algn="ctr"/>
            <a:r>
              <a:rPr sz="1050" b="0" i="0">
                <a:solidFill>
                  <a:srgbClr val="D4C8FF"/>
                </a:solidFill>
                <a:latin typeface="Segoe UI"/>
              </a:rPr>
              <a:t>git push</a:t>
            </a:r>
          </a:p>
        </p:txBody>
      </p:sp>
      <p:sp>
        <p:nvSpPr>
          <p:cNvPr id="14" name="Rounded Rectangle 13"/>
          <p:cNvSpPr/>
          <p:nvPr/>
        </p:nvSpPr>
        <p:spPr>
          <a:xfrm>
            <a:off x="2743200" y="1371600"/>
            <a:ext cx="1920240" cy="868680"/>
          </a:xfrm>
          <a:prstGeom prst="roundRect">
            <a:avLst>
              <a:gd name="adj" fmla="val 10000"/>
            </a:avLst>
          </a:prstGeom>
          <a:solidFill>
            <a:srgbClr val="1C2347"/>
          </a:solidFill>
          <a:ln w="20320">
            <a:solidFill>
              <a:srgbClr val="7C8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0360" y="1371600"/>
            <a:ext cx="1645920" cy="41148"/>
          </a:xfrm>
          <a:prstGeom prst="rect">
            <a:avLst/>
          </a:prstGeom>
          <a:solidFill>
            <a:srgbClr val="7C8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1435608"/>
            <a:ext cx="1828800" cy="364845"/>
          </a:xfrm>
          <a:prstGeom prst="rect">
            <a:avLst/>
          </a:prstGeom>
          <a:noFill/>
        </p:spPr>
        <p:txBody>
          <a:bodyPr wrap="square" lIns="36576" rIns="36576" tIns="18288" bIns="18288" anchor="ctr">
            <a:spAutoFit/>
          </a:bodyPr>
          <a:lstStyle/>
          <a:p>
            <a:pPr algn="ctr"/>
            <a:r>
              <a:rPr sz="1300" b="1" i="0">
                <a:solidFill>
                  <a:srgbClr val="FFFFFF"/>
                </a:solidFill>
                <a:latin typeface="Segoe UI"/>
              </a:rPr>
              <a:t>GitHub</a:t>
            </a:r>
          </a:p>
        </p:txBody>
      </p:sp>
      <p:sp>
        <p:nvSpPr>
          <p:cNvPr id="17" name="TextBox 16"/>
          <p:cNvSpPr txBox="1"/>
          <p:nvPr/>
        </p:nvSpPr>
        <p:spPr>
          <a:xfrm>
            <a:off x="2807208" y="1800453"/>
            <a:ext cx="1792224" cy="394106"/>
          </a:xfrm>
          <a:prstGeom prst="rect">
            <a:avLst/>
          </a:prstGeom>
          <a:noFill/>
        </p:spPr>
        <p:txBody>
          <a:bodyPr wrap="square" lIns="36576" rIns="36576" tIns="18288" bIns="18288" anchor="ctr">
            <a:spAutoFit/>
          </a:bodyPr>
          <a:lstStyle/>
          <a:p>
            <a:pPr algn="ctr"/>
            <a:r>
              <a:rPr sz="1050" b="0" i="0">
                <a:solidFill>
                  <a:srgbClr val="D2D7F5"/>
                </a:solidFill>
                <a:latin typeface="Segoe UI"/>
              </a:rPr>
              <a:t>Meeting-AI-  ·  main</a:t>
            </a:r>
          </a:p>
        </p:txBody>
      </p:sp>
      <p:cxnSp>
        <p:nvCxnSpPr>
          <p:cNvPr id="18" name="Connector 17"/>
          <p:cNvCxnSpPr/>
          <p:nvPr/>
        </p:nvCxnSpPr>
        <p:spPr>
          <a:xfrm>
            <a:off x="2286000" y="1801368"/>
            <a:ext cx="45720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263140" y="1353312"/>
            <a:ext cx="502920" cy="256032"/>
          </a:xfrm>
          <a:prstGeom prst="roundRect">
            <a:avLst>
              <a:gd name="adj" fmla="val 50000"/>
            </a:avLst>
          </a:prstGeom>
          <a:solidFill>
            <a:srgbClr val="151D5C"/>
          </a:solidFill>
          <a:ln w="11430">
            <a:solidFill>
              <a:srgbClr val="8F9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63140" y="1353312"/>
            <a:ext cx="50292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push</a:t>
            </a:r>
          </a:p>
        </p:txBody>
      </p:sp>
      <p:sp>
        <p:nvSpPr>
          <p:cNvPr id="21" name="Rounded Rectangle 20"/>
          <p:cNvSpPr/>
          <p:nvPr/>
        </p:nvSpPr>
        <p:spPr>
          <a:xfrm>
            <a:off x="5212080" y="1325880"/>
            <a:ext cx="6446520" cy="3840480"/>
          </a:xfrm>
          <a:prstGeom prst="roundRect">
            <a:avLst>
              <a:gd name="adj" fmla="val 5000"/>
            </a:avLst>
          </a:prstGeom>
          <a:noFill/>
          <a:ln w="13970">
            <a:solidFill>
              <a:srgbClr val="3B82F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21808" y="1362456"/>
            <a:ext cx="6172200" cy="274320"/>
          </a:xfrm>
          <a:prstGeom prst="rect">
            <a:avLst/>
          </a:prstGeom>
          <a:noFill/>
        </p:spPr>
        <p:txBody>
          <a:bodyPr wrap="square" lIns="36576" rIns="36576" tIns="18288" bIns="18288" anchor="t">
            <a:spAutoFit/>
          </a:bodyPr>
          <a:lstStyle/>
          <a:p>
            <a:pPr algn="l"/>
            <a:r>
              <a:rPr sz="950" b="1" i="0">
                <a:solidFill>
                  <a:srgbClr val="A9CCFF"/>
                </a:solidFill>
                <a:latin typeface="Segoe UI"/>
              </a:rPr>
              <a:t>STREAMLIT CLOUD CONTAINER (ABOUT 1 GB RAM)</a:t>
            </a:r>
          </a:p>
        </p:txBody>
      </p:sp>
      <p:cxnSp>
        <p:nvCxnSpPr>
          <p:cNvPr id="23" name="Connector 22"/>
          <p:cNvCxnSpPr/>
          <p:nvPr/>
        </p:nvCxnSpPr>
        <p:spPr>
          <a:xfrm>
            <a:off x="4663440" y="1801368"/>
            <a:ext cx="54864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686300" y="1353312"/>
            <a:ext cx="502920" cy="256032"/>
          </a:xfrm>
          <a:prstGeom prst="roundRect">
            <a:avLst>
              <a:gd name="adj" fmla="val 50000"/>
            </a:avLst>
          </a:prstGeom>
          <a:solidFill>
            <a:srgbClr val="151D5C"/>
          </a:solidFill>
          <a:ln w="11430">
            <a:solidFill>
              <a:srgbClr val="8F9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86300" y="1353312"/>
            <a:ext cx="50292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auto</a:t>
            </a:r>
          </a:p>
        </p:txBody>
      </p:sp>
      <p:sp>
        <p:nvSpPr>
          <p:cNvPr id="26" name="Rounded Rectangle 25"/>
          <p:cNvSpPr/>
          <p:nvPr/>
        </p:nvSpPr>
        <p:spPr>
          <a:xfrm>
            <a:off x="5394960" y="1737360"/>
            <a:ext cx="6080760" cy="8686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32120" y="1737360"/>
            <a:ext cx="580644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40680" y="1801368"/>
            <a:ext cx="5989320" cy="364845"/>
          </a:xfrm>
          <a:prstGeom prst="rect">
            <a:avLst/>
          </a:prstGeom>
          <a:noFill/>
        </p:spPr>
        <p:txBody>
          <a:bodyPr wrap="square" lIns="36576" rIns="36576" tIns="18288" bIns="18288" anchor="ctr">
            <a:spAutoFit/>
          </a:bodyPr>
          <a:lstStyle/>
          <a:p>
            <a:pPr algn="ctr"/>
            <a:r>
              <a:rPr sz="1300" b="1" i="0">
                <a:solidFill>
                  <a:srgbClr val="FFFFFF"/>
                </a:solidFill>
                <a:latin typeface="Segoe UI"/>
              </a:rPr>
              <a:t>Python app</a:t>
            </a:r>
          </a:p>
        </p:txBody>
      </p:sp>
      <p:sp>
        <p:nvSpPr>
          <p:cNvPr id="29" name="TextBox 28"/>
          <p:cNvSpPr txBox="1"/>
          <p:nvPr/>
        </p:nvSpPr>
        <p:spPr>
          <a:xfrm>
            <a:off x="5458968" y="2166213"/>
            <a:ext cx="5952744" cy="394106"/>
          </a:xfrm>
          <a:prstGeom prst="rect">
            <a:avLst/>
          </a:prstGeom>
          <a:noFill/>
        </p:spPr>
        <p:txBody>
          <a:bodyPr wrap="square" lIns="36576" rIns="36576" tIns="18288" bIns="18288" anchor="ctr">
            <a:spAutoFit/>
          </a:bodyPr>
          <a:lstStyle/>
          <a:p>
            <a:pPr algn="ctr"/>
            <a:r>
              <a:rPr sz="1050" b="0" i="0">
                <a:solidFill>
                  <a:srgbClr val="D4C8FF"/>
                </a:solidFill>
                <a:latin typeface="Segoe UI"/>
              </a:rPr>
              <a:t>app.py · core/ · views/ · ui/   ←   requirements.txt + packages.txt (FFmpeg)</a:t>
            </a:r>
          </a:p>
        </p:txBody>
      </p:sp>
      <p:sp>
        <p:nvSpPr>
          <p:cNvPr id="30" name="Rounded Rectangle 29"/>
          <p:cNvSpPr/>
          <p:nvPr/>
        </p:nvSpPr>
        <p:spPr>
          <a:xfrm>
            <a:off x="5394960" y="2788920"/>
            <a:ext cx="2926080" cy="8686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32120" y="2788920"/>
            <a:ext cx="265176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40680" y="2852927"/>
            <a:ext cx="2834640" cy="364845"/>
          </a:xfrm>
          <a:prstGeom prst="rect">
            <a:avLst/>
          </a:prstGeom>
          <a:noFill/>
        </p:spPr>
        <p:txBody>
          <a:bodyPr wrap="square" lIns="36576" rIns="36576" tIns="18288" bIns="18288" anchor="ctr">
            <a:spAutoFit/>
          </a:bodyPr>
          <a:lstStyle/>
          <a:p>
            <a:pPr algn="ctr"/>
            <a:r>
              <a:rPr sz="1250" b="1" i="0">
                <a:solidFill>
                  <a:srgbClr val="FFFFFF"/>
                </a:solidFill>
                <a:latin typeface="Segoe UI"/>
              </a:rPr>
              <a:t>SQLite + FTS5</a:t>
            </a:r>
          </a:p>
        </p:txBody>
      </p:sp>
      <p:sp>
        <p:nvSpPr>
          <p:cNvPr id="33" name="TextBox 32"/>
          <p:cNvSpPr txBox="1"/>
          <p:nvPr/>
        </p:nvSpPr>
        <p:spPr>
          <a:xfrm>
            <a:off x="5458968" y="3217773"/>
            <a:ext cx="2798064" cy="394106"/>
          </a:xfrm>
          <a:prstGeom prst="rect">
            <a:avLst/>
          </a:prstGeom>
          <a:noFill/>
        </p:spPr>
        <p:txBody>
          <a:bodyPr wrap="square" lIns="36576" rIns="36576" tIns="18288" bIns="18288" anchor="ctr">
            <a:spAutoFit/>
          </a:bodyPr>
          <a:lstStyle/>
          <a:p>
            <a:pPr algn="ctr"/>
            <a:r>
              <a:rPr sz="1000" b="0" i="0">
                <a:solidFill>
                  <a:srgbClr val="8CF0C6"/>
                </a:solidFill>
                <a:latin typeface="Segoe UI"/>
              </a:rPr>
              <a:t>data/meetingai.db</a:t>
            </a:r>
          </a:p>
        </p:txBody>
      </p:sp>
      <p:sp>
        <p:nvSpPr>
          <p:cNvPr id="34" name="Rounded Rectangle 33"/>
          <p:cNvSpPr/>
          <p:nvPr/>
        </p:nvSpPr>
        <p:spPr>
          <a:xfrm>
            <a:off x="8549640" y="2788920"/>
            <a:ext cx="2926080" cy="868680"/>
          </a:xfrm>
          <a:prstGeom prst="roundRect">
            <a:avLst>
              <a:gd name="adj" fmla="val 10000"/>
            </a:avLst>
          </a:prstGeom>
          <a:solidFill>
            <a:srgbClr val="0C3626"/>
          </a:solidFill>
          <a:ln w="2032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86800" y="2788920"/>
            <a:ext cx="265176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2852927"/>
            <a:ext cx="2834640" cy="364845"/>
          </a:xfrm>
          <a:prstGeom prst="rect">
            <a:avLst/>
          </a:prstGeom>
          <a:noFill/>
        </p:spPr>
        <p:txBody>
          <a:bodyPr wrap="square" lIns="36576" rIns="36576" tIns="18288" bIns="18288" anchor="ctr">
            <a:spAutoFit/>
          </a:bodyPr>
          <a:lstStyle/>
          <a:p>
            <a:pPr algn="ctr"/>
            <a:r>
              <a:rPr sz="1250" b="1" i="0">
                <a:solidFill>
                  <a:srgbClr val="FFFFFF"/>
                </a:solidFill>
                <a:latin typeface="Segoe UI"/>
              </a:rPr>
              <a:t>ChromaDB</a:t>
            </a:r>
          </a:p>
        </p:txBody>
      </p:sp>
      <p:sp>
        <p:nvSpPr>
          <p:cNvPr id="37" name="TextBox 36"/>
          <p:cNvSpPr txBox="1"/>
          <p:nvPr/>
        </p:nvSpPr>
        <p:spPr>
          <a:xfrm>
            <a:off x="8613648" y="3217773"/>
            <a:ext cx="2798064" cy="394106"/>
          </a:xfrm>
          <a:prstGeom prst="rect">
            <a:avLst/>
          </a:prstGeom>
          <a:noFill/>
        </p:spPr>
        <p:txBody>
          <a:bodyPr wrap="square" lIns="36576" rIns="36576" tIns="18288" bIns="18288" anchor="ctr">
            <a:spAutoFit/>
          </a:bodyPr>
          <a:lstStyle/>
          <a:p>
            <a:pPr algn="ctr"/>
            <a:r>
              <a:rPr sz="1000" b="0" i="0">
                <a:solidFill>
                  <a:srgbClr val="8CF0C6"/>
                </a:solidFill>
                <a:latin typeface="Segoe UI"/>
              </a:rPr>
              <a:t>data/chroma · ONNX MiniLM</a:t>
            </a:r>
          </a:p>
        </p:txBody>
      </p:sp>
      <p:sp>
        <p:nvSpPr>
          <p:cNvPr id="38" name="Rounded Rectangle 37"/>
          <p:cNvSpPr/>
          <p:nvPr/>
        </p:nvSpPr>
        <p:spPr>
          <a:xfrm>
            <a:off x="5394960" y="3840480"/>
            <a:ext cx="2926080" cy="1097280"/>
          </a:xfrm>
          <a:prstGeom prst="roundRect">
            <a:avLst>
              <a:gd name="adj" fmla="val 10000"/>
            </a:avLst>
          </a:prstGeom>
          <a:solidFill>
            <a:srgbClr val="3F2D0B"/>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32120" y="3840480"/>
            <a:ext cx="2651760"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40680" y="3904488"/>
            <a:ext cx="2834640" cy="457200"/>
          </a:xfrm>
          <a:prstGeom prst="rect">
            <a:avLst/>
          </a:prstGeom>
          <a:noFill/>
        </p:spPr>
        <p:txBody>
          <a:bodyPr wrap="square" lIns="36576" rIns="36576" tIns="18288" bIns="18288" anchor="ctr">
            <a:spAutoFit/>
          </a:bodyPr>
          <a:lstStyle/>
          <a:p>
            <a:pPr algn="ctr"/>
            <a:r>
              <a:rPr sz="1250" b="1" i="0">
                <a:solidFill>
                  <a:srgbClr val="FFFFFF"/>
                </a:solidFill>
                <a:latin typeface="Segoe UI"/>
              </a:rPr>
              <a:t>Temporary disk</a:t>
            </a:r>
          </a:p>
        </p:txBody>
      </p:sp>
      <p:sp>
        <p:nvSpPr>
          <p:cNvPr id="41" name="TextBox 40"/>
          <p:cNvSpPr txBox="1"/>
          <p:nvPr/>
        </p:nvSpPr>
        <p:spPr>
          <a:xfrm>
            <a:off x="5458968" y="4361688"/>
            <a:ext cx="2798064" cy="530352"/>
          </a:xfrm>
          <a:prstGeom prst="rect">
            <a:avLst/>
          </a:prstGeom>
          <a:noFill/>
        </p:spPr>
        <p:txBody>
          <a:bodyPr wrap="square" lIns="36576" rIns="36576" tIns="18288" bIns="18288" anchor="ctr">
            <a:spAutoFit/>
          </a:bodyPr>
          <a:lstStyle/>
          <a:p>
            <a:pPr algn="ctr"/>
            <a:r>
              <a:rPr sz="1000" b="0" i="0">
                <a:solidFill>
                  <a:srgbClr val="FFD978"/>
                </a:solidFill>
                <a:latin typeface="Segoe UI"/>
              </a:rPr>
              <a:t>wiped on restart → Settings backup / restore</a:t>
            </a:r>
          </a:p>
        </p:txBody>
      </p:sp>
      <p:sp>
        <p:nvSpPr>
          <p:cNvPr id="42" name="Rounded Rectangle 41"/>
          <p:cNvSpPr/>
          <p:nvPr/>
        </p:nvSpPr>
        <p:spPr>
          <a:xfrm>
            <a:off x="8549640" y="3840480"/>
            <a:ext cx="2926080" cy="1097280"/>
          </a:xfrm>
          <a:prstGeom prst="roundRect">
            <a:avLst>
              <a:gd name="adj" fmla="val 10000"/>
            </a:avLst>
          </a:prstGeom>
          <a:solidFill>
            <a:srgbClr val="401819"/>
          </a:solidFill>
          <a:ln w="2032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86800" y="3840480"/>
            <a:ext cx="2651760" cy="41148"/>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0" y="3904488"/>
            <a:ext cx="2834640" cy="457200"/>
          </a:xfrm>
          <a:prstGeom prst="rect">
            <a:avLst/>
          </a:prstGeom>
          <a:noFill/>
        </p:spPr>
        <p:txBody>
          <a:bodyPr wrap="square" lIns="36576" rIns="36576" tIns="18288" bIns="18288" anchor="ctr">
            <a:spAutoFit/>
          </a:bodyPr>
          <a:lstStyle/>
          <a:p>
            <a:pPr algn="ctr"/>
            <a:r>
              <a:rPr sz="1250" b="1" i="0">
                <a:solidFill>
                  <a:srgbClr val="FFFFFF"/>
                </a:solidFill>
                <a:latin typeface="Segoe UI"/>
              </a:rPr>
              <a:t>Secrets box</a:t>
            </a:r>
          </a:p>
        </p:txBody>
      </p:sp>
      <p:sp>
        <p:nvSpPr>
          <p:cNvPr id="45" name="TextBox 44"/>
          <p:cNvSpPr txBox="1"/>
          <p:nvPr/>
        </p:nvSpPr>
        <p:spPr>
          <a:xfrm>
            <a:off x="8613648" y="4361688"/>
            <a:ext cx="2798064" cy="530352"/>
          </a:xfrm>
          <a:prstGeom prst="rect">
            <a:avLst/>
          </a:prstGeom>
          <a:noFill/>
        </p:spPr>
        <p:txBody>
          <a:bodyPr wrap="square" lIns="36576" rIns="36576" tIns="18288" bIns="18288" anchor="ctr">
            <a:spAutoFit/>
          </a:bodyPr>
          <a:lstStyle/>
          <a:p>
            <a:pPr algn="ctr"/>
            <a:r>
              <a:rPr sz="1000" b="0" i="0">
                <a:solidFill>
                  <a:srgbClr val="FFB4B4"/>
                </a:solidFill>
                <a:latin typeface="Segoe UI"/>
              </a:rPr>
              <a:t>GROQ · GEMINI · PYANNOTEAI · SMTP · APP_PASSWORD</a:t>
            </a:r>
          </a:p>
        </p:txBody>
      </p:sp>
      <p:sp>
        <p:nvSpPr>
          <p:cNvPr id="46" name="Rounded Rectangle 45"/>
          <p:cNvSpPr/>
          <p:nvPr/>
        </p:nvSpPr>
        <p:spPr>
          <a:xfrm>
            <a:off x="548640" y="2697480"/>
            <a:ext cx="4023360" cy="868680"/>
          </a:xfrm>
          <a:prstGeom prst="roundRect">
            <a:avLst>
              <a:gd name="adj" fmla="val 10000"/>
            </a:avLst>
          </a:prstGeom>
          <a:solidFill>
            <a:srgbClr val="221C5C"/>
          </a:solidFill>
          <a:ln w="2032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5800" y="2697480"/>
            <a:ext cx="3749040" cy="411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2761488"/>
            <a:ext cx="3931920" cy="364845"/>
          </a:xfrm>
          <a:prstGeom prst="rect">
            <a:avLst/>
          </a:prstGeom>
          <a:noFill/>
        </p:spPr>
        <p:txBody>
          <a:bodyPr wrap="square" lIns="36576" rIns="36576" tIns="18288" bIns="18288" anchor="ctr">
            <a:spAutoFit/>
          </a:bodyPr>
          <a:lstStyle/>
          <a:p>
            <a:pPr algn="ctr"/>
            <a:r>
              <a:rPr sz="1300" b="1" i="0">
                <a:solidFill>
                  <a:srgbClr val="FFFFFF"/>
                </a:solidFill>
                <a:latin typeface="Segoe UI"/>
              </a:rPr>
              <a:t>Browser / phone</a:t>
            </a:r>
          </a:p>
        </p:txBody>
      </p:sp>
      <p:sp>
        <p:nvSpPr>
          <p:cNvPr id="49" name="TextBox 48"/>
          <p:cNvSpPr txBox="1"/>
          <p:nvPr/>
        </p:nvSpPr>
        <p:spPr>
          <a:xfrm>
            <a:off x="612647" y="3126333"/>
            <a:ext cx="3895344" cy="394106"/>
          </a:xfrm>
          <a:prstGeom prst="rect">
            <a:avLst/>
          </a:prstGeom>
          <a:noFill/>
        </p:spPr>
        <p:txBody>
          <a:bodyPr wrap="square" lIns="36576" rIns="36576" tIns="18288" bIns="18288" anchor="ctr">
            <a:spAutoFit/>
          </a:bodyPr>
          <a:lstStyle/>
          <a:p>
            <a:pPr algn="ctr"/>
            <a:r>
              <a:rPr sz="1050" b="0" i="0">
                <a:solidFill>
                  <a:srgbClr val="D4C8FF"/>
                </a:solidFill>
                <a:latin typeface="Segoe UI"/>
              </a:rPr>
              <a:t>your streamlit.app address</a:t>
            </a:r>
          </a:p>
        </p:txBody>
      </p:sp>
      <p:cxnSp>
        <p:nvCxnSpPr>
          <p:cNvPr id="50" name="Connector 49"/>
          <p:cNvCxnSpPr/>
          <p:nvPr/>
        </p:nvCxnSpPr>
        <p:spPr>
          <a:xfrm>
            <a:off x="4572000" y="3127248"/>
            <a:ext cx="6400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4572000" y="2706624"/>
            <a:ext cx="640080" cy="256032"/>
          </a:xfrm>
          <a:prstGeom prst="roundRect">
            <a:avLst>
              <a:gd name="adj" fmla="val 50000"/>
            </a:avLst>
          </a:prstGeom>
          <a:solidFill>
            <a:srgbClr val="151D5C"/>
          </a:solidFill>
          <a:ln w="11430">
            <a:solidFill>
              <a:srgbClr val="8F9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0" y="2706624"/>
            <a:ext cx="64008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HTTPS</a:t>
            </a:r>
          </a:p>
        </p:txBody>
      </p:sp>
      <p:sp>
        <p:nvSpPr>
          <p:cNvPr id="53" name="Rounded Rectangle 52"/>
          <p:cNvSpPr/>
          <p:nvPr/>
        </p:nvSpPr>
        <p:spPr>
          <a:xfrm>
            <a:off x="548640" y="3840480"/>
            <a:ext cx="4023360" cy="1325880"/>
          </a:xfrm>
          <a:prstGeom prst="roundRect">
            <a:avLst>
              <a:gd name="adj" fmla="val 5000"/>
            </a:avLst>
          </a:prstGeom>
          <a:noFill/>
          <a:ln w="13970">
            <a:solidFill>
              <a:srgbClr val="F59E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8368" y="3877056"/>
            <a:ext cx="3749040" cy="274320"/>
          </a:xfrm>
          <a:prstGeom prst="rect">
            <a:avLst/>
          </a:prstGeom>
          <a:noFill/>
        </p:spPr>
        <p:txBody>
          <a:bodyPr wrap="square" lIns="36576" rIns="36576" tIns="18288" bIns="18288" anchor="t">
            <a:spAutoFit/>
          </a:bodyPr>
          <a:lstStyle/>
          <a:p>
            <a:pPr algn="l"/>
            <a:r>
              <a:rPr sz="950" b="1" i="0">
                <a:solidFill>
                  <a:srgbClr val="FFD978"/>
                </a:solidFill>
                <a:latin typeface="Segoe UI"/>
              </a:rPr>
              <a:t>EXTERNAL FREE APIS</a:t>
            </a:r>
          </a:p>
        </p:txBody>
      </p:sp>
      <p:sp>
        <p:nvSpPr>
          <p:cNvPr id="55" name="Rounded Rectangle 54"/>
          <p:cNvSpPr/>
          <p:nvPr/>
        </p:nvSpPr>
        <p:spPr>
          <a:xfrm>
            <a:off x="685800" y="4206240"/>
            <a:ext cx="1188720" cy="347472"/>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5800" y="4206240"/>
            <a:ext cx="1188720" cy="347472"/>
          </a:xfrm>
          <a:prstGeom prst="rect">
            <a:avLst/>
          </a:prstGeom>
          <a:noFill/>
        </p:spPr>
        <p:txBody>
          <a:bodyPr wrap="square" lIns="36576" rIns="36576" tIns="18288" bIns="18288" anchor="ctr">
            <a:spAutoFit/>
          </a:bodyPr>
          <a:lstStyle/>
          <a:p>
            <a:pPr algn="ctr"/>
            <a:r>
              <a:rPr sz="950" b="1" i="0">
                <a:solidFill>
                  <a:srgbClr val="FFFFFF"/>
                </a:solidFill>
                <a:latin typeface="Segoe UI"/>
              </a:rPr>
              <a:t>Groq</a:t>
            </a:r>
          </a:p>
        </p:txBody>
      </p:sp>
      <p:sp>
        <p:nvSpPr>
          <p:cNvPr id="57" name="Rounded Rectangle 56"/>
          <p:cNvSpPr/>
          <p:nvPr/>
        </p:nvSpPr>
        <p:spPr>
          <a:xfrm>
            <a:off x="1965960" y="4206240"/>
            <a:ext cx="1188720" cy="347472"/>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965960" y="4206240"/>
            <a:ext cx="1188720" cy="347472"/>
          </a:xfrm>
          <a:prstGeom prst="rect">
            <a:avLst/>
          </a:prstGeom>
          <a:noFill/>
        </p:spPr>
        <p:txBody>
          <a:bodyPr wrap="square" lIns="36576" rIns="36576" tIns="18288" bIns="18288" anchor="ctr">
            <a:spAutoFit/>
          </a:bodyPr>
          <a:lstStyle/>
          <a:p>
            <a:pPr algn="ctr"/>
            <a:r>
              <a:rPr sz="950" b="1" i="0">
                <a:solidFill>
                  <a:srgbClr val="FFFFFF"/>
                </a:solidFill>
                <a:latin typeface="Segoe UI"/>
              </a:rPr>
              <a:t>Gemini</a:t>
            </a:r>
          </a:p>
        </p:txBody>
      </p:sp>
      <p:sp>
        <p:nvSpPr>
          <p:cNvPr id="59" name="Rounded Rectangle 58"/>
          <p:cNvSpPr/>
          <p:nvPr/>
        </p:nvSpPr>
        <p:spPr>
          <a:xfrm>
            <a:off x="3246120" y="4206240"/>
            <a:ext cx="1188720" cy="347472"/>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46120" y="4206240"/>
            <a:ext cx="1188720" cy="347472"/>
          </a:xfrm>
          <a:prstGeom prst="rect">
            <a:avLst/>
          </a:prstGeom>
          <a:noFill/>
        </p:spPr>
        <p:txBody>
          <a:bodyPr wrap="square" lIns="36576" rIns="36576" tIns="18288" bIns="18288" anchor="ctr">
            <a:spAutoFit/>
          </a:bodyPr>
          <a:lstStyle/>
          <a:p>
            <a:pPr algn="ctr"/>
            <a:r>
              <a:rPr sz="950" b="1" i="0">
                <a:solidFill>
                  <a:srgbClr val="FFFFFF"/>
                </a:solidFill>
                <a:latin typeface="Segoe UI"/>
              </a:rPr>
              <a:t>OpenRouter</a:t>
            </a:r>
          </a:p>
        </p:txBody>
      </p:sp>
      <p:sp>
        <p:nvSpPr>
          <p:cNvPr id="61" name="Rounded Rectangle 60"/>
          <p:cNvSpPr/>
          <p:nvPr/>
        </p:nvSpPr>
        <p:spPr>
          <a:xfrm>
            <a:off x="685800" y="4645152"/>
            <a:ext cx="1188720" cy="347472"/>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5800" y="4645152"/>
            <a:ext cx="1188720" cy="347472"/>
          </a:xfrm>
          <a:prstGeom prst="rect">
            <a:avLst/>
          </a:prstGeom>
          <a:noFill/>
        </p:spPr>
        <p:txBody>
          <a:bodyPr wrap="square" lIns="36576" rIns="36576" tIns="18288" bIns="18288" anchor="ctr">
            <a:spAutoFit/>
          </a:bodyPr>
          <a:lstStyle/>
          <a:p>
            <a:pPr algn="ctr"/>
            <a:r>
              <a:rPr sz="950" b="1" i="0">
                <a:solidFill>
                  <a:srgbClr val="FFFFFF"/>
                </a:solidFill>
                <a:latin typeface="Segoe UI"/>
              </a:rPr>
              <a:t>pyannoteAI</a:t>
            </a:r>
          </a:p>
        </p:txBody>
      </p:sp>
      <p:sp>
        <p:nvSpPr>
          <p:cNvPr id="63" name="Rounded Rectangle 62"/>
          <p:cNvSpPr/>
          <p:nvPr/>
        </p:nvSpPr>
        <p:spPr>
          <a:xfrm>
            <a:off x="1965960" y="4645152"/>
            <a:ext cx="1188720" cy="347472"/>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965960" y="4645152"/>
            <a:ext cx="1188720" cy="347472"/>
          </a:xfrm>
          <a:prstGeom prst="rect">
            <a:avLst/>
          </a:prstGeom>
          <a:noFill/>
        </p:spPr>
        <p:txBody>
          <a:bodyPr wrap="square" lIns="36576" rIns="36576" tIns="18288" bIns="18288" anchor="ctr">
            <a:spAutoFit/>
          </a:bodyPr>
          <a:lstStyle/>
          <a:p>
            <a:pPr algn="ctr"/>
            <a:r>
              <a:rPr sz="950" b="1" i="0">
                <a:solidFill>
                  <a:srgbClr val="FFFFFF"/>
                </a:solidFill>
                <a:latin typeface="Segoe UI"/>
              </a:rPr>
              <a:t>AssemblyAI</a:t>
            </a:r>
          </a:p>
        </p:txBody>
      </p:sp>
      <p:sp>
        <p:nvSpPr>
          <p:cNvPr id="65" name="Rounded Rectangle 64"/>
          <p:cNvSpPr/>
          <p:nvPr/>
        </p:nvSpPr>
        <p:spPr>
          <a:xfrm>
            <a:off x="3246120" y="4645152"/>
            <a:ext cx="1188720" cy="347472"/>
          </a:xfrm>
          <a:prstGeom prst="roundRect">
            <a:avLst>
              <a:gd name="adj" fmla="val 50000"/>
            </a:avLst>
          </a:prstGeom>
          <a:solidFill>
            <a:srgbClr val="3F2D0B"/>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46120" y="4645152"/>
            <a:ext cx="1188720" cy="347472"/>
          </a:xfrm>
          <a:prstGeom prst="rect">
            <a:avLst/>
          </a:prstGeom>
          <a:noFill/>
        </p:spPr>
        <p:txBody>
          <a:bodyPr wrap="square" lIns="36576" rIns="36576" tIns="18288" bIns="18288" anchor="ctr">
            <a:spAutoFit/>
          </a:bodyPr>
          <a:lstStyle/>
          <a:p>
            <a:pPr algn="ctr"/>
            <a:r>
              <a:rPr sz="950" b="1" i="0">
                <a:solidFill>
                  <a:srgbClr val="FFFFFF"/>
                </a:solidFill>
                <a:latin typeface="Segoe UI"/>
              </a:rPr>
              <a:t>SMTP</a:t>
            </a:r>
          </a:p>
        </p:txBody>
      </p:sp>
      <p:cxnSp>
        <p:nvCxnSpPr>
          <p:cNvPr id="67" name="Connector 66"/>
          <p:cNvCxnSpPr/>
          <p:nvPr/>
        </p:nvCxnSpPr>
        <p:spPr>
          <a:xfrm flipH="1">
            <a:off x="4572000" y="4526280"/>
            <a:ext cx="640080" cy="0"/>
          </a:xfrm>
          <a:prstGeom prst="line">
            <a:avLst/>
          </a:prstGeom>
          <a:ln w="24130">
            <a:solidFill>
              <a:srgbClr val="8F99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4640579" y="4105656"/>
            <a:ext cx="502920" cy="256032"/>
          </a:xfrm>
          <a:prstGeom prst="roundRect">
            <a:avLst>
              <a:gd name="adj" fmla="val 50000"/>
            </a:avLst>
          </a:prstGeom>
          <a:solidFill>
            <a:srgbClr val="151D5C"/>
          </a:solidFill>
          <a:ln w="11430">
            <a:solidFill>
              <a:srgbClr val="8F9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40579" y="4105656"/>
            <a:ext cx="502920"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API</a:t>
            </a:r>
          </a:p>
        </p:txBody>
      </p:sp>
      <p:sp>
        <p:nvSpPr>
          <p:cNvPr id="70" name="Rounded Rectangle 69"/>
          <p:cNvSpPr/>
          <p:nvPr/>
        </p:nvSpPr>
        <p:spPr>
          <a:xfrm>
            <a:off x="548640" y="5394960"/>
            <a:ext cx="3611880" cy="868680"/>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5800" y="5440680"/>
            <a:ext cx="3383280" cy="274320"/>
          </a:xfrm>
          <a:prstGeom prst="rect">
            <a:avLst/>
          </a:prstGeom>
          <a:noFill/>
        </p:spPr>
        <p:txBody>
          <a:bodyPr wrap="square" lIns="36576" rIns="36576" tIns="18288" bIns="18288" anchor="t">
            <a:spAutoFit/>
          </a:bodyPr>
          <a:lstStyle/>
          <a:p>
            <a:pPr algn="l"/>
            <a:r>
              <a:rPr sz="950" b="1" i="0">
                <a:solidFill>
                  <a:srgbClr val="8E99E0"/>
                </a:solidFill>
                <a:latin typeface="Segoe UI"/>
              </a:rPr>
              <a:t>LIVE APPLICATION</a:t>
            </a:r>
          </a:p>
        </p:txBody>
      </p:sp>
      <p:sp>
        <p:nvSpPr>
          <p:cNvPr id="72" name="TextBox 71"/>
          <p:cNvSpPr txBox="1"/>
          <p:nvPr/>
        </p:nvSpPr>
        <p:spPr>
          <a:xfrm>
            <a:off x="685800" y="5715000"/>
            <a:ext cx="3383280" cy="502920"/>
          </a:xfrm>
          <a:prstGeom prst="rect">
            <a:avLst/>
          </a:prstGeom>
          <a:noFill/>
        </p:spPr>
        <p:txBody>
          <a:bodyPr wrap="square" lIns="36576" rIns="36576" tIns="18288" bIns="18288" anchor="t">
            <a:spAutoFit/>
          </a:bodyPr>
          <a:lstStyle/>
          <a:p>
            <a:pPr algn="l"/>
            <a:r>
              <a:rPr sz="1100" b="0" i="0">
                <a:solidFill>
                  <a:srgbClr val="FFFFFF"/>
                </a:solidFill>
                <a:latin typeface="Segoe UI"/>
              </a:rPr>
              <a:t>gd4n8x8sjkkxmdhfptkc9m.streamlit.app</a:t>
            </a:r>
          </a:p>
        </p:txBody>
      </p:sp>
      <p:sp>
        <p:nvSpPr>
          <p:cNvPr id="73" name="Rounded Rectangle 72"/>
          <p:cNvSpPr/>
          <p:nvPr/>
        </p:nvSpPr>
        <p:spPr>
          <a:xfrm>
            <a:off x="4297679" y="5394960"/>
            <a:ext cx="3611880" cy="868680"/>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34840" y="5440680"/>
            <a:ext cx="3383280" cy="274320"/>
          </a:xfrm>
          <a:prstGeom prst="rect">
            <a:avLst/>
          </a:prstGeom>
          <a:noFill/>
        </p:spPr>
        <p:txBody>
          <a:bodyPr wrap="square" lIns="36576" rIns="36576" tIns="18288" bIns="18288" anchor="t">
            <a:spAutoFit/>
          </a:bodyPr>
          <a:lstStyle/>
          <a:p>
            <a:pPr algn="l"/>
            <a:r>
              <a:rPr sz="950" b="1" i="0">
                <a:solidFill>
                  <a:srgbClr val="8E99E0"/>
                </a:solidFill>
                <a:latin typeface="Segoe UI"/>
              </a:rPr>
              <a:t>SOURCE CODE</a:t>
            </a:r>
          </a:p>
        </p:txBody>
      </p:sp>
      <p:sp>
        <p:nvSpPr>
          <p:cNvPr id="75" name="TextBox 74"/>
          <p:cNvSpPr txBox="1"/>
          <p:nvPr/>
        </p:nvSpPr>
        <p:spPr>
          <a:xfrm>
            <a:off x="4434840" y="5715000"/>
            <a:ext cx="3383280" cy="502920"/>
          </a:xfrm>
          <a:prstGeom prst="rect">
            <a:avLst/>
          </a:prstGeom>
          <a:noFill/>
        </p:spPr>
        <p:txBody>
          <a:bodyPr wrap="square" lIns="36576" rIns="36576" tIns="18288" bIns="18288" anchor="t">
            <a:spAutoFit/>
          </a:bodyPr>
          <a:lstStyle/>
          <a:p>
            <a:pPr algn="l"/>
            <a:r>
              <a:rPr sz="1100" b="0" i="0">
                <a:solidFill>
                  <a:srgbClr val="FFFFFF"/>
                </a:solidFill>
                <a:latin typeface="Segoe UI"/>
              </a:rPr>
              <a:t>github.com/nidhitiwari23/Meeting-AI-</a:t>
            </a:r>
          </a:p>
        </p:txBody>
      </p:sp>
      <p:sp>
        <p:nvSpPr>
          <p:cNvPr id="76" name="Rounded Rectangle 75"/>
          <p:cNvSpPr/>
          <p:nvPr/>
        </p:nvSpPr>
        <p:spPr>
          <a:xfrm>
            <a:off x="8046719" y="5394960"/>
            <a:ext cx="3611880" cy="868680"/>
          </a:xfrm>
          <a:prstGeom prst="roundRect">
            <a:avLst>
              <a:gd name="adj" fmla="val 12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183879" y="5440680"/>
            <a:ext cx="3383280" cy="274320"/>
          </a:xfrm>
          <a:prstGeom prst="rect">
            <a:avLst/>
          </a:prstGeom>
          <a:noFill/>
        </p:spPr>
        <p:txBody>
          <a:bodyPr wrap="square" lIns="36576" rIns="36576" tIns="18288" bIns="18288" anchor="t">
            <a:spAutoFit/>
          </a:bodyPr>
          <a:lstStyle/>
          <a:p>
            <a:pPr algn="l"/>
            <a:r>
              <a:rPr sz="950" b="1" i="0">
                <a:solidFill>
                  <a:srgbClr val="8E99E0"/>
                </a:solidFill>
                <a:latin typeface="Segoe UI"/>
              </a:rPr>
              <a:t>FREE-TIER FACTS</a:t>
            </a:r>
          </a:p>
        </p:txBody>
      </p:sp>
      <p:sp>
        <p:nvSpPr>
          <p:cNvPr id="78" name="TextBox 77"/>
          <p:cNvSpPr txBox="1"/>
          <p:nvPr/>
        </p:nvSpPr>
        <p:spPr>
          <a:xfrm>
            <a:off x="8183879" y="5715000"/>
            <a:ext cx="3383280" cy="502920"/>
          </a:xfrm>
          <a:prstGeom prst="rect">
            <a:avLst/>
          </a:prstGeom>
          <a:noFill/>
        </p:spPr>
        <p:txBody>
          <a:bodyPr wrap="square" lIns="36576" rIns="36576" tIns="18288" bIns="18288" anchor="t">
            <a:spAutoFit/>
          </a:bodyPr>
          <a:lstStyle/>
          <a:p>
            <a:pPr algn="l"/>
            <a:r>
              <a:rPr sz="1100" b="0" i="0">
                <a:solidFill>
                  <a:srgbClr val="FFFFFF"/>
                </a:solidFill>
                <a:latin typeface="Segoe UI"/>
              </a:rPr>
              <a:t>~1 GB RAM · sleeps when idle · temp disk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Rectangle 1"/>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457200"/>
            <a:ext cx="82296" cy="566928"/>
          </a:xfrm>
          <a:prstGeom prst="roundRect">
            <a:avLst>
              <a:gd name="adj" fmla="val 5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10896"/>
            <a:ext cx="8229600" cy="274320"/>
          </a:xfrm>
          <a:prstGeom prst="rect">
            <a:avLst/>
          </a:prstGeom>
          <a:noFill/>
        </p:spPr>
        <p:txBody>
          <a:bodyPr wrap="square" lIns="36576" rIns="36576" tIns="18288" bIns="18288" anchor="t">
            <a:spAutoFit/>
          </a:bodyPr>
          <a:lstStyle/>
          <a:p>
            <a:pPr algn="l"/>
            <a:r>
              <a:rPr sz="1050" b="1" i="0">
                <a:solidFill>
                  <a:srgbClr val="A78BFA"/>
                </a:solidFill>
                <a:latin typeface="Segoe UI"/>
              </a:rPr>
              <a:t>SUMMARY</a:t>
            </a:r>
          </a:p>
        </p:txBody>
      </p:sp>
      <p:sp>
        <p:nvSpPr>
          <p:cNvPr id="6" name="TextBox 5"/>
          <p:cNvSpPr txBox="1"/>
          <p:nvPr/>
        </p:nvSpPr>
        <p:spPr>
          <a:xfrm>
            <a:off x="777240" y="548640"/>
            <a:ext cx="10881360" cy="548640"/>
          </a:xfrm>
          <a:prstGeom prst="rect">
            <a:avLst/>
          </a:prstGeom>
          <a:noFill/>
        </p:spPr>
        <p:txBody>
          <a:bodyPr wrap="square" lIns="36576" rIns="36576" tIns="18288" bIns="18288" anchor="ctr">
            <a:spAutoFit/>
          </a:bodyPr>
          <a:lstStyle/>
          <a:p>
            <a:pPr algn="l"/>
            <a:r>
              <a:rPr sz="2800" b="1" i="0">
                <a:solidFill>
                  <a:srgbClr val="FFFFFF"/>
                </a:solidFill>
                <a:latin typeface="Segoe UI"/>
              </a:rPr>
              <a:t>MeetingAI in numbers</a:t>
            </a:r>
          </a:p>
        </p:txBody>
      </p:sp>
      <p:sp>
        <p:nvSpPr>
          <p:cNvPr id="7" name="TextBox 6"/>
          <p:cNvSpPr txBox="1"/>
          <p:nvPr/>
        </p:nvSpPr>
        <p:spPr>
          <a:xfrm>
            <a:off x="548640" y="6473952"/>
            <a:ext cx="3657600" cy="256032"/>
          </a:xfrm>
          <a:prstGeom prst="rect">
            <a:avLst/>
          </a:prstGeom>
          <a:noFill/>
        </p:spPr>
        <p:txBody>
          <a:bodyPr wrap="square" lIns="36576" rIns="36576" tIns="18288" bIns="18288" anchor="t">
            <a:spAutoFit/>
          </a:bodyPr>
          <a:lstStyle/>
          <a:p>
            <a:pPr algn="l"/>
            <a:r>
              <a:rPr sz="900" b="0" i="0">
                <a:solidFill>
                  <a:srgbClr val="8E99E0"/>
                </a:solidFill>
                <a:latin typeface="Segoe UI"/>
              </a:rPr>
              <a:t>MeetingAI  ·  Project Presentation</a:t>
            </a:r>
          </a:p>
        </p:txBody>
      </p:sp>
      <p:sp>
        <p:nvSpPr>
          <p:cNvPr id="8" name="Rounded Rectangle 7"/>
          <p:cNvSpPr/>
          <p:nvPr/>
        </p:nvSpPr>
        <p:spPr>
          <a:xfrm>
            <a:off x="11048695" y="6455664"/>
            <a:ext cx="594360" cy="256032"/>
          </a:xfrm>
          <a:prstGeom prst="roundRect">
            <a:avLst>
              <a:gd name="adj" fmla="val 50000"/>
            </a:avLst>
          </a:prstGeom>
          <a:solidFill>
            <a:srgbClr val="1B2360"/>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8695" y="6455664"/>
            <a:ext cx="594360" cy="256032"/>
          </a:xfrm>
          <a:prstGeom prst="rect">
            <a:avLst/>
          </a:prstGeom>
          <a:noFill/>
        </p:spPr>
        <p:txBody>
          <a:bodyPr wrap="square" lIns="36576" rIns="36576" tIns="18288" bIns="18288" anchor="ctr">
            <a:spAutoFit/>
          </a:bodyPr>
          <a:lstStyle/>
          <a:p>
            <a:pPr algn="ctr"/>
            <a:r>
              <a:rPr sz="1000" b="1" i="0">
                <a:solidFill>
                  <a:srgbClr val="FFFFFF"/>
                </a:solidFill>
                <a:latin typeface="Segoe UI"/>
              </a:rPr>
              <a:t>45</a:t>
            </a:r>
          </a:p>
        </p:txBody>
      </p:sp>
      <p:sp>
        <p:nvSpPr>
          <p:cNvPr id="10" name="Rounded Rectangle 9"/>
          <p:cNvSpPr/>
          <p:nvPr/>
        </p:nvSpPr>
        <p:spPr>
          <a:xfrm>
            <a:off x="548640" y="1371600"/>
            <a:ext cx="3611880" cy="1371600"/>
          </a:xfrm>
          <a:prstGeom prst="roundRect">
            <a:avLst>
              <a:gd name="adj" fmla="val 10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44752"/>
            <a:ext cx="3611880" cy="754380"/>
          </a:xfrm>
          <a:prstGeom prst="rect">
            <a:avLst/>
          </a:prstGeom>
          <a:noFill/>
        </p:spPr>
        <p:txBody>
          <a:bodyPr wrap="square" lIns="36576" rIns="36576" tIns="18288" bIns="18288" anchor="ctr">
            <a:spAutoFit/>
          </a:bodyPr>
          <a:lstStyle/>
          <a:p>
            <a:pPr algn="ctr"/>
            <a:r>
              <a:rPr sz="3000" b="1" i="0">
                <a:solidFill>
                  <a:srgbClr val="D4C8FF"/>
                </a:solidFill>
                <a:latin typeface="Segoe UI"/>
              </a:rPr>
              <a:t>14</a:t>
            </a:r>
          </a:p>
        </p:txBody>
      </p:sp>
      <p:sp>
        <p:nvSpPr>
          <p:cNvPr id="12" name="TextBox 11"/>
          <p:cNvSpPr txBox="1"/>
          <p:nvPr/>
        </p:nvSpPr>
        <p:spPr>
          <a:xfrm>
            <a:off x="640080" y="2167128"/>
            <a:ext cx="3429000" cy="548640"/>
          </a:xfrm>
          <a:prstGeom prst="rect">
            <a:avLst/>
          </a:prstGeom>
          <a:noFill/>
        </p:spPr>
        <p:txBody>
          <a:bodyPr wrap="square" lIns="36576" rIns="36576" tIns="18288" bIns="18288" anchor="t">
            <a:spAutoFit/>
          </a:bodyPr>
          <a:lstStyle/>
          <a:p>
            <a:pPr algn="ctr"/>
            <a:r>
              <a:rPr sz="1100" b="0" i="0">
                <a:solidFill>
                  <a:srgbClr val="C9D0FF"/>
                </a:solidFill>
                <a:latin typeface="Segoe UI"/>
              </a:rPr>
              <a:t>processing steps per meeting</a:t>
            </a:r>
          </a:p>
        </p:txBody>
      </p:sp>
      <p:sp>
        <p:nvSpPr>
          <p:cNvPr id="13" name="Rounded Rectangle 12"/>
          <p:cNvSpPr/>
          <p:nvPr/>
        </p:nvSpPr>
        <p:spPr>
          <a:xfrm>
            <a:off x="4297679" y="1371600"/>
            <a:ext cx="3611880" cy="1371600"/>
          </a:xfrm>
          <a:prstGeom prst="roundRect">
            <a:avLst>
              <a:gd name="adj" fmla="val 10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9" y="1444752"/>
            <a:ext cx="3611880" cy="754380"/>
          </a:xfrm>
          <a:prstGeom prst="rect">
            <a:avLst/>
          </a:prstGeom>
          <a:noFill/>
        </p:spPr>
        <p:txBody>
          <a:bodyPr wrap="square" lIns="36576" rIns="36576" tIns="18288" bIns="18288" anchor="ctr">
            <a:spAutoFit/>
          </a:bodyPr>
          <a:lstStyle/>
          <a:p>
            <a:pPr algn="ctr"/>
            <a:r>
              <a:rPr sz="3000" b="1" i="0">
                <a:solidFill>
                  <a:srgbClr val="7DF0DF"/>
                </a:solidFill>
                <a:latin typeface="Segoe UI"/>
              </a:rPr>
              <a:t>610</a:t>
            </a:r>
          </a:p>
        </p:txBody>
      </p:sp>
      <p:sp>
        <p:nvSpPr>
          <p:cNvPr id="15" name="TextBox 14"/>
          <p:cNvSpPr txBox="1"/>
          <p:nvPr/>
        </p:nvSpPr>
        <p:spPr>
          <a:xfrm>
            <a:off x="4389119" y="2167128"/>
            <a:ext cx="3429000" cy="548640"/>
          </a:xfrm>
          <a:prstGeom prst="rect">
            <a:avLst/>
          </a:prstGeom>
          <a:noFill/>
        </p:spPr>
        <p:txBody>
          <a:bodyPr wrap="square" lIns="36576" rIns="36576" tIns="18288" bIns="18288" anchor="t">
            <a:spAutoFit/>
          </a:bodyPr>
          <a:lstStyle/>
          <a:p>
            <a:pPr algn="ctr"/>
            <a:r>
              <a:rPr sz="1100" b="0" i="0">
                <a:solidFill>
                  <a:srgbClr val="C9D0FF"/>
                </a:solidFill>
                <a:latin typeface="Segoe UI"/>
              </a:rPr>
              <a:t>template sentences train the classifier</a:t>
            </a:r>
          </a:p>
        </p:txBody>
      </p:sp>
      <p:sp>
        <p:nvSpPr>
          <p:cNvPr id="16" name="Rounded Rectangle 15"/>
          <p:cNvSpPr/>
          <p:nvPr/>
        </p:nvSpPr>
        <p:spPr>
          <a:xfrm>
            <a:off x="8046719" y="1371600"/>
            <a:ext cx="3611880" cy="1371600"/>
          </a:xfrm>
          <a:prstGeom prst="roundRect">
            <a:avLst>
              <a:gd name="adj" fmla="val 10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19" y="1444752"/>
            <a:ext cx="3611880" cy="754380"/>
          </a:xfrm>
          <a:prstGeom prst="rect">
            <a:avLst/>
          </a:prstGeom>
          <a:noFill/>
        </p:spPr>
        <p:txBody>
          <a:bodyPr wrap="square" lIns="36576" rIns="36576" tIns="18288" bIns="18288" anchor="ctr">
            <a:spAutoFit/>
          </a:bodyPr>
          <a:lstStyle/>
          <a:p>
            <a:pPr algn="ctr"/>
            <a:r>
              <a:rPr sz="3000" b="1" i="0">
                <a:solidFill>
                  <a:srgbClr val="FFD978"/>
                </a:solidFill>
                <a:latin typeface="Segoe UI"/>
              </a:rPr>
              <a:t>4</a:t>
            </a:r>
          </a:p>
        </p:txBody>
      </p:sp>
      <p:sp>
        <p:nvSpPr>
          <p:cNvPr id="18" name="TextBox 17"/>
          <p:cNvSpPr txBox="1"/>
          <p:nvPr/>
        </p:nvSpPr>
        <p:spPr>
          <a:xfrm>
            <a:off x="8138159" y="2167128"/>
            <a:ext cx="3429000" cy="548640"/>
          </a:xfrm>
          <a:prstGeom prst="rect">
            <a:avLst/>
          </a:prstGeom>
          <a:noFill/>
        </p:spPr>
        <p:txBody>
          <a:bodyPr wrap="square" lIns="36576" rIns="36576" tIns="18288" bIns="18288" anchor="t">
            <a:spAutoFit/>
          </a:bodyPr>
          <a:lstStyle/>
          <a:p>
            <a:pPr algn="ctr"/>
            <a:r>
              <a:rPr sz="1100" b="0" i="0">
                <a:solidFill>
                  <a:srgbClr val="C9D0FF"/>
                </a:solidFill>
                <a:latin typeface="Segoe UI"/>
              </a:rPr>
              <a:t>gateway questions guard every item</a:t>
            </a:r>
          </a:p>
        </p:txBody>
      </p:sp>
      <p:sp>
        <p:nvSpPr>
          <p:cNvPr id="19" name="Rounded Rectangle 18"/>
          <p:cNvSpPr/>
          <p:nvPr/>
        </p:nvSpPr>
        <p:spPr>
          <a:xfrm>
            <a:off x="548640" y="2880360"/>
            <a:ext cx="3611880" cy="1371600"/>
          </a:xfrm>
          <a:prstGeom prst="roundRect">
            <a:avLst>
              <a:gd name="adj" fmla="val 10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953512"/>
            <a:ext cx="3611880" cy="754380"/>
          </a:xfrm>
          <a:prstGeom prst="rect">
            <a:avLst/>
          </a:prstGeom>
          <a:noFill/>
        </p:spPr>
        <p:txBody>
          <a:bodyPr wrap="square" lIns="36576" rIns="36576" tIns="18288" bIns="18288" anchor="ctr">
            <a:spAutoFit/>
          </a:bodyPr>
          <a:lstStyle/>
          <a:p>
            <a:pPr algn="ctr"/>
            <a:r>
              <a:rPr sz="3000" b="1" i="0">
                <a:solidFill>
                  <a:srgbClr val="FFB7DE"/>
                </a:solidFill>
                <a:latin typeface="Segoe UI"/>
              </a:rPr>
              <a:t>3</a:t>
            </a:r>
          </a:p>
        </p:txBody>
      </p:sp>
      <p:sp>
        <p:nvSpPr>
          <p:cNvPr id="21" name="TextBox 20"/>
          <p:cNvSpPr txBox="1"/>
          <p:nvPr/>
        </p:nvSpPr>
        <p:spPr>
          <a:xfrm>
            <a:off x="640080" y="3675887"/>
            <a:ext cx="3429000" cy="548640"/>
          </a:xfrm>
          <a:prstGeom prst="rect">
            <a:avLst/>
          </a:prstGeom>
          <a:noFill/>
        </p:spPr>
        <p:txBody>
          <a:bodyPr wrap="square" lIns="36576" rIns="36576" tIns="18288" bIns="18288" anchor="t">
            <a:spAutoFit/>
          </a:bodyPr>
          <a:lstStyle/>
          <a:p>
            <a:pPr algn="ctr"/>
            <a:r>
              <a:rPr sz="1100" b="0" i="0">
                <a:solidFill>
                  <a:srgbClr val="C9D0FF"/>
                </a:solidFill>
                <a:latin typeface="Segoe UI"/>
              </a:rPr>
              <a:t>free LLM providers behind one router</a:t>
            </a:r>
          </a:p>
        </p:txBody>
      </p:sp>
      <p:sp>
        <p:nvSpPr>
          <p:cNvPr id="22" name="Rounded Rectangle 21"/>
          <p:cNvSpPr/>
          <p:nvPr/>
        </p:nvSpPr>
        <p:spPr>
          <a:xfrm>
            <a:off x="4297679" y="2880360"/>
            <a:ext cx="3611880" cy="1371600"/>
          </a:xfrm>
          <a:prstGeom prst="roundRect">
            <a:avLst>
              <a:gd name="adj" fmla="val 10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2953512"/>
            <a:ext cx="3611880" cy="754380"/>
          </a:xfrm>
          <a:prstGeom prst="rect">
            <a:avLst/>
          </a:prstGeom>
          <a:noFill/>
        </p:spPr>
        <p:txBody>
          <a:bodyPr wrap="square" lIns="36576" rIns="36576" tIns="18288" bIns="18288" anchor="ctr">
            <a:spAutoFit/>
          </a:bodyPr>
          <a:lstStyle/>
          <a:p>
            <a:pPr algn="ctr"/>
            <a:r>
              <a:rPr sz="3000" b="1" i="0">
                <a:solidFill>
                  <a:srgbClr val="8CF0C6"/>
                </a:solidFill>
                <a:latin typeface="Segoe UI"/>
              </a:rPr>
              <a:t>12</a:t>
            </a:r>
          </a:p>
        </p:txBody>
      </p:sp>
      <p:sp>
        <p:nvSpPr>
          <p:cNvPr id="24" name="TextBox 23"/>
          <p:cNvSpPr txBox="1"/>
          <p:nvPr/>
        </p:nvSpPr>
        <p:spPr>
          <a:xfrm>
            <a:off x="4389119" y="3675887"/>
            <a:ext cx="3429000" cy="548640"/>
          </a:xfrm>
          <a:prstGeom prst="rect">
            <a:avLst/>
          </a:prstGeom>
          <a:noFill/>
        </p:spPr>
        <p:txBody>
          <a:bodyPr wrap="square" lIns="36576" rIns="36576" tIns="18288" bIns="18288" anchor="t">
            <a:spAutoFit/>
          </a:bodyPr>
          <a:lstStyle/>
          <a:p>
            <a:pPr algn="ctr"/>
            <a:r>
              <a:rPr sz="1100" b="0" i="0">
                <a:solidFill>
                  <a:srgbClr val="C9D0FF"/>
                </a:solidFill>
                <a:latin typeface="Segoe UI"/>
              </a:rPr>
              <a:t>pages in the app</a:t>
            </a:r>
          </a:p>
        </p:txBody>
      </p:sp>
      <p:sp>
        <p:nvSpPr>
          <p:cNvPr id="25" name="Rounded Rectangle 24"/>
          <p:cNvSpPr/>
          <p:nvPr/>
        </p:nvSpPr>
        <p:spPr>
          <a:xfrm>
            <a:off x="8046719" y="2880360"/>
            <a:ext cx="3611880" cy="1371600"/>
          </a:xfrm>
          <a:prstGeom prst="roundRect">
            <a:avLst>
              <a:gd name="adj" fmla="val 10000"/>
            </a:avLst>
          </a:prstGeom>
          <a:solidFill>
            <a:srgbClr val="151B4D"/>
          </a:solidFill>
          <a:ln w="12700">
            <a:solidFill>
              <a:srgbClr val="3B45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9" y="2953512"/>
            <a:ext cx="3611880" cy="754380"/>
          </a:xfrm>
          <a:prstGeom prst="rect">
            <a:avLst/>
          </a:prstGeom>
          <a:noFill/>
        </p:spPr>
        <p:txBody>
          <a:bodyPr wrap="square" lIns="36576" rIns="36576" tIns="18288" bIns="18288" anchor="ctr">
            <a:spAutoFit/>
          </a:bodyPr>
          <a:lstStyle/>
          <a:p>
            <a:pPr algn="ctr"/>
            <a:r>
              <a:rPr sz="3000" b="1" i="0">
                <a:solidFill>
                  <a:srgbClr val="A9CCFF"/>
                </a:solidFill>
                <a:latin typeface="Segoe UI"/>
              </a:rPr>
              <a:t>Free</a:t>
            </a:r>
          </a:p>
        </p:txBody>
      </p:sp>
      <p:sp>
        <p:nvSpPr>
          <p:cNvPr id="27" name="TextBox 26"/>
          <p:cNvSpPr txBox="1"/>
          <p:nvPr/>
        </p:nvSpPr>
        <p:spPr>
          <a:xfrm>
            <a:off x="8138159" y="3675887"/>
            <a:ext cx="3429000" cy="548640"/>
          </a:xfrm>
          <a:prstGeom prst="rect">
            <a:avLst/>
          </a:prstGeom>
          <a:noFill/>
        </p:spPr>
        <p:txBody>
          <a:bodyPr wrap="square" lIns="36576" rIns="36576" tIns="18288" bIns="18288" anchor="t">
            <a:spAutoFit/>
          </a:bodyPr>
          <a:lstStyle/>
          <a:p>
            <a:pPr algn="ctr"/>
            <a:r>
              <a:rPr sz="1100" b="0" i="0">
                <a:solidFill>
                  <a:srgbClr val="C9D0FF"/>
                </a:solidFill>
                <a:latin typeface="Segoe UI"/>
              </a:rPr>
              <a:t>to run: free tiers only</a:t>
            </a:r>
          </a:p>
        </p:txBody>
      </p:sp>
      <p:sp>
        <p:nvSpPr>
          <p:cNvPr id="28" name="TextBox 27"/>
          <p:cNvSpPr txBox="1"/>
          <p:nvPr/>
        </p:nvSpPr>
        <p:spPr>
          <a:xfrm>
            <a:off x="548640" y="4526280"/>
            <a:ext cx="10972800" cy="274320"/>
          </a:xfrm>
          <a:prstGeom prst="rect">
            <a:avLst/>
          </a:prstGeom>
          <a:noFill/>
        </p:spPr>
        <p:txBody>
          <a:bodyPr wrap="square" lIns="36576" rIns="36576" tIns="18288" bIns="18288" anchor="t">
            <a:spAutoFit/>
          </a:bodyPr>
          <a:lstStyle/>
          <a:p>
            <a:pPr algn="l"/>
            <a:r>
              <a:rPr sz="1050" b="1" i="0">
                <a:solidFill>
                  <a:srgbClr val="A78BFA"/>
                </a:solidFill>
                <a:latin typeface="Segoe UI"/>
              </a:rPr>
              <a:t>THE TAKEAWAY</a:t>
            </a:r>
          </a:p>
        </p:txBody>
      </p:sp>
      <p:sp>
        <p:nvSpPr>
          <p:cNvPr id="29" name="TextBox 28"/>
          <p:cNvSpPr txBox="1"/>
          <p:nvPr/>
        </p:nvSpPr>
        <p:spPr>
          <a:xfrm>
            <a:off x="548640" y="4892040"/>
            <a:ext cx="11064240" cy="4572000"/>
          </a:xfrm>
          <a:prstGeom prst="rect">
            <a:avLst/>
          </a:prstGeom>
          <a:noFill/>
        </p:spPr>
        <p:txBody>
          <a:bodyPr wrap="square" lIns="36576" rIns="36576" tIns="18288" bIns="18288" anchor="t">
            <a:spAutoFit/>
          </a:bodyPr>
          <a:lstStyle/>
          <a:p>
            <a:pPr algn="l">
              <a:spcAft>
                <a:spcPts val="1200"/>
              </a:spcAft>
            </a:pPr>
            <a:r>
              <a:rPr sz="1700" b="1" i="0">
                <a:solidFill>
                  <a:srgbClr val="A78BFA"/>
                </a:solidFill>
                <a:latin typeface="Segoe UI"/>
              </a:rPr>
              <a:t>▸  </a:t>
            </a:r>
            <a:r>
              <a:rPr sz="1700" b="1" i="0">
                <a:solidFill>
                  <a:srgbClr val="FFFFFF"/>
                </a:solidFill>
                <a:latin typeface="Segoe UI"/>
              </a:rPr>
              <a:t>Classical NLP first,</a:t>
            </a:r>
            <a:r>
              <a:rPr sz="1700" b="0" i="0">
                <a:solidFill>
                  <a:srgbClr val="C9D0FF"/>
                </a:solidFill>
                <a:latin typeface="Segoe UI"/>
              </a:rPr>
              <a:t> LLM only where unsure, plain code verifies everything the LLM says</a:t>
            </a:r>
          </a:p>
          <a:p>
            <a:pPr algn="l">
              <a:spcAft>
                <a:spcPts val="1200"/>
              </a:spcAft>
            </a:pPr>
            <a:r>
              <a:rPr sz="1700" b="1" i="0">
                <a:solidFill>
                  <a:srgbClr val="A78BFA"/>
                </a:solidFill>
                <a:latin typeface="Segoe UI"/>
              </a:rPr>
              <a:t>▸  </a:t>
            </a:r>
            <a:r>
              <a:rPr sz="1700" b="1" i="0">
                <a:solidFill>
                  <a:srgbClr val="FFFFFF"/>
                </a:solidFill>
                <a:latin typeface="Segoe UI"/>
              </a:rPr>
              <a:t>Names on every voice,</a:t>
            </a:r>
            <a:r>
              <a:rPr sz="1700" b="0" i="0">
                <a:solidFill>
                  <a:srgbClr val="C9D0FF"/>
                </a:solidFill>
                <a:latin typeface="Segoe UI"/>
              </a:rPr>
              <a:t> tasks with owners and deadlines, decisions, events, chat and ready-to-send minutes</a:t>
            </a:r>
          </a:p>
          <a:p>
            <a:pPr algn="l">
              <a:spcAft>
                <a:spcPts val="1200"/>
              </a:spcAft>
            </a:pPr>
            <a:r>
              <a:rPr sz="1700" b="1" i="0">
                <a:solidFill>
                  <a:srgbClr val="A78BFA"/>
                </a:solidFill>
                <a:latin typeface="Segoe UI"/>
              </a:rPr>
              <a:t>▸  </a:t>
            </a:r>
            <a:r>
              <a:rPr sz="1700" b="1" i="0">
                <a:solidFill>
                  <a:srgbClr val="FFFFFF"/>
                </a:solidFill>
                <a:latin typeface="Segoe UI"/>
              </a:rPr>
              <a:t>Honest by design:</a:t>
            </a:r>
            <a:r>
              <a:rPr sz="1700" b="0" i="0">
                <a:solidFill>
                  <a:srgbClr val="C9D0FF"/>
                </a:solidFill>
                <a:latin typeface="Segoe UI"/>
              </a:rPr>
              <a:t> it says "Not specified" or "Not found" rather than guessing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1030"/>
        </a:solidFill>
        <a:effectLst/>
      </p:bgPr>
    </p:bg>
    <p:spTree>
      <p:nvGrpSpPr>
        <p:cNvPr id="1" name=""/>
        <p:cNvGrpSpPr/>
        <p:nvPr/>
      </p:nvGrpSpPr>
      <p:grpSpPr/>
      <p:sp>
        <p:nvSpPr>
          <p:cNvPr id="2" name="Oval 1"/>
          <p:cNvSpPr/>
          <p:nvPr/>
        </p:nvSpPr>
        <p:spPr>
          <a:xfrm>
            <a:off x="6766560" y="-2286000"/>
            <a:ext cx="8229600" cy="8229600"/>
          </a:xfrm>
          <a:prstGeom prst="ellipse">
            <a:avLst/>
          </a:prstGeom>
          <a:solidFill>
            <a:srgbClr val="1A1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286000" y="3840480"/>
            <a:ext cx="5943600" cy="5943600"/>
          </a:xfrm>
          <a:prstGeom prst="ellipse">
            <a:avLst/>
          </a:prstGeom>
          <a:solidFill>
            <a:srgbClr val="141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095847" cy="82296"/>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6095847"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10058400" cy="1097280"/>
          </a:xfrm>
          <a:prstGeom prst="rect">
            <a:avLst/>
          </a:prstGeom>
          <a:noFill/>
        </p:spPr>
        <p:txBody>
          <a:bodyPr wrap="square" lIns="36576" rIns="36576" tIns="18288" bIns="18288" anchor="t">
            <a:spAutoFit/>
          </a:bodyPr>
          <a:lstStyle/>
          <a:p>
            <a:pPr algn="l"/>
            <a:r>
              <a:rPr sz="5400" b="1" i="0">
                <a:solidFill>
                  <a:srgbClr val="FFFFFF"/>
                </a:solidFill>
                <a:latin typeface="Segoe UI"/>
              </a:rPr>
              <a:t>Thank you</a:t>
            </a:r>
          </a:p>
        </p:txBody>
      </p:sp>
      <p:sp>
        <p:nvSpPr>
          <p:cNvPr id="7" name="TextBox 6"/>
          <p:cNvSpPr txBox="1"/>
          <p:nvPr/>
        </p:nvSpPr>
        <p:spPr>
          <a:xfrm>
            <a:off x="822960" y="2514600"/>
            <a:ext cx="10058400" cy="548640"/>
          </a:xfrm>
          <a:prstGeom prst="rect">
            <a:avLst/>
          </a:prstGeom>
          <a:noFill/>
        </p:spPr>
        <p:txBody>
          <a:bodyPr wrap="square" lIns="36576" rIns="36576" tIns="18288" bIns="18288" anchor="t">
            <a:spAutoFit/>
          </a:bodyPr>
          <a:lstStyle/>
          <a:p>
            <a:pPr algn="l"/>
            <a:r>
              <a:rPr sz="2000" b="0" i="0">
                <a:solidFill>
                  <a:srgbClr val="C9D0FF"/>
                </a:solidFill>
                <a:latin typeface="Segoe UI"/>
              </a:rPr>
              <a:t>Questions?  Try it live - upload a meeting and ask it anything.</a:t>
            </a:r>
          </a:p>
        </p:txBody>
      </p:sp>
      <p:sp>
        <p:nvSpPr>
          <p:cNvPr id="8" name="Rectangle 7"/>
          <p:cNvSpPr/>
          <p:nvPr/>
        </p:nvSpPr>
        <p:spPr>
          <a:xfrm>
            <a:off x="822960" y="3246120"/>
            <a:ext cx="1463040" cy="45720"/>
          </a:xfrm>
          <a:prstGeom prst="rect">
            <a:avLst/>
          </a:prstGeom>
          <a:solidFill>
            <a:srgbClr val="6D4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474720"/>
            <a:ext cx="2743200" cy="274320"/>
          </a:xfrm>
          <a:prstGeom prst="rect">
            <a:avLst/>
          </a:prstGeom>
          <a:noFill/>
        </p:spPr>
        <p:txBody>
          <a:bodyPr wrap="square" lIns="36576" rIns="36576" tIns="18288" bIns="18288" anchor="t">
            <a:spAutoFit/>
          </a:bodyPr>
          <a:lstStyle/>
          <a:p>
            <a:pPr algn="l"/>
            <a:r>
              <a:rPr sz="1000" b="1" i="0">
                <a:solidFill>
                  <a:srgbClr val="8E99E0"/>
                </a:solidFill>
                <a:latin typeface="Segoe UI"/>
              </a:rPr>
              <a:t>LIVE APPLICATION</a:t>
            </a:r>
          </a:p>
        </p:txBody>
      </p:sp>
      <p:sp>
        <p:nvSpPr>
          <p:cNvPr id="10" name="TextBox 9"/>
          <p:cNvSpPr txBox="1"/>
          <p:nvPr/>
        </p:nvSpPr>
        <p:spPr>
          <a:xfrm>
            <a:off x="822960" y="3749039"/>
            <a:ext cx="8229600" cy="365760"/>
          </a:xfrm>
          <a:prstGeom prst="rect">
            <a:avLst/>
          </a:prstGeom>
          <a:noFill/>
        </p:spPr>
        <p:txBody>
          <a:bodyPr wrap="square" lIns="36576" rIns="36576" tIns="18288" bIns="18288" anchor="t">
            <a:spAutoFit/>
          </a:bodyPr>
          <a:lstStyle/>
          <a:p>
            <a:pPr algn="l"/>
            <a:r>
              <a:rPr sz="1500" b="0" i="0">
                <a:solidFill>
                  <a:srgbClr val="FFFFFF"/>
                </a:solidFill>
                <a:latin typeface="Segoe UI"/>
              </a:rPr>
              <a:t>https://gd4n8x8sjkkxmdhfptkc9m.streamlit.app/</a:t>
            </a:r>
          </a:p>
        </p:txBody>
      </p:sp>
      <p:sp>
        <p:nvSpPr>
          <p:cNvPr id="11" name="TextBox 10"/>
          <p:cNvSpPr txBox="1"/>
          <p:nvPr/>
        </p:nvSpPr>
        <p:spPr>
          <a:xfrm>
            <a:off x="822960" y="4297680"/>
            <a:ext cx="2743200" cy="274320"/>
          </a:xfrm>
          <a:prstGeom prst="rect">
            <a:avLst/>
          </a:prstGeom>
          <a:noFill/>
        </p:spPr>
        <p:txBody>
          <a:bodyPr wrap="square" lIns="36576" rIns="36576" tIns="18288" bIns="18288" anchor="t">
            <a:spAutoFit/>
          </a:bodyPr>
          <a:lstStyle/>
          <a:p>
            <a:pPr algn="l"/>
            <a:r>
              <a:rPr sz="1000" b="1" i="0">
                <a:solidFill>
                  <a:srgbClr val="8E99E0"/>
                </a:solidFill>
                <a:latin typeface="Segoe UI"/>
              </a:rPr>
              <a:t>SOURCE CODE</a:t>
            </a:r>
          </a:p>
        </p:txBody>
      </p:sp>
      <p:sp>
        <p:nvSpPr>
          <p:cNvPr id="12" name="TextBox 11"/>
          <p:cNvSpPr txBox="1"/>
          <p:nvPr/>
        </p:nvSpPr>
        <p:spPr>
          <a:xfrm>
            <a:off x="822960" y="4572000"/>
            <a:ext cx="8229600" cy="365760"/>
          </a:xfrm>
          <a:prstGeom prst="rect">
            <a:avLst/>
          </a:prstGeom>
          <a:noFill/>
        </p:spPr>
        <p:txBody>
          <a:bodyPr wrap="square" lIns="36576" rIns="36576" tIns="18288" bIns="18288" anchor="t">
            <a:spAutoFit/>
          </a:bodyPr>
          <a:lstStyle/>
          <a:p>
            <a:pPr algn="l"/>
            <a:r>
              <a:rPr sz="1500" b="0" i="0">
                <a:solidFill>
                  <a:srgbClr val="FFFFFF"/>
                </a:solidFill>
                <a:latin typeface="Segoe UI"/>
              </a:rPr>
              <a:t>https://github.com/nidhitiwari23/Meeting-AI-</a:t>
            </a:r>
          </a:p>
        </p:txBody>
      </p:sp>
      <p:sp>
        <p:nvSpPr>
          <p:cNvPr id="13" name="TextBox 12"/>
          <p:cNvSpPr txBox="1"/>
          <p:nvPr/>
        </p:nvSpPr>
        <p:spPr>
          <a:xfrm>
            <a:off x="822960" y="5212080"/>
            <a:ext cx="2743200" cy="274320"/>
          </a:xfrm>
          <a:prstGeom prst="rect">
            <a:avLst/>
          </a:prstGeom>
          <a:noFill/>
        </p:spPr>
        <p:txBody>
          <a:bodyPr wrap="square" lIns="36576" rIns="36576" tIns="18288" bIns="18288" anchor="t">
            <a:spAutoFit/>
          </a:bodyPr>
          <a:lstStyle/>
          <a:p>
            <a:pPr algn="l"/>
            <a:r>
              <a:rPr sz="1000" b="1" i="0">
                <a:solidFill>
                  <a:srgbClr val="8E99E0"/>
                </a:solidFill>
                <a:latin typeface="Segoe UI"/>
              </a:rPr>
              <a:t>TEAM</a:t>
            </a:r>
          </a:p>
        </p:txBody>
      </p:sp>
      <p:sp>
        <p:nvSpPr>
          <p:cNvPr id="14" name="TextBox 13"/>
          <p:cNvSpPr txBox="1"/>
          <p:nvPr/>
        </p:nvSpPr>
        <p:spPr>
          <a:xfrm>
            <a:off x="822960" y="5486400"/>
            <a:ext cx="3291840" cy="329184"/>
          </a:xfrm>
          <a:prstGeom prst="rect">
            <a:avLst/>
          </a:prstGeom>
          <a:noFill/>
        </p:spPr>
        <p:txBody>
          <a:bodyPr wrap="square" lIns="36576" rIns="36576" tIns="18288" bIns="18288" anchor="t">
            <a:spAutoFit/>
          </a:bodyPr>
          <a:lstStyle/>
          <a:p>
            <a:pPr algn="l"/>
            <a:r>
              <a:rPr sz="1400" b="0" i="0">
                <a:solidFill>
                  <a:srgbClr val="FFFFFF"/>
                </a:solidFill>
                <a:latin typeface="Segoe UI"/>
              </a:rPr>
              <a:t>Nidhi Tiwari  </a:t>
            </a:r>
            <a:r>
              <a:rPr sz="1400" b="1" i="0">
                <a:solidFill>
                  <a:srgbClr val="A78BFA"/>
                </a:solidFill>
                <a:latin typeface="Segoe UI"/>
              </a:rPr>
              <a:t>A033</a:t>
            </a:r>
          </a:p>
        </p:txBody>
      </p:sp>
      <p:sp>
        <p:nvSpPr>
          <p:cNvPr id="15" name="TextBox 14"/>
          <p:cNvSpPr txBox="1"/>
          <p:nvPr/>
        </p:nvSpPr>
        <p:spPr>
          <a:xfrm>
            <a:off x="4114800" y="5486400"/>
            <a:ext cx="3291840" cy="329184"/>
          </a:xfrm>
          <a:prstGeom prst="rect">
            <a:avLst/>
          </a:prstGeom>
          <a:noFill/>
        </p:spPr>
        <p:txBody>
          <a:bodyPr wrap="square" lIns="36576" rIns="36576" tIns="18288" bIns="18288" anchor="t">
            <a:spAutoFit/>
          </a:bodyPr>
          <a:lstStyle/>
          <a:p>
            <a:pPr algn="l"/>
            <a:r>
              <a:rPr sz="1400" b="0" i="0">
                <a:solidFill>
                  <a:srgbClr val="FFFFFF"/>
                </a:solidFill>
                <a:latin typeface="Segoe UI"/>
              </a:rPr>
              <a:t>Dhruvi Devalia  </a:t>
            </a:r>
            <a:r>
              <a:rPr sz="1400" b="1" i="0">
                <a:solidFill>
                  <a:srgbClr val="A78BFA"/>
                </a:solidFill>
                <a:latin typeface="Segoe UI"/>
              </a:rPr>
              <a:t>A044</a:t>
            </a:r>
          </a:p>
        </p:txBody>
      </p:sp>
      <p:sp>
        <p:nvSpPr>
          <p:cNvPr id="16" name="TextBox 15"/>
          <p:cNvSpPr txBox="1"/>
          <p:nvPr/>
        </p:nvSpPr>
        <p:spPr>
          <a:xfrm>
            <a:off x="822960" y="5833872"/>
            <a:ext cx="3291840" cy="329184"/>
          </a:xfrm>
          <a:prstGeom prst="rect">
            <a:avLst/>
          </a:prstGeom>
          <a:noFill/>
        </p:spPr>
        <p:txBody>
          <a:bodyPr wrap="square" lIns="36576" rIns="36576" tIns="18288" bIns="18288" anchor="t">
            <a:spAutoFit/>
          </a:bodyPr>
          <a:lstStyle/>
          <a:p>
            <a:pPr algn="l"/>
            <a:r>
              <a:rPr sz="1400" b="0" i="0">
                <a:solidFill>
                  <a:srgbClr val="FFFFFF"/>
                </a:solidFill>
                <a:latin typeface="Segoe UI"/>
              </a:rPr>
              <a:t>Jivesh Gawde  </a:t>
            </a:r>
            <a:r>
              <a:rPr sz="1400" b="1" i="0">
                <a:solidFill>
                  <a:srgbClr val="A78BFA"/>
                </a:solidFill>
                <a:latin typeface="Segoe UI"/>
              </a:rPr>
              <a:t>A057</a:t>
            </a:r>
          </a:p>
        </p:txBody>
      </p:sp>
      <p:sp>
        <p:nvSpPr>
          <p:cNvPr id="17" name="TextBox 16"/>
          <p:cNvSpPr txBox="1"/>
          <p:nvPr/>
        </p:nvSpPr>
        <p:spPr>
          <a:xfrm>
            <a:off x="4114800" y="5833872"/>
            <a:ext cx="3291840" cy="329184"/>
          </a:xfrm>
          <a:prstGeom prst="rect">
            <a:avLst/>
          </a:prstGeom>
          <a:noFill/>
        </p:spPr>
        <p:txBody>
          <a:bodyPr wrap="square" lIns="36576" rIns="36576" tIns="18288" bIns="18288" anchor="t">
            <a:spAutoFit/>
          </a:bodyPr>
          <a:lstStyle/>
          <a:p>
            <a:pPr algn="l"/>
            <a:r>
              <a:rPr sz="1400" b="0" i="0">
                <a:solidFill>
                  <a:srgbClr val="FFFFFF"/>
                </a:solidFill>
                <a:latin typeface="Segoe UI"/>
              </a:rPr>
              <a:t>Yashika Parmar  </a:t>
            </a:r>
            <a:r>
              <a:rPr sz="1400" b="1" i="0">
                <a:solidFill>
                  <a:srgbClr val="A78BFA"/>
                </a:solidFill>
                <a:latin typeface="Segoe UI"/>
              </a:rPr>
              <a:t>A061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