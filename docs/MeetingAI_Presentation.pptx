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2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2743200"/>
            <a:ext cx="7315200" cy="7315200"/>
          </a:xfrm>
          <a:prstGeom prst="ellipse">
            <a:avLst/>
          </a:prstGeom>
          <a:solidFill>
            <a:srgbClr val="1A1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8079" y="2926080"/>
            <a:ext cx="6858000" cy="6858000"/>
          </a:xfrm>
          <a:prstGeom prst="ellipse">
            <a:avLst/>
          </a:prstGeom>
          <a:solidFill>
            <a:srgbClr val="141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48640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48640"/>
            <a:ext cx="566928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|||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512064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MeetingAI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841248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5852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  <a:latin typeface="Segoe UI"/>
              </a:rPr>
              <a:t>HYBRID NLP + LLM  ·  PROJECT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852160" cy="1737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Segoe UI"/>
              </a:rPr>
              <a:t>Turn every meeting</a:t>
            </a:r>
          </a:p>
          <a:p>
            <a:pPr algn="l"/>
            <a:r>
              <a:rPr sz="3600" b="1" i="0">
                <a:solidFill>
                  <a:srgbClr val="FFFFFF"/>
                </a:solidFill>
                <a:latin typeface="Segoe UI"/>
              </a:rPr>
              <a:t>into decisions,</a:t>
            </a:r>
          </a:p>
          <a:p>
            <a:pPr algn="l"/>
            <a:r>
              <a:rPr sz="3600" b="1" i="0">
                <a:solidFill>
                  <a:srgbClr val="A78BFA"/>
                </a:solidFill>
                <a:latin typeface="Segoe UI"/>
              </a:rPr>
              <a:t>tasks and 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5394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C9D0FF"/>
                </a:solidFill>
                <a:latin typeface="Segoe UI"/>
              </a:rPr>
              <a:t>Upload a recording or transcript - get speaker names, summary, action items, calendar, chat and minutes.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83480"/>
            <a:ext cx="1280160" cy="45720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8E99E0"/>
                </a:solidFill>
                <a:latin typeface="Segoe UI"/>
              </a:rPr>
              <a:t>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76672"/>
            <a:ext cx="28346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Segoe UI"/>
              </a:rPr>
              <a:t>Nidhi Tiwari  </a:t>
            </a:r>
            <a:r>
              <a:rPr sz="1250" b="1" i="0">
                <a:solidFill>
                  <a:srgbClr val="A78BFA"/>
                </a:solidFill>
                <a:latin typeface="Segoe UI"/>
              </a:rPr>
              <a:t>A033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5376672"/>
            <a:ext cx="28346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Segoe UI"/>
              </a:rPr>
              <a:t>Dhruvi Devalia  </a:t>
            </a:r>
            <a:r>
              <a:rPr sz="1250" b="1" i="0">
                <a:solidFill>
                  <a:srgbClr val="A78BFA"/>
                </a:solidFill>
                <a:latin typeface="Segoe UI"/>
              </a:rPr>
              <a:t>A044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705856"/>
            <a:ext cx="28346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Segoe UI"/>
              </a:rPr>
              <a:t>Jivesh Gawde  </a:t>
            </a:r>
            <a:r>
              <a:rPr sz="1250" b="1" i="0">
                <a:solidFill>
                  <a:srgbClr val="A78BFA"/>
                </a:solidFill>
                <a:latin typeface="Segoe UI"/>
              </a:rPr>
              <a:t>A057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5705856"/>
            <a:ext cx="28346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Segoe UI"/>
              </a:rPr>
              <a:t>Yashika Parmar  </a:t>
            </a:r>
            <a:r>
              <a:rPr sz="1250" b="1" i="0">
                <a:solidFill>
                  <a:srgbClr val="A78BFA"/>
                </a:solidFill>
                <a:latin typeface="Segoe UI"/>
              </a:rPr>
              <a:t>A061</a:t>
            </a:r>
          </a:p>
        </p:txBody>
      </p:sp>
      <p:pic>
        <p:nvPicPr>
          <p:cNvPr id="19" name="Picture 18" descr="01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34465"/>
            <a:ext cx="5212080" cy="3257550"/>
          </a:xfrm>
          <a:prstGeom prst="rect">
            <a:avLst/>
          </a:prstGeom>
          <a:ln w="25400">
            <a:solidFill>
              <a:srgbClr val="6D4AFF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6583680" y="5989320"/>
            <a:ext cx="52120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8E99E0"/>
                </a:solidFill>
                <a:latin typeface="Segoe UI"/>
              </a:rPr>
              <a:t>Live app:  gd4n8x8sjkkxmdhfptkc9m.streamlit.app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What we will 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7160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371600"/>
            <a:ext cx="5111496" cy="45720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554480"/>
            <a:ext cx="384048" cy="384048"/>
          </a:xfrm>
          <a:prstGeom prst="ellipse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54480"/>
            <a:ext cx="38404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1030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1517904"/>
            <a:ext cx="4645152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The problem and our idea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029967"/>
            <a:ext cx="5074920" cy="36575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C9D0FF"/>
                </a:solidFill>
                <a:latin typeface="Segoe UI"/>
              </a:rPr>
              <a:t>Why meetings lose information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2512" y="1371600"/>
            <a:ext cx="5111496" cy="45720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0" y="1554480"/>
            <a:ext cx="384048" cy="384048"/>
          </a:xfrm>
          <a:prstGeom prst="ellipse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54480"/>
            <a:ext cx="38404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1030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6288" y="1517904"/>
            <a:ext cx="4645152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Why hybrid NLP +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029967"/>
            <a:ext cx="5074920" cy="36575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C9D0FF"/>
                </a:solidFill>
                <a:latin typeface="Segoe UI"/>
              </a:rPr>
              <a:t>Each part does what it is best 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60604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2606040"/>
            <a:ext cx="5111496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27889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788920"/>
            <a:ext cx="38404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1030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7007" y="2752344"/>
            <a:ext cx="4645152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Architecture and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264408"/>
            <a:ext cx="5074920" cy="36575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C9D0FF"/>
                </a:solidFill>
                <a:latin typeface="Segoe UI"/>
              </a:rPr>
              <a:t>From upload to saved results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60604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82512" y="2606040"/>
            <a:ext cx="5111496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0" y="27889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788920"/>
            <a:ext cx="38404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1030"/>
                </a:solidFill>
                <a:latin typeface="Segoe U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752344"/>
            <a:ext cx="4645152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The NLP core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264408"/>
            <a:ext cx="5074920" cy="36575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C9D0FF"/>
                </a:solidFill>
                <a:latin typeface="Segoe UI"/>
              </a:rPr>
              <a:t>Classifier, rules, confidence gateway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84048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3232" y="3840480"/>
            <a:ext cx="5111496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4023360"/>
            <a:ext cx="384048" cy="384048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23360"/>
            <a:ext cx="38404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1030"/>
                </a:solidFill>
                <a:latin typeface="Segoe U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07007" y="3986784"/>
            <a:ext cx="4645152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LLM layer and validation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498848"/>
            <a:ext cx="5074920" cy="36575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C9D0FF"/>
                </a:solidFill>
                <a:latin typeface="Segoe UI"/>
              </a:rPr>
              <a:t>Free models, checked by code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84048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82512" y="3840480"/>
            <a:ext cx="5111496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00800" y="4023360"/>
            <a:ext cx="384048" cy="384048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23360"/>
            <a:ext cx="38404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1030"/>
                </a:solidFill>
                <a:latin typeface="Segoe U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76288" y="3986784"/>
            <a:ext cx="4645152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Speakers, search and chat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4498848"/>
            <a:ext cx="5074920" cy="36575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C9D0FF"/>
                </a:solidFill>
                <a:latin typeface="Segoe UI"/>
              </a:rPr>
              <a:t>Names on voices, grounded answers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07492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3232" y="5074920"/>
            <a:ext cx="5111496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1520" y="525780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257800"/>
            <a:ext cx="38404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1030"/>
                </a:solidFill>
                <a:latin typeface="Segoe UI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07007" y="5221224"/>
            <a:ext cx="4645152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The product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733288"/>
            <a:ext cx="5074920" cy="36575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C9D0FF"/>
                </a:solidFill>
                <a:latin typeface="Segoe UI"/>
              </a:rPr>
              <a:t>Screens, minutes, e-mail, calendar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507492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82512" y="5074920"/>
            <a:ext cx="5111496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400800" y="525780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5257800"/>
            <a:ext cx="38404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1030"/>
                </a:solidFill>
                <a:latin typeface="Segoe UI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76288" y="5221224"/>
            <a:ext cx="4645152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Decisions and deployment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5733288"/>
            <a:ext cx="5074920" cy="36575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C9D0FF"/>
                </a:solidFill>
                <a:latin typeface="Segoe UI"/>
              </a:rPr>
              <a:t>Assumptions, security, hosting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Important things get lost in meetings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71600"/>
            <a:ext cx="5440680" cy="164592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371600"/>
            <a:ext cx="5111496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17904"/>
            <a:ext cx="5120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Who owns 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029967"/>
            <a:ext cx="507492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C9D0FF"/>
                </a:solidFill>
                <a:latin typeface="Segoe UI"/>
              </a:rPr>
              <a:t>"Who was going to send that report?" - nobody remembers.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40680" cy="164592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2512" y="1371600"/>
            <a:ext cx="5111496" cy="4572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517904"/>
            <a:ext cx="5120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By when?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29967"/>
            <a:ext cx="507492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C9D0FF"/>
                </a:solidFill>
                <a:latin typeface="Segoe UI"/>
              </a:rPr>
              <a:t>"What deadline did we agree on?" - three different answers.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00400"/>
            <a:ext cx="5440680" cy="164592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3200400"/>
            <a:ext cx="5111496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346704"/>
            <a:ext cx="5120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What was decided?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58768"/>
            <a:ext cx="507492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C9D0FF"/>
                </a:solidFill>
                <a:latin typeface="Segoe UI"/>
              </a:rPr>
              <a:t>"Did we decide to hire the agency?" - someone re-watches an hour of video.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200400"/>
            <a:ext cx="5440680" cy="164592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82512" y="3200400"/>
            <a:ext cx="5111496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346704"/>
            <a:ext cx="5120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Notes cost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858768"/>
            <a:ext cx="507492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C9D0FF"/>
                </a:solidFill>
                <a:latin typeface="Segoe UI"/>
              </a:rPr>
              <a:t>Writing minutes by hand is slow; plain transcription tools only give a wall of text.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20640"/>
            <a:ext cx="11109960" cy="1005840"/>
          </a:xfrm>
          <a:prstGeom prst="roundRect">
            <a:avLst>
              <a:gd name="adj" fmla="val 12000"/>
            </a:avLst>
          </a:prstGeom>
          <a:solidFill>
            <a:srgbClr val="2B2210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193792"/>
            <a:ext cx="64008" cy="8595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166359"/>
            <a:ext cx="1083564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OUR RULE  </a:t>
            </a:r>
            <a:r>
              <a:rPr sz="1150" b="0" i="0">
                <a:solidFill>
                  <a:srgbClr val="C9D0FF"/>
                </a:solidFill>
                <a:latin typeface="Segoe UI"/>
              </a:rPr>
              <a:t>When MeetingAI does not know something it says so: owner = Unassigned, deadline = Not specified, answer = not found. It never invents names or dates to look clever.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MeetingAI: an assistant that attended every meeting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716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371600"/>
            <a:ext cx="3282696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1790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Transcribe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029967"/>
            <a:ext cx="324612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C9D0FF"/>
                </a:solidFill>
                <a:latin typeface="Segoe UI"/>
              </a:rPr>
              <a:t>Audio / video to timestamped 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3716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62271" y="1371600"/>
            <a:ext cx="3282696" cy="45720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151790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Who said what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2029967"/>
            <a:ext cx="324612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C9D0FF"/>
                </a:solidFill>
                <a:latin typeface="Segoe UI"/>
              </a:rPr>
              <a:t>Real names via pyannote speaker recognition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3716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1" y="1371600"/>
            <a:ext cx="3282696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9" y="151790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Summarise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2029967"/>
            <a:ext cx="324612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C9D0FF"/>
                </a:solidFill>
                <a:latin typeface="Segoe UI"/>
              </a:rPr>
              <a:t>Overview, key points, decisions, conclusions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01752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3017520"/>
            <a:ext cx="3282696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16382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Action items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675887"/>
            <a:ext cx="324612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C9D0FF"/>
                </a:solidFill>
                <a:latin typeface="Segoe UI"/>
              </a:rPr>
              <a:t>Owner, deadline, priority, evidence quote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79" y="301752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62271" y="3017520"/>
            <a:ext cx="3282696" cy="4572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59" y="316382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Decisions &amp; events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59" y="3675887"/>
            <a:ext cx="324612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C9D0FF"/>
                </a:solidFill>
                <a:latin typeface="Segoe UI"/>
              </a:rPr>
              <a:t>Detected, dated and put on a calendar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301752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11311" y="3017520"/>
            <a:ext cx="3282696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9" y="316382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Ask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3675887"/>
            <a:ext cx="324612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C9D0FF"/>
                </a:solidFill>
                <a:latin typeface="Segoe UI"/>
              </a:rPr>
              <a:t>Chat over every meeting, with sources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66344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3232" y="4663440"/>
            <a:ext cx="3282696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80974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Search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321807"/>
            <a:ext cx="324612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C9D0FF"/>
                </a:solidFill>
                <a:latin typeface="Segoe UI"/>
              </a:rPr>
              <a:t>Keyword + meaning across all meetings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79" y="466344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62271" y="4663440"/>
            <a:ext cx="3282696" cy="45720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59" y="480974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Minutes (MoM)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59" y="5321807"/>
            <a:ext cx="324612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C9D0FF"/>
                </a:solidFill>
                <a:latin typeface="Segoe UI"/>
              </a:rPr>
              <a:t>Edit, download Word / PDF, e-mail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19" y="466344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211311" y="4663440"/>
            <a:ext cx="3282696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599" y="480974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Follow-ups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599" y="5321807"/>
            <a:ext cx="324612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C9D0FF"/>
                </a:solidFill>
                <a:latin typeface="Segoe UI"/>
              </a:rPr>
              <a:t>Reminders drafted - sent only after approval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DESIGN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Why hybrid: classical NLP + free LLMs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71600"/>
            <a:ext cx="3566160" cy="338328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371600"/>
            <a:ext cx="3236976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17904"/>
            <a:ext cx="32461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Classical NLP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029967"/>
            <a:ext cx="3200400" cy="2651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C9D0FF"/>
                </a:solidFill>
                <a:latin typeface="Segoe UI"/>
              </a:rPr>
              <a:t>Fast, free, explainable</a:t>
            </a:r>
          </a:p>
          <a:p>
            <a:pPr algn="l"/>
            <a:r>
              <a:rPr sz="1600" b="0" i="0">
                <a:solidFill>
                  <a:srgbClr val="C9D0FF"/>
                </a:solidFill>
                <a:latin typeface="Segoe UI"/>
              </a:rPr>
              <a:t>Runs offline, no API</a:t>
            </a:r>
          </a:p>
          <a:p>
            <a:pPr algn="l"/>
            <a:r>
              <a:rPr sz="1600" b="0" i="0">
                <a:solidFill>
                  <a:srgbClr val="C9D0FF"/>
                </a:solidFill>
                <a:latin typeface="Segoe UI"/>
              </a:rPr>
              <a:t>Scores every sentence</a:t>
            </a:r>
          </a:p>
          <a:p>
            <a:pPr algn="l"/>
            <a:r>
              <a:rPr sz="1600" b="0" i="0">
                <a:solidFill>
                  <a:srgbClr val="C9D0FF"/>
                </a:solidFill>
                <a:latin typeface="Segoe UI"/>
              </a:rPr>
              <a:t>Cheap first filter</a:t>
            </a:r>
          </a:p>
          <a:p>
            <a:pPr algn="l"/>
            <a:r>
              <a:rPr sz="1600" b="0" i="0">
                <a:solidFill>
                  <a:srgbClr val="C9D0FF"/>
                </a:solidFill>
                <a:latin typeface="Segoe UI"/>
              </a:rPr>
              <a:t>Weak on nuance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71600"/>
            <a:ext cx="3566160" cy="338328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62272" y="1371600"/>
            <a:ext cx="3236976" cy="4572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517904"/>
            <a:ext cx="32461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Free LLMs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029967"/>
            <a:ext cx="3200400" cy="2651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C9D0FF"/>
                </a:solidFill>
                <a:latin typeface="Segoe UI"/>
              </a:rPr>
              <a:t>Understand context and wording</a:t>
            </a:r>
          </a:p>
          <a:p>
            <a:pPr algn="l"/>
            <a:r>
              <a:rPr sz="1600" b="0" i="0">
                <a:solidFill>
                  <a:srgbClr val="C9D0FF"/>
                </a:solidFill>
                <a:latin typeface="Segoe UI"/>
              </a:rPr>
              <a:t>Write summaries and answers</a:t>
            </a:r>
          </a:p>
          <a:p>
            <a:pPr algn="l"/>
            <a:r>
              <a:rPr sz="1600" b="0" i="0">
                <a:solidFill>
                  <a:srgbClr val="C9D0FF"/>
                </a:solidFill>
                <a:latin typeface="Segoe UI"/>
              </a:rPr>
              <a:t>Judge only the uncertain cases</a:t>
            </a:r>
          </a:p>
          <a:p>
            <a:pPr algn="l"/>
            <a:r>
              <a:rPr sz="1600" b="0" i="0">
                <a:solidFill>
                  <a:srgbClr val="C9D0FF"/>
                </a:solidFill>
                <a:latin typeface="Segoe UI"/>
              </a:rPr>
              <a:t>Can invent facts if unchecked</a:t>
            </a:r>
          </a:p>
          <a:p>
            <a:pPr algn="l"/>
            <a:r>
              <a:rPr sz="1600" b="0" i="0">
                <a:solidFill>
                  <a:srgbClr val="C9D0FF"/>
                </a:solidFill>
                <a:latin typeface="Segoe UI"/>
              </a:rPr>
              <a:t>Rate-limited, can fail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371600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2" y="1371600"/>
            <a:ext cx="3282696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51790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Code 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029967"/>
            <a:ext cx="3246120" cy="2651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C9D0FF"/>
                </a:solidFill>
                <a:latin typeface="Segoe UI"/>
              </a:rPr>
              <a:t>Quote must exist in transcript</a:t>
            </a:r>
          </a:p>
          <a:p>
            <a:pPr algn="l"/>
            <a:r>
              <a:rPr sz="1600" b="0" i="0">
                <a:solidFill>
                  <a:srgbClr val="C9D0FF"/>
                </a:solidFill>
                <a:latin typeface="Segoe UI"/>
              </a:rPr>
              <a:t>Owner must be a real person</a:t>
            </a:r>
          </a:p>
          <a:p>
            <a:pPr algn="l"/>
            <a:r>
              <a:rPr sz="1600" b="0" i="0">
                <a:solidFill>
                  <a:srgbClr val="C9D0FF"/>
                </a:solidFill>
                <a:latin typeface="Segoe UI"/>
              </a:rPr>
              <a:t>Dates computed by our code</a:t>
            </a:r>
          </a:p>
          <a:p>
            <a:pPr algn="l"/>
            <a:r>
              <a:rPr sz="1600" b="0" i="0">
                <a:solidFill>
                  <a:srgbClr val="C9D0FF"/>
                </a:solidFill>
                <a:latin typeface="Segoe UI"/>
              </a:rPr>
              <a:t>Agreement raises confidence</a:t>
            </a:r>
          </a:p>
          <a:p>
            <a:pPr algn="l"/>
            <a:r>
              <a:rPr sz="1600" b="0" i="0">
                <a:solidFill>
                  <a:srgbClr val="C9D0FF"/>
                </a:solidFill>
                <a:latin typeface="Segoe UI"/>
              </a:rPr>
              <a:t>Failures become 'Needs review'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74920"/>
            <a:ext cx="11109960" cy="1005840"/>
          </a:xfrm>
          <a:prstGeom prst="roundRect">
            <a:avLst>
              <a:gd name="adj" fmla="val 12000"/>
            </a:avLst>
          </a:prstGeom>
          <a:solidFill>
            <a:srgbClr val="2B2210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148072"/>
            <a:ext cx="64008" cy="8595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120640"/>
            <a:ext cx="1083564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RESULT  </a:t>
            </a:r>
            <a:r>
              <a:rPr sz="1150" b="0" i="0">
                <a:solidFill>
                  <a:srgbClr val="C9D0FF"/>
                </a:solidFill>
                <a:latin typeface="Segoe UI"/>
              </a:rPr>
              <a:t>NLP handles the clear-cut cases at no cost; the LLM is called once, in a batch, only for uncertain sentences; code verifies everything. The app still works - with fewer features - when no LLM key is set.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SYSTEM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Architecture: four simple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394960" cy="4937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Presentation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Streamlit pages (12 views) with a custom dark theme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Application logic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pure-Python modules: parsing, speech, NLP, gateway, LLM, RAG, minutes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Storage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SQLite (source of truth + FTS5) and ChromaDB (semantic vectors)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External (optional)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Groq, Gemini, OpenRouter, pyannoteAI, AssemblyAI, SMTP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Rule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pages draw, core thinks; every external service is optional with a fallback</a:t>
            </a:r>
          </a:p>
        </p:txBody>
      </p:sp>
      <p:pic>
        <p:nvPicPr>
          <p:cNvPr id="11" name="Picture 10" descr="0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34464"/>
            <a:ext cx="5760720" cy="47205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END-TO-END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What happens to one meeting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394960" cy="4937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1-5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read the file, convert audio, transcribe, label speakers, build segments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6-10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split into sentences, classify, run rules + dates, pass the gateway, call the LLM only if unsure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11-12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validate, merge NLP + LLM results, save to SQLite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13-14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index into ChromaDB; meeting is READY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Fully automatic after one click; progress is shown live</a:t>
            </a:r>
          </a:p>
        </p:txBody>
      </p:sp>
      <p:pic>
        <p:nvPicPr>
          <p:cNvPr id="11" name="Picture 10" descr="02_end_to_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97838"/>
            <a:ext cx="5577840" cy="47938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STEP 1 - UPLOAD &amp; TRANSCRIBE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Input: any recording or transcript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5120640" cy="4937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450" b="1" i="0">
                <a:solidFill>
                  <a:srgbClr val="FFFFFF"/>
                </a:solidFill>
                <a:latin typeface="Segoe UI"/>
              </a:rPr>
              <a:t>Formats</a:t>
            </a:r>
            <a:r>
              <a:rPr sz="1450" b="0" i="0">
                <a:solidFill>
                  <a:srgbClr val="C9D0FF"/>
                </a:solidFill>
                <a:latin typeface="Segoe UI"/>
              </a:rPr>
              <a:t> mp3 / wav / m4a / mp4 and txt / vtt / srt / docx / pdf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450" b="1" i="0">
                <a:solidFill>
                  <a:srgbClr val="FFFFFF"/>
                </a:solidFill>
                <a:latin typeface="Segoe UI"/>
              </a:rPr>
              <a:t>Audio</a:t>
            </a:r>
            <a:r>
              <a:rPr sz="1450" b="0" i="0">
                <a:solidFill>
                  <a:srgbClr val="C9D0FF"/>
                </a:solidFill>
                <a:latin typeface="Segoe UI"/>
              </a:rPr>
              <a:t> FFmpeg converts to 32 kbps mono and cuts 10-minute chunks - fits free API limits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450" b="1" i="0">
                <a:solidFill>
                  <a:srgbClr val="FFFFFF"/>
                </a:solidFill>
                <a:latin typeface="Segoe UI"/>
              </a:rPr>
              <a:t>Speech-to-text</a:t>
            </a:r>
            <a:r>
              <a:rPr sz="1450" b="0" i="0">
                <a:solidFill>
                  <a:srgbClr val="C9D0FF"/>
                </a:solidFill>
                <a:latin typeface="Segoe UI"/>
              </a:rPr>
              <a:t> Groq Whisper (whisper-large-v3-turbo) with word timestamps; AssemblyAI as alternative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450" b="1" i="0">
                <a:solidFill>
                  <a:srgbClr val="FFFFFF"/>
                </a:solidFill>
                <a:latin typeface="Segoe UI"/>
              </a:rPr>
              <a:t>Transcripts</a:t>
            </a:r>
            <a:r>
              <a:rPr sz="1450" b="0" i="0">
                <a:solidFill>
                  <a:srgbClr val="C9D0FF"/>
                </a:solidFill>
                <a:latin typeface="Segoe UI"/>
              </a:rPr>
              <a:t> parsed into speaker segments (names kept when the file has them)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450" b="1" i="0">
                <a:solidFill>
                  <a:srgbClr val="FFFFFF"/>
                </a:solidFill>
                <a:latin typeface="Segoe UI"/>
              </a:rPr>
              <a:t>Dedup</a:t>
            </a:r>
            <a:r>
              <a:rPr sz="1450" b="0" i="0">
                <a:solidFill>
                  <a:srgbClr val="C9D0FF"/>
                </a:solidFill>
                <a:latin typeface="Segoe UI"/>
              </a:rPr>
              <a:t> same file is never processed twice</a:t>
            </a:r>
          </a:p>
        </p:txBody>
      </p:sp>
      <p:pic>
        <p:nvPicPr>
          <p:cNvPr id="11" name="Picture 10" descr="03_up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760720" cy="360045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SPEAKER IDENTIFICATION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Names on every voice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394960" cy="4937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Diarization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pyannoteAI (hosted) or pyannote.audio (local) finds who spoke when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Alignment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each Whisper word is matched to a speaker turn by its midpoint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Voiceprints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opt-in: store a voice for a person; recognised in later meetings (match threshold 60)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Name hints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self-intro ("I'm Priya"), being addressed, being thanked, elimination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You confirm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suggested names are applied only after you approve</a:t>
            </a:r>
          </a:p>
        </p:txBody>
      </p:sp>
      <p:pic>
        <p:nvPicPr>
          <p:cNvPr id="11" name="Picture 10" descr="05_spea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34464"/>
            <a:ext cx="5760720" cy="472059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The classical NLP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394960" cy="4937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300"/>
              </a:spcAft>
            </a:pPr>
            <a:r>
              <a:rPr sz="15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50" b="1" i="0">
                <a:solidFill>
                  <a:srgbClr val="FFFFFF"/>
                </a:solidFill>
                <a:latin typeface="Segoe UI"/>
              </a:rPr>
              <a:t>Trained at start-up</a:t>
            </a:r>
            <a:r>
              <a:rPr sz="1550" b="0" i="0">
                <a:solidFill>
                  <a:srgbClr val="C9D0FF"/>
                </a:solidFill>
                <a:latin typeface="Segoe UI"/>
              </a:rPr>
              <a:t> 610 template sentences: action 190, decision 110, question 100, discussion 210</a:t>
            </a:r>
          </a:p>
          <a:p>
            <a:pPr algn="l">
              <a:spcAft>
                <a:spcPts val="1300"/>
              </a:spcAft>
            </a:pPr>
            <a:r>
              <a:rPr sz="15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50" b="1" i="0">
                <a:solidFill>
                  <a:srgbClr val="FFFFFF"/>
                </a:solidFill>
                <a:latin typeface="Segoe UI"/>
              </a:rPr>
              <a:t>Classifier</a:t>
            </a:r>
            <a:r>
              <a:rPr sz="1550" b="0" i="0">
                <a:solidFill>
                  <a:srgbClr val="C9D0FF"/>
                </a:solidFill>
                <a:latin typeface="Segoe UI"/>
              </a:rPr>
              <a:t> TF-IDF (1-2 grams) + Multinomial Naive Bayes, alpha 0.3</a:t>
            </a:r>
          </a:p>
          <a:p>
            <a:pPr algn="l">
              <a:spcAft>
                <a:spcPts val="1300"/>
              </a:spcAft>
            </a:pPr>
            <a:r>
              <a:rPr sz="15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50" b="1" i="0">
                <a:solidFill>
                  <a:srgbClr val="FFFFFF"/>
                </a:solidFill>
                <a:latin typeface="Segoe UI"/>
              </a:rPr>
              <a:t>Rule cues</a:t>
            </a:r>
            <a:r>
              <a:rPr sz="1550" b="0" i="0">
                <a:solidFill>
                  <a:srgbClr val="C9D0FF"/>
                </a:solidFill>
                <a:latin typeface="Segoe UI"/>
              </a:rPr>
              <a:t> weighted regex for "will", "by Friday", "we decided"...</a:t>
            </a:r>
          </a:p>
          <a:p>
            <a:pPr algn="l">
              <a:spcAft>
                <a:spcPts val="1300"/>
              </a:spcAft>
            </a:pPr>
            <a:r>
              <a:rPr sz="15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50" b="1" i="0">
                <a:solidFill>
                  <a:srgbClr val="FFFFFF"/>
                </a:solidFill>
                <a:latin typeface="Segoe UI"/>
              </a:rPr>
              <a:t>Fusion</a:t>
            </a:r>
            <a:r>
              <a:rPr sz="1550" b="0" i="0">
                <a:solidFill>
                  <a:srgbClr val="C9D0FF"/>
                </a:solidFill>
                <a:latin typeface="Segoe UI"/>
              </a:rPr>
              <a:t> score = 0.5 x Naive Bayes + 0.5 x rules; x0.8 if hedged ("maybe")</a:t>
            </a:r>
          </a:p>
          <a:p>
            <a:pPr algn="l">
              <a:spcAft>
                <a:spcPts val="1300"/>
              </a:spcAft>
            </a:pPr>
            <a:r>
              <a:rPr sz="15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50" b="1" i="0">
                <a:solidFill>
                  <a:srgbClr val="FFFFFF"/>
                </a:solidFill>
                <a:latin typeface="Segoe UI"/>
              </a:rPr>
              <a:t>Extractors</a:t>
            </a:r>
            <a:r>
              <a:rPr sz="1550" b="0" i="0">
                <a:solidFill>
                  <a:srgbClr val="C9D0FF"/>
                </a:solidFill>
                <a:latin typeface="Segoe UI"/>
              </a:rPr>
              <a:t> owner with confidence, deterministic date resolver (vague = no date)</a:t>
            </a:r>
          </a:p>
        </p:txBody>
      </p:sp>
      <p:pic>
        <p:nvPicPr>
          <p:cNvPr id="11" name="Picture 10" descr="04_nlp_sc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25472"/>
            <a:ext cx="5669280" cy="37385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NLP  -&gt;  LLM HANDOVER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The confidence gateway: trust, or ask for 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71600"/>
            <a:ext cx="5394960" cy="777240"/>
          </a:xfrm>
          <a:prstGeom prst="roundRect">
            <a:avLst>
              <a:gd name="adj" fmla="val 14000"/>
            </a:avLst>
          </a:prstGeom>
          <a:solidFill>
            <a:srgbClr val="151B4D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71600"/>
            <a:ext cx="7315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2563EB"/>
                </a:solidFill>
                <a:latin typeface="Segoe UI"/>
              </a:rPr>
              <a:t>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26464"/>
            <a:ext cx="4480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Is the score high enough?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773936"/>
            <a:ext cx="44805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C9D0FF"/>
                </a:solidFill>
                <a:latin typeface="Segoe UI"/>
              </a:rPr>
              <a:t>score &gt;= 0.80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267712"/>
            <a:ext cx="5394960" cy="777240"/>
          </a:xfrm>
          <a:prstGeom prst="roundRect">
            <a:avLst>
              <a:gd name="adj" fmla="val 14000"/>
            </a:avLst>
          </a:prstGeom>
          <a:solidFill>
            <a:srgbClr val="151B4D"/>
          </a:solidFill>
          <a:ln w="15240">
            <a:solidFill>
              <a:srgbClr val="6D4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267712"/>
            <a:ext cx="7315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6D4AFF"/>
                </a:solidFill>
                <a:latin typeface="Segoe UI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322576"/>
            <a:ext cx="4480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Clear winner among classes?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670048"/>
            <a:ext cx="44805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C9D0FF"/>
                </a:solidFill>
                <a:latin typeface="Segoe UI"/>
              </a:rPr>
              <a:t>margin &gt;= 0.15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5394960" cy="777240"/>
          </a:xfrm>
          <a:prstGeom prst="roundRect">
            <a:avLst>
              <a:gd name="adj" fmla="val 14000"/>
            </a:avLst>
          </a:prstGeom>
          <a:solidFill>
            <a:srgbClr val="151B4D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63824"/>
            <a:ext cx="7315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F59E0B"/>
                </a:solidFill>
                <a:latin typeface="Segoe UI"/>
              </a:rPr>
              <a:t>Q3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218688"/>
            <a:ext cx="4480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Is the owner trustworthy?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566160"/>
            <a:ext cx="44805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C9D0FF"/>
                </a:solidFill>
                <a:latin typeface="Segoe UI"/>
              </a:rPr>
              <a:t>owner conf &gt;= 0.85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059935"/>
            <a:ext cx="5394960" cy="777240"/>
          </a:xfrm>
          <a:prstGeom prst="roundRect">
            <a:avLst>
              <a:gd name="adj" fmla="val 14000"/>
            </a:avLst>
          </a:prstGeom>
          <a:solidFill>
            <a:srgbClr val="151B4D"/>
          </a:solidFill>
          <a:ln w="15240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059935"/>
            <a:ext cx="7315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F472B6"/>
                </a:solidFill>
                <a:latin typeface="Segoe UI"/>
              </a:rPr>
              <a:t>Q4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114799"/>
            <a:ext cx="4480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Is the deadline trustworthy?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462272"/>
            <a:ext cx="44805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C9D0FF"/>
                </a:solidFill>
                <a:latin typeface="Segoe UI"/>
              </a:rPr>
              <a:t>not from neighbour, exact &gt;= 0.85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29200"/>
            <a:ext cx="539496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250" b="1" i="0">
                <a:solidFill>
                  <a:srgbClr val="FFFFFF"/>
                </a:solidFill>
                <a:latin typeface="Segoe UI"/>
              </a:rPr>
              <a:t>All pass</a:t>
            </a:r>
            <a:r>
              <a:rPr sz="1250" b="0" i="0">
                <a:solidFill>
                  <a:srgbClr val="C9D0FF"/>
                </a:solidFill>
                <a:latin typeface="Segoe UI"/>
              </a:rPr>
              <a:t> accepted straight from classical NLP - no LLM cost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250" b="1" i="0">
                <a:solidFill>
                  <a:srgbClr val="FFFFFF"/>
                </a:solidFill>
                <a:latin typeface="Segoe UI"/>
              </a:rPr>
              <a:t>Any fail</a:t>
            </a:r>
            <a:r>
              <a:rPr sz="1250" b="0" i="0">
                <a:solidFill>
                  <a:srgbClr val="C9D0FF"/>
                </a:solidFill>
                <a:latin typeface="Segoe UI"/>
              </a:rPr>
              <a:t> means "not sure" (not "wrong"): ONE batched LLM call; no LLM = kept as Needs review (score &gt;= 0.55)</a:t>
            </a:r>
          </a:p>
        </p:txBody>
      </p:sp>
      <p:pic>
        <p:nvPicPr>
          <p:cNvPr id="27" name="Picture 26" descr="03_gate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34440"/>
            <a:ext cx="512064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LLM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A router over free LLMs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394960" cy="4937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2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20" b="1" i="0">
                <a:solidFill>
                  <a:srgbClr val="FFFFFF"/>
                </a:solidFill>
                <a:latin typeface="Segoe UI"/>
              </a:rPr>
              <a:t>Providers</a:t>
            </a:r>
            <a:r>
              <a:rPr sz="1520" b="0" i="0">
                <a:solidFill>
                  <a:srgbClr val="C9D0FF"/>
                </a:solidFill>
                <a:latin typeface="Segoe UI"/>
              </a:rPr>
              <a:t> Groq, Gemini, OpenRouter through plain HTTPS (OpenAI-compatible)</a:t>
            </a:r>
          </a:p>
          <a:p>
            <a:pPr algn="l">
              <a:spcAft>
                <a:spcPts val="1400"/>
              </a:spcAft>
            </a:pPr>
            <a:r>
              <a:rPr sz="152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20" b="1" i="0">
                <a:solidFill>
                  <a:srgbClr val="FFFFFF"/>
                </a:solidFill>
                <a:latin typeface="Segoe UI"/>
              </a:rPr>
              <a:t>Fallback</a:t>
            </a:r>
            <a:r>
              <a:rPr sz="1520" b="0" i="0">
                <a:solidFill>
                  <a:srgbClr val="C9D0FF"/>
                </a:solidFill>
                <a:latin typeface="Segoe UI"/>
              </a:rPr>
              <a:t> rate limit (429) = 45 s cool-down, then the next provider</a:t>
            </a:r>
          </a:p>
          <a:p>
            <a:pPr algn="l">
              <a:spcAft>
                <a:spcPts val="1400"/>
              </a:spcAft>
            </a:pPr>
            <a:r>
              <a:rPr sz="152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20" b="1" i="0">
                <a:solidFill>
                  <a:srgbClr val="FFFFFF"/>
                </a:solidFill>
                <a:latin typeface="Segoe UI"/>
              </a:rPr>
              <a:t>Long transcripts</a:t>
            </a:r>
            <a:r>
              <a:rPr sz="1520" b="0" i="0">
                <a:solidFill>
                  <a:srgbClr val="C9D0FF"/>
                </a:solidFill>
                <a:latin typeface="Segoe UI"/>
              </a:rPr>
              <a:t> Gemini first (large context window)</a:t>
            </a:r>
          </a:p>
          <a:p>
            <a:pPr algn="l">
              <a:spcAft>
                <a:spcPts val="1400"/>
              </a:spcAft>
            </a:pPr>
            <a:r>
              <a:rPr sz="152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20" b="1" i="0">
                <a:solidFill>
                  <a:srgbClr val="FFFFFF"/>
                </a:solidFill>
                <a:latin typeface="Segoe UI"/>
              </a:rPr>
              <a:t>Retired model?</a:t>
            </a:r>
            <a:r>
              <a:rPr sz="1520" b="0" i="0">
                <a:solidFill>
                  <a:srgbClr val="C9D0FF"/>
                </a:solidFill>
                <a:latin typeface="Segoe UI"/>
              </a:rPr>
              <a:t> asks the provider for a current free model</a:t>
            </a:r>
          </a:p>
          <a:p>
            <a:pPr algn="l">
              <a:spcAft>
                <a:spcPts val="1400"/>
              </a:spcAft>
            </a:pPr>
            <a:r>
              <a:rPr sz="152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20" b="1" i="0">
                <a:solidFill>
                  <a:srgbClr val="FFFFFF"/>
                </a:solidFill>
                <a:latin typeface="Segoe UI"/>
              </a:rPr>
              <a:t>Bad JSON</a:t>
            </a:r>
            <a:r>
              <a:rPr sz="1520" b="0" i="0">
                <a:solidFill>
                  <a:srgbClr val="C9D0FF"/>
                </a:solidFill>
                <a:latin typeface="Segoe UI"/>
              </a:rPr>
              <a:t> one automatic repair attempt</a:t>
            </a:r>
          </a:p>
          <a:p>
            <a:pPr algn="l">
              <a:spcAft>
                <a:spcPts val="1400"/>
              </a:spcAft>
            </a:pPr>
            <a:r>
              <a:rPr sz="152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20" b="1" i="0">
                <a:solidFill>
                  <a:srgbClr val="FFFFFF"/>
                </a:solidFill>
                <a:latin typeface="Segoe UI"/>
              </a:rPr>
              <a:t>All failed</a:t>
            </a:r>
            <a:r>
              <a:rPr sz="1520" b="0" i="0">
                <a:solidFill>
                  <a:srgbClr val="C9D0FF"/>
                </a:solidFill>
                <a:latin typeface="Segoe UI"/>
              </a:rPr>
              <a:t> classical NLP result is shown, marked Needs review</a:t>
            </a:r>
          </a:p>
        </p:txBody>
      </p:sp>
      <p:pic>
        <p:nvPicPr>
          <p:cNvPr id="11" name="Picture 10" descr="13_llm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52929"/>
            <a:ext cx="5760720" cy="36836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VALIDATION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Never trust an LLM blindly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pic>
        <p:nvPicPr>
          <p:cNvPr id="10" name="Picture 9" descr="08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321"/>
            <a:ext cx="6583680" cy="38148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1463040"/>
            <a:ext cx="4389120" cy="4937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450" b="1" i="0">
                <a:solidFill>
                  <a:srgbClr val="FFFFFF"/>
                </a:solidFill>
                <a:latin typeface="Segoe UI"/>
              </a:rPr>
              <a:t>Quote check</a:t>
            </a:r>
            <a:r>
              <a:rPr sz="1450" b="0" i="0">
                <a:solidFill>
                  <a:srgbClr val="C9D0FF"/>
                </a:solidFill>
                <a:latin typeface="Segoe UI"/>
              </a:rPr>
              <a:t> exact quote must be found in the transcript (fuzzy 82/92) or the item is dropped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450" b="1" i="0">
                <a:solidFill>
                  <a:srgbClr val="FFFFFF"/>
                </a:solidFill>
                <a:latin typeface="Segoe UI"/>
              </a:rPr>
              <a:t>Owner check</a:t>
            </a:r>
            <a:r>
              <a:rPr sz="1450" b="0" i="0">
                <a:solidFill>
                  <a:srgbClr val="C9D0FF"/>
                </a:solidFill>
                <a:latin typeface="Segoe UI"/>
              </a:rPr>
              <a:t> must be a participant or named in the transcript; else Unassigned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450" b="1" i="0">
                <a:solidFill>
                  <a:srgbClr val="FFFFFF"/>
                </a:solidFill>
                <a:latin typeface="Segoe UI"/>
              </a:rPr>
              <a:t>Date check</a:t>
            </a:r>
            <a:r>
              <a:rPr sz="1450" b="0" i="0">
                <a:solidFill>
                  <a:srgbClr val="C9D0FF"/>
                </a:solidFill>
                <a:latin typeface="Segoe UI"/>
              </a:rPr>
              <a:t> LLM copies the phrase, our code converts it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450" b="1" i="0">
                <a:solidFill>
                  <a:srgbClr val="FFFFFF"/>
                </a:solidFill>
                <a:latin typeface="Segoe UI"/>
              </a:rPr>
              <a:t>Agreement</a:t>
            </a:r>
            <a:r>
              <a:rPr sz="1450" b="0" i="0">
                <a:solidFill>
                  <a:srgbClr val="C9D0FF"/>
                </a:solidFill>
                <a:latin typeface="Segoe UI"/>
              </a:rPr>
              <a:t> NLP + LLM agree = confidence 0.95; conflicts are flagged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Where the data lives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394960" cy="4937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SQLite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14 tables: meetings, segments, tasks, decisions, events, chats, voiceprints, logs...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FTS5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full-text search with stemming ("deploying" finds "deployed")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ChromaDB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cosine vectors from ONNX MiniLM-L6-v2 (384-dim) - no PyTorch, light on memory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No Postgres / Supabase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a deliberate choice for a free, self-contained app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Backup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zip download / restore in Settings (free hosting disk is temporary)</a:t>
            </a:r>
          </a:p>
        </p:txBody>
      </p:sp>
      <p:pic>
        <p:nvPicPr>
          <p:cNvPr id="11" name="Picture 10" descr="06_data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927" y="1280160"/>
            <a:ext cx="5469824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Chat and search that cannot make things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394960" cy="4937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Chunks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~110-word pieces of the transcript, indexed twice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Hybrid search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semantic (ChromaDB) + keyword (FTS5), merged with RRF (k = 60)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Relevance gate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similarity &gt;= 0.28 or &gt;= 50% word overlap - else "not found", no LLM call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Grounded answer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LLM sees only the retrieved chunks and cites its sources</a:t>
            </a:r>
          </a:p>
        </p:txBody>
      </p:sp>
      <p:pic>
        <p:nvPicPr>
          <p:cNvPr id="11" name="Picture 10" descr="07_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85315"/>
            <a:ext cx="5669280" cy="44188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CHAT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The query router: the right tool for each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16</a:t>
            </a:r>
          </a:p>
        </p:txBody>
      </p:sp>
      <p:pic>
        <p:nvPicPr>
          <p:cNvPr id="10" name="Picture 9" descr="14_query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37131"/>
            <a:ext cx="5486400" cy="47152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A78BFA"/>
                </a:solidFill>
                <a:latin typeface="Segoe UI"/>
              </a:rPr>
              <a:t>Five intents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28800"/>
            <a:ext cx="5394960" cy="804672"/>
          </a:xfrm>
          <a:prstGeom prst="roundRect">
            <a:avLst>
              <a:gd name="adj" fmla="val 12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920240"/>
            <a:ext cx="64008" cy="6217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883664"/>
            <a:ext cx="512064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Tasks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40280"/>
            <a:ext cx="512064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C9D0FF"/>
                </a:solidFill>
                <a:latin typeface="Segoe UI"/>
              </a:rPr>
              <a:t>"Who is responsible for the report?" - tracker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724912"/>
            <a:ext cx="5394960" cy="804672"/>
          </a:xfrm>
          <a:prstGeom prst="roundRect">
            <a:avLst>
              <a:gd name="adj" fmla="val 12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2816352"/>
            <a:ext cx="64008" cy="621792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779776"/>
            <a:ext cx="512064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36392"/>
            <a:ext cx="512064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C9D0FF"/>
                </a:solidFill>
                <a:latin typeface="Segoe UI"/>
              </a:rPr>
              <a:t>"What did we decide?" - decisions 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621024"/>
            <a:ext cx="5394960" cy="804672"/>
          </a:xfrm>
          <a:prstGeom prst="roundRect">
            <a:avLst>
              <a:gd name="adj" fmla="val 12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712463"/>
            <a:ext cx="64008" cy="6217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675887"/>
            <a:ext cx="512064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Events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032504"/>
            <a:ext cx="512064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C9D0FF"/>
                </a:solidFill>
                <a:latin typeface="Segoe UI"/>
              </a:rPr>
              <a:t>"When is the next review?" - calendar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517136"/>
            <a:ext cx="5394960" cy="804672"/>
          </a:xfrm>
          <a:prstGeom prst="roundRect">
            <a:avLst>
              <a:gd name="adj" fmla="val 12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4608575"/>
            <a:ext cx="64008" cy="6217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4571999"/>
            <a:ext cx="512064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928616"/>
            <a:ext cx="512064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C9D0FF"/>
                </a:solidFill>
                <a:latin typeface="Segoe UI"/>
              </a:rPr>
              <a:t>"Summarise the kickoff" - stored summary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5413248"/>
            <a:ext cx="5394960" cy="804672"/>
          </a:xfrm>
          <a:prstGeom prst="roundRect">
            <a:avLst>
              <a:gd name="adj" fmla="val 12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5504688"/>
            <a:ext cx="64008" cy="621792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5468112"/>
            <a:ext cx="512064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Phrase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824728"/>
            <a:ext cx="512064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C9D0FF"/>
                </a:solidFill>
                <a:latin typeface="Segoe UI"/>
              </a:rPr>
              <a:t>"Who said budget?" - hybrid search + LLM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The product: a tour of the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pic>
        <p:nvPicPr>
          <p:cNvPr id="10" name="Picture 9" descr="01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280160"/>
            <a:ext cx="3657600" cy="228600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48640" y="3584448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50" b="1" i="0">
                <a:solidFill>
                  <a:srgbClr val="A78BFA"/>
                </a:solidFill>
                <a:latin typeface="Segoe UI"/>
              </a:rPr>
              <a:t>Dashboard</a:t>
            </a:r>
          </a:p>
        </p:txBody>
      </p:sp>
      <p:pic>
        <p:nvPicPr>
          <p:cNvPr id="12" name="Picture 11" descr="05_meeting_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280160"/>
            <a:ext cx="3657600" cy="228600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172200" y="3584448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50" b="1" i="0">
                <a:solidFill>
                  <a:srgbClr val="A78BFA"/>
                </a:solidFill>
                <a:latin typeface="Segoe UI"/>
              </a:rPr>
              <a:t>Meeting overview</a:t>
            </a:r>
          </a:p>
        </p:txBody>
      </p:sp>
      <p:pic>
        <p:nvPicPr>
          <p:cNvPr id="14" name="Picture 13" descr="13_track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3886200"/>
            <a:ext cx="3657600" cy="228600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6190488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50" b="1" i="0">
                <a:solidFill>
                  <a:srgbClr val="A78BFA"/>
                </a:solidFill>
                <a:latin typeface="Segoe UI"/>
              </a:rPr>
              <a:t>Action tracker</a:t>
            </a:r>
          </a:p>
        </p:txBody>
      </p:sp>
      <p:pic>
        <p:nvPicPr>
          <p:cNvPr id="16" name="Picture 15" descr="14_calenda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3886200"/>
            <a:ext cx="3657600" cy="228600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6172200" y="6190488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50" b="1" i="0">
                <a:solidFill>
                  <a:srgbClr val="A78BFA"/>
                </a:solidFill>
                <a:latin typeface="Segoe UI"/>
              </a:rPr>
              <a:t>Calendar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Inside a meeting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pic>
        <p:nvPicPr>
          <p:cNvPr id="10" name="Picture 9" descr="06_meeting_tran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035040" cy="377190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48640" y="5852160"/>
            <a:ext cx="60350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 i="0">
                <a:solidFill>
                  <a:srgbClr val="A78BFA"/>
                </a:solidFill>
                <a:latin typeface="Segoe UI"/>
              </a:rPr>
              <a:t>Transcript with speaker names</a:t>
            </a:r>
          </a:p>
        </p:txBody>
      </p:sp>
      <p:pic>
        <p:nvPicPr>
          <p:cNvPr id="12" name="Picture 11" descr="07_meeting_ta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280160"/>
            <a:ext cx="3730751" cy="233172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812280" y="3611880"/>
            <a:ext cx="4846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A78BFA"/>
                </a:solidFill>
                <a:latin typeface="Segoe UI"/>
              </a:rPr>
              <a:t>Extracted action items</a:t>
            </a:r>
          </a:p>
        </p:txBody>
      </p:sp>
      <p:pic>
        <p:nvPicPr>
          <p:cNvPr id="14" name="Picture 13" descr="10_who_is_wh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096" y="4023360"/>
            <a:ext cx="3218688" cy="201168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812280" y="6053328"/>
            <a:ext cx="4846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A78BFA"/>
                </a:solidFill>
                <a:latin typeface="Segoe UI"/>
              </a:rPr>
              <a:t>Who is who - name the voices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Ask your meetings anything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pic>
        <p:nvPicPr>
          <p:cNvPr id="10" name="Picture 9" descr="11_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5943600" cy="371475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766560" y="1463040"/>
            <a:ext cx="4937760" cy="4937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Natural questions</a:t>
            </a:r>
            <a:r>
              <a:rPr sz="1500" b="0" i="0">
                <a:solidFill>
                  <a:srgbClr val="C9D0FF"/>
                </a:solidFill>
                <a:latin typeface="Segoe UI"/>
              </a:rPr>
              <a:t> "Who is responsible for the report?"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Sources shown</a:t>
            </a:r>
            <a:r>
              <a:rPr sz="1500" b="0" i="0">
                <a:solidFill>
                  <a:srgbClr val="C9D0FF"/>
                </a:solidFill>
                <a:latin typeface="Segoe UI"/>
              </a:rPr>
              <a:t> every answer links to the meeting and quote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Scope</a:t>
            </a:r>
            <a:r>
              <a:rPr sz="1500" b="0" i="0">
                <a:solidFill>
                  <a:srgbClr val="C9D0FF"/>
                </a:solidFill>
                <a:latin typeface="Segoe UI"/>
              </a:rPr>
              <a:t> one meeting, or all of them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Honest</a:t>
            </a:r>
            <a:r>
              <a:rPr sz="1500" b="0" i="0">
                <a:solidFill>
                  <a:srgbClr val="C9D0FF"/>
                </a:solidFill>
                <a:latin typeface="Segoe UI"/>
              </a:rPr>
              <a:t> "not found" when the transcripts do not say</a:t>
            </a:r>
          </a:p>
        </p:txBody>
      </p:sp>
      <p:pic>
        <p:nvPicPr>
          <p:cNvPr id="12" name="Picture 11" descr="12_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216" y="4069080"/>
            <a:ext cx="3584448" cy="224028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OUTPUTS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Minutes, e-mail, calendar and follow-ups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394960" cy="4937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Minutes (MoM)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generated on request, editable, Markdown / HTML / Word / PDF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E-mail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send the minutes straight from the app (SMTP) or open a prefilled draft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Calendar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.ics files and Google Calendar links - no OAuth, no stored tokens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Follow-ups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reminders and thank-you drafts, sent only after an explicit click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Nothing leaves the app without the user's say-so</a:t>
            </a:r>
          </a:p>
        </p:txBody>
      </p:sp>
      <p:pic>
        <p:nvPicPr>
          <p:cNvPr id="11" name="Picture 10" descr="09_outp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44065"/>
            <a:ext cx="5577840" cy="390138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OUTPUTS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Minutes of Meeting, ready to 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21</a:t>
            </a:r>
          </a:p>
        </p:txBody>
      </p:sp>
      <p:pic>
        <p:nvPicPr>
          <p:cNvPr id="10" name="Picture 9" descr="16_mom_pre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5760720" cy="360045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  <p:pic>
        <p:nvPicPr>
          <p:cNvPr id="11" name="Picture 10" descr="17_mom_expo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3468" y="1280160"/>
            <a:ext cx="3803904" cy="237744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  <p:pic>
        <p:nvPicPr>
          <p:cNvPr id="12" name="Picture 11" descr="18_followup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3468" y="3886200"/>
            <a:ext cx="3803904" cy="237744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TRANSPARENCY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NLP Lab: see the classical NLP at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22</a:t>
            </a:r>
          </a:p>
        </p:txBody>
      </p:sp>
      <p:pic>
        <p:nvPicPr>
          <p:cNvPr id="10" name="Picture 9" descr="19_nlplab_l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5852160" cy="365760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48640" y="5349240"/>
            <a:ext cx="58521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A78BFA"/>
                </a:solidFill>
                <a:latin typeface="Segoe UI"/>
              </a:rPr>
              <a:t>Live analyser - every sentence scored</a:t>
            </a:r>
          </a:p>
        </p:txBody>
      </p:sp>
      <p:pic>
        <p:nvPicPr>
          <p:cNvPr id="12" name="Picture 11" descr="20_nlplab_ev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75" y="1280160"/>
            <a:ext cx="3584448" cy="224028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629400" y="3547872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A78BFA"/>
                </a:solidFill>
                <a:latin typeface="Segoe UI"/>
              </a:rPr>
              <a:t>Evaluation - accuracy and confusion matrix</a:t>
            </a:r>
          </a:p>
        </p:txBody>
      </p:sp>
      <p:pic>
        <p:nvPicPr>
          <p:cNvPr id="14" name="Picture 13" descr="21_nlplab_gatewa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3931920"/>
            <a:ext cx="2926080" cy="1828800"/>
          </a:xfrm>
          <a:prstGeom prst="rect">
            <a:avLst/>
          </a:prstGeom>
          <a:ln w="12700">
            <a:solidFill>
              <a:srgbClr val="3B459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629400" y="5760720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A78BFA"/>
                </a:solidFill>
                <a:latin typeface="Segoe UI"/>
              </a:rPr>
              <a:t>Gateway log and threshold simulator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60720"/>
            <a:ext cx="585216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0" i="0">
                <a:solidFill>
                  <a:srgbClr val="C9D0FF"/>
                </a:solidFill>
                <a:latin typeface="Segoe UI"/>
              </a:rPr>
              <a:t>Every decision is stored with a reason code - nothing is a black box.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TECH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Technology and why we chose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394960" cy="4937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2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20" b="1" i="0">
                <a:solidFill>
                  <a:srgbClr val="FFFFFF"/>
                </a:solidFill>
                <a:latin typeface="Segoe UI"/>
              </a:rPr>
              <a:t>Streamlit</a:t>
            </a:r>
            <a:r>
              <a:rPr sz="1520" b="0" i="0">
                <a:solidFill>
                  <a:srgbClr val="C9D0FF"/>
                </a:solidFill>
                <a:latin typeface="Segoe UI"/>
              </a:rPr>
              <a:t> fast Python UI, free hosting, custom CSS theme</a:t>
            </a:r>
          </a:p>
          <a:p>
            <a:pPr algn="l">
              <a:spcAft>
                <a:spcPts val="1400"/>
              </a:spcAft>
            </a:pPr>
            <a:r>
              <a:rPr sz="152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20" b="1" i="0">
                <a:solidFill>
                  <a:srgbClr val="FFFFFF"/>
                </a:solidFill>
                <a:latin typeface="Segoe UI"/>
              </a:rPr>
              <a:t>SQLite + ChromaDB</a:t>
            </a:r>
            <a:r>
              <a:rPr sz="1520" b="0" i="0">
                <a:solidFill>
                  <a:srgbClr val="C9D0FF"/>
                </a:solidFill>
                <a:latin typeface="Segoe UI"/>
              </a:rPr>
              <a:t> zero-setup storage, no database server</a:t>
            </a:r>
          </a:p>
          <a:p>
            <a:pPr algn="l">
              <a:spcAft>
                <a:spcPts val="1400"/>
              </a:spcAft>
            </a:pPr>
            <a:r>
              <a:rPr sz="152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20" b="1" i="0">
                <a:solidFill>
                  <a:srgbClr val="FFFFFF"/>
                </a:solidFill>
                <a:latin typeface="Segoe UI"/>
              </a:rPr>
              <a:t>scikit-learn</a:t>
            </a:r>
            <a:r>
              <a:rPr sz="1520" b="0" i="0">
                <a:solidFill>
                  <a:srgbClr val="C9D0FF"/>
                </a:solidFill>
                <a:latin typeface="Segoe UI"/>
              </a:rPr>
              <a:t> TF-IDF + Naive Bayes, small and explainable</a:t>
            </a:r>
          </a:p>
          <a:p>
            <a:pPr algn="l">
              <a:spcAft>
                <a:spcPts val="1400"/>
              </a:spcAft>
            </a:pPr>
            <a:r>
              <a:rPr sz="152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20" b="1" i="0">
                <a:solidFill>
                  <a:srgbClr val="FFFFFF"/>
                </a:solidFill>
                <a:latin typeface="Segoe UI"/>
              </a:rPr>
              <a:t>ONNX MiniLM</a:t>
            </a:r>
            <a:r>
              <a:rPr sz="1520" b="0" i="0">
                <a:solidFill>
                  <a:srgbClr val="C9D0FF"/>
                </a:solidFill>
                <a:latin typeface="Segoe UI"/>
              </a:rPr>
              <a:t> embeddings without PyTorch (~1 GB RAM limit)</a:t>
            </a:r>
          </a:p>
          <a:p>
            <a:pPr algn="l">
              <a:spcAft>
                <a:spcPts val="1400"/>
              </a:spcAft>
            </a:pPr>
            <a:r>
              <a:rPr sz="152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20" b="1" i="0">
                <a:solidFill>
                  <a:srgbClr val="FFFFFF"/>
                </a:solidFill>
                <a:latin typeface="Segoe UI"/>
              </a:rPr>
              <a:t>Groq / Gemini / OpenRouter</a:t>
            </a:r>
            <a:r>
              <a:rPr sz="1520" b="0" i="0">
                <a:solidFill>
                  <a:srgbClr val="C9D0FF"/>
                </a:solidFill>
                <a:latin typeface="Segoe UI"/>
              </a:rPr>
              <a:t> free-tier LLMs behind one router</a:t>
            </a:r>
          </a:p>
          <a:p>
            <a:pPr algn="l">
              <a:spcAft>
                <a:spcPts val="1400"/>
              </a:spcAft>
            </a:pPr>
            <a:r>
              <a:rPr sz="152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20" b="1" i="0">
                <a:solidFill>
                  <a:srgbClr val="FFFFFF"/>
                </a:solidFill>
                <a:latin typeface="Segoe UI"/>
              </a:rPr>
              <a:t>pyannoteAI</a:t>
            </a:r>
            <a:r>
              <a:rPr sz="1520" b="0" i="0">
                <a:solidFill>
                  <a:srgbClr val="C9D0FF"/>
                </a:solidFill>
                <a:latin typeface="Segoe UI"/>
              </a:rPr>
              <a:t> speaker names without a GPU</a:t>
            </a:r>
          </a:p>
        </p:txBody>
      </p:sp>
      <p:pic>
        <p:nvPicPr>
          <p:cNvPr id="11" name="Picture 10" descr="12_tech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25472"/>
            <a:ext cx="5669280" cy="373857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HONEST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Assumptions and design decisions - with reasons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280160"/>
            <a:ext cx="5440680" cy="1161288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280160"/>
            <a:ext cx="5111496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26463"/>
            <a:ext cx="5120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Thresholds 0.80 / 0.15 / 0.85 / 0.85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38528"/>
            <a:ext cx="5074920" cy="429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C9D0FF"/>
                </a:solidFill>
                <a:latin typeface="Segoe UI"/>
              </a:rPr>
              <a:t>Sensible starting values, not optima. Owner and date are held to a higher bar than the label - a wrong owner hurts more. All are Settings sliders.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440680" cy="1161288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2512" y="1280160"/>
            <a:ext cx="5111496" cy="45720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426463"/>
            <a:ext cx="5120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Fusion weights 50 / 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38528"/>
            <a:ext cx="5074920" cy="429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C9D0FF"/>
                </a:solidFill>
                <a:latin typeface="Segoe UI"/>
              </a:rPr>
              <a:t>Naive Bayes alone is over-confident; rules keep scores honest. Hedged sentences x0.8.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532888"/>
            <a:ext cx="5440680" cy="1161288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532888"/>
            <a:ext cx="5111496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679192"/>
            <a:ext cx="5120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Template training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191256"/>
            <a:ext cx="5074920" cy="429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C9D0FF"/>
                </a:solidFill>
                <a:latin typeface="Segoe UI"/>
              </a:rPr>
              <a:t>No labelled meeting corpus exists; 610 generated sentences give a working start. NLP Lab reports accuracy on 42 hand-written tests.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532888"/>
            <a:ext cx="5440680" cy="1161288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82512" y="2532888"/>
            <a:ext cx="5111496" cy="4572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679192"/>
            <a:ext cx="5120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Vague dates stay empty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191256"/>
            <a:ext cx="5074920" cy="429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C9D0FF"/>
                </a:solidFill>
                <a:latin typeface="Segoe UI"/>
              </a:rPr>
              <a:t>An LLM cannot know what "soon" means; guessing would be worse than "Not specified".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785616"/>
            <a:ext cx="5440680" cy="1161288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3785616"/>
            <a:ext cx="5111496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931920"/>
            <a:ext cx="5120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Free-model names will 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443984"/>
            <a:ext cx="5074920" cy="429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C9D0FF"/>
                </a:solidFill>
                <a:latin typeface="Segoe UI"/>
              </a:rPr>
              <a:t>Catalogues are retired often, so the router discovers a working model itself.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785616"/>
            <a:ext cx="5440680" cy="1161288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82512" y="3785616"/>
            <a:ext cx="5111496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931920"/>
            <a:ext cx="5120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Calendar via links, not OAuth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443984"/>
            <a:ext cx="5074920" cy="429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C9D0FF"/>
                </a:solidFill>
                <a:latin typeface="Segoe UI"/>
              </a:rPr>
              <a:t>No stored tokens, works with any calendar.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038344"/>
            <a:ext cx="5440680" cy="1161288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3232" y="5038344"/>
            <a:ext cx="5111496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184648"/>
            <a:ext cx="5120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Disk is temporary on free hosting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696712"/>
            <a:ext cx="5074920" cy="429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C9D0FF"/>
                </a:solidFill>
                <a:latin typeface="Segoe UI"/>
              </a:rPr>
              <a:t>A persistent database would be paid, so backup / restore is built in.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5038344"/>
            <a:ext cx="5440680" cy="1161288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82512" y="5038344"/>
            <a:ext cx="5111496" cy="45720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5184648"/>
            <a:ext cx="5120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English-language focus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696712"/>
            <a:ext cx="5074920" cy="429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C9D0FF"/>
                </a:solidFill>
                <a:latin typeface="Segoe UI"/>
              </a:rPr>
              <a:t>Models, cue patterns and seed data are English.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309360"/>
            <a:ext cx="1097280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" b="0" i="0">
                <a:solidFill>
                  <a:srgbClr val="C9D0FF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Security, privacy and honesty by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7160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371600"/>
            <a:ext cx="3282696" cy="45720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1790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Keys stay secret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029967"/>
            <a:ext cx="3246120" cy="137159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C9D0FF"/>
                </a:solidFill>
                <a:latin typeface="Segoe UI"/>
              </a:rPr>
              <a:t>Never in the database or repo - Streamlit secrets or typed into Settings.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37160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62271" y="1371600"/>
            <a:ext cx="3282696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151790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Password 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2029967"/>
            <a:ext cx="3246120" cy="137159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C9D0FF"/>
                </a:solidFill>
                <a:latin typeface="Segoe UI"/>
              </a:rPr>
              <a:t>APP_PASSWORD protects a public deployment (constant-time check).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37160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1" y="1371600"/>
            <a:ext cx="3282696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9" y="151790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Confirm before acting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2029967"/>
            <a:ext cx="3246120" cy="137159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C9D0FF"/>
                </a:solidFill>
                <a:latin typeface="Segoe UI"/>
              </a:rPr>
              <a:t>E-mails and follow-ups go out only after an explicit click.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3703320"/>
            <a:ext cx="3282696" cy="4572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84962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Data is just 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361688"/>
            <a:ext cx="3246120" cy="137159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C9D0FF"/>
                </a:solidFill>
                <a:latin typeface="Segoe UI"/>
              </a:rPr>
              <a:t>Transcripts and LLM output cannot trigger actions and must pass validation.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79" y="370332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62271" y="3703320"/>
            <a:ext cx="3282696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59" y="384962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Voice privacy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59" y="4361688"/>
            <a:ext cx="3246120" cy="137159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C9D0FF"/>
                </a:solidFill>
                <a:latin typeface="Segoe UI"/>
              </a:rPr>
              <a:t>Voiceprints only for people who agreed; delete any time. LLM can be switched off per meeting.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370332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11311" y="3703320"/>
            <a:ext cx="3282696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9" y="3849624"/>
            <a:ext cx="3291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Says "I don't know"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4361688"/>
            <a:ext cx="3246120" cy="137159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C9D0FF"/>
                </a:solidFill>
                <a:latin typeface="Segoe UI"/>
              </a:rPr>
              <a:t>Unassigned / Not specified / Not found / Needs review - never a guess.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Deployed free on Streamlit Community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394960" cy="4937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50" b="1" i="0">
                <a:solidFill>
                  <a:srgbClr val="FFFFFF"/>
                </a:solidFill>
                <a:latin typeface="Segoe UI"/>
              </a:rPr>
              <a:t>Flow</a:t>
            </a:r>
            <a:r>
              <a:rPr sz="1550" b="0" i="0">
                <a:solidFill>
                  <a:srgbClr val="C9D0FF"/>
                </a:solidFill>
                <a:latin typeface="Segoe UI"/>
              </a:rPr>
              <a:t> git push to GitHub; Streamlit builds and redeploys automatically</a:t>
            </a:r>
          </a:p>
          <a:p>
            <a:pPr algn="l">
              <a:spcAft>
                <a:spcPts val="1400"/>
              </a:spcAft>
            </a:pPr>
            <a:r>
              <a:rPr sz="15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50" b="1" i="0">
                <a:solidFill>
                  <a:srgbClr val="FFFFFF"/>
                </a:solidFill>
                <a:latin typeface="Segoe UI"/>
              </a:rPr>
              <a:t>Install</a:t>
            </a:r>
            <a:r>
              <a:rPr sz="1550" b="0" i="0">
                <a:solidFill>
                  <a:srgbClr val="C9D0FF"/>
                </a:solidFill>
                <a:latin typeface="Segoe UI"/>
              </a:rPr>
              <a:t> requirements.txt (Python) + packages.txt (FFmpeg)</a:t>
            </a:r>
          </a:p>
          <a:p>
            <a:pPr algn="l">
              <a:spcAft>
                <a:spcPts val="1400"/>
              </a:spcAft>
            </a:pPr>
            <a:r>
              <a:rPr sz="15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50" b="1" i="0">
                <a:solidFill>
                  <a:srgbClr val="FFFFFF"/>
                </a:solidFill>
                <a:latin typeface="Segoe UI"/>
              </a:rPr>
              <a:t>Secrets</a:t>
            </a:r>
            <a:r>
              <a:rPr sz="1550" b="0" i="0">
                <a:solidFill>
                  <a:srgbClr val="C9D0FF"/>
                </a:solidFill>
                <a:latin typeface="Segoe UI"/>
              </a:rPr>
              <a:t> API keys pasted into the app's Secrets box</a:t>
            </a:r>
          </a:p>
          <a:p>
            <a:pPr algn="l">
              <a:spcAft>
                <a:spcPts val="1400"/>
              </a:spcAft>
            </a:pPr>
            <a:r>
              <a:rPr sz="15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50" b="1" i="0">
                <a:solidFill>
                  <a:srgbClr val="FFFFFF"/>
                </a:solidFill>
                <a:latin typeface="Segoe UI"/>
              </a:rPr>
              <a:t>Shaped by the free tier</a:t>
            </a:r>
            <a:r>
              <a:rPr sz="1550" b="0" i="0">
                <a:solidFill>
                  <a:srgbClr val="C9D0FF"/>
                </a:solidFill>
                <a:latin typeface="Segoe UI"/>
              </a:rPr>
              <a:t> ~1 GB RAM (ONNX not PyTorch), sleeps when idle, temporary disk (backup in Settings)</a:t>
            </a:r>
          </a:p>
          <a:p>
            <a:pPr algn="l">
              <a:spcAft>
                <a:spcPts val="1400"/>
              </a:spcAft>
            </a:pPr>
            <a:r>
              <a:rPr sz="15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550" b="1" i="0">
                <a:solidFill>
                  <a:srgbClr val="FFFFFF"/>
                </a:solidFill>
                <a:latin typeface="Segoe UI"/>
              </a:rPr>
              <a:t>Live</a:t>
            </a:r>
            <a:r>
              <a:rPr sz="1550" b="0" i="0">
                <a:solidFill>
                  <a:srgbClr val="C9D0FF"/>
                </a:solidFill>
                <a:latin typeface="Segoe UI"/>
              </a:rPr>
              <a:t> gd4n8x8sjkkxmdhfptkc9m.streamlit.app</a:t>
            </a:r>
          </a:p>
        </p:txBody>
      </p:sp>
      <p:pic>
        <p:nvPicPr>
          <p:cNvPr id="11" name="Picture 10" descr="10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01851"/>
            <a:ext cx="5669280" cy="498581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82296" cy="5669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918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864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Segoe UI"/>
              </a:rPr>
              <a:t>MeetingAI in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E99E0"/>
                </a:solidFill>
                <a:latin typeface="Segoe UI"/>
              </a:rPr>
              <a:t>MeetingAI  ·  Project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48695" y="64282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1B2360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8695" y="6428232"/>
            <a:ext cx="594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71600"/>
            <a:ext cx="3611880" cy="1143000"/>
          </a:xfrm>
          <a:prstGeom prst="roundRect">
            <a:avLst>
              <a:gd name="adj" fmla="val 10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361188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A78BFA"/>
                </a:solidFill>
                <a:latin typeface="Segoe UI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66543"/>
            <a:ext cx="3429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C9D0FF"/>
                </a:solidFill>
                <a:latin typeface="Segoe UI"/>
              </a:rPr>
              <a:t>processing steps per meeting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371600"/>
            <a:ext cx="3611880" cy="1143000"/>
          </a:xfrm>
          <a:prstGeom prst="roundRect">
            <a:avLst>
              <a:gd name="adj" fmla="val 10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463040"/>
            <a:ext cx="361188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14B8A6"/>
                </a:solidFill>
                <a:latin typeface="Segoe UI"/>
              </a:rPr>
              <a:t>610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19" y="2066543"/>
            <a:ext cx="3429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C9D0FF"/>
                </a:solidFill>
                <a:latin typeface="Segoe UI"/>
              </a:rPr>
              <a:t>template sentences train the classifier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371600"/>
            <a:ext cx="3611880" cy="1143000"/>
          </a:xfrm>
          <a:prstGeom prst="roundRect">
            <a:avLst>
              <a:gd name="adj" fmla="val 10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9" y="1463040"/>
            <a:ext cx="361188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F59E0B"/>
                </a:solidFill>
                <a:latin typeface="Sego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59" y="2066543"/>
            <a:ext cx="3429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C9D0FF"/>
                </a:solidFill>
                <a:latin typeface="Segoe UI"/>
              </a:rPr>
              <a:t>gateway questions guard every item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743200"/>
            <a:ext cx="3611880" cy="1143000"/>
          </a:xfrm>
          <a:prstGeom prst="roundRect">
            <a:avLst>
              <a:gd name="adj" fmla="val 10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834640"/>
            <a:ext cx="361188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F472B6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38144"/>
            <a:ext cx="3429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C9D0FF"/>
                </a:solidFill>
                <a:latin typeface="Segoe UI"/>
              </a:rPr>
              <a:t>free LLM providers behind one router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2743200"/>
            <a:ext cx="3611880" cy="1143000"/>
          </a:xfrm>
          <a:prstGeom prst="roundRect">
            <a:avLst>
              <a:gd name="adj" fmla="val 10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834640"/>
            <a:ext cx="361188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34D399"/>
                </a:solidFill>
                <a:latin typeface="Segoe UI"/>
              </a:rP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19" y="3438144"/>
            <a:ext cx="3429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C9D0FF"/>
                </a:solidFill>
                <a:latin typeface="Segoe UI"/>
              </a:rPr>
              <a:t>pages in the app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2743200"/>
            <a:ext cx="3611880" cy="1143000"/>
          </a:xfrm>
          <a:prstGeom prst="roundRect">
            <a:avLst>
              <a:gd name="adj" fmla="val 10000"/>
            </a:avLst>
          </a:prstGeom>
          <a:solidFill>
            <a:srgbClr val="151B4D"/>
          </a:solidFill>
          <a:ln w="12700">
            <a:solidFill>
              <a:srgbClr val="3B4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19" y="2834640"/>
            <a:ext cx="361188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2563EB"/>
                </a:solidFill>
                <a:latin typeface="Segoe UI"/>
              </a:rPr>
              <a:t>Free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59" y="3438144"/>
            <a:ext cx="3429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C9D0FF"/>
                </a:solidFill>
                <a:latin typeface="Segoe UI"/>
              </a:rPr>
              <a:t>to run - free tiers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297680"/>
            <a:ext cx="11064240" cy="4937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Classical NLP first,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LLM only where unsure, code verifies everything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Names on every voice,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tasks with owners and deadlines, decisions, events, minutes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Honest by design:</a:t>
            </a:r>
            <a:r>
              <a:rPr sz="1600" b="0" i="0">
                <a:solidFill>
                  <a:srgbClr val="C9D0FF"/>
                </a:solidFill>
                <a:latin typeface="Segoe UI"/>
              </a:rPr>
              <a:t> it says "not specified" rather than guessing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766560" y="-2286000"/>
            <a:ext cx="8229600" cy="8229600"/>
          </a:xfrm>
          <a:prstGeom prst="ellipse">
            <a:avLst/>
          </a:prstGeom>
          <a:solidFill>
            <a:srgbClr val="1A1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3840480"/>
            <a:ext cx="5943600" cy="5943600"/>
          </a:xfrm>
          <a:prstGeom prst="ellipse">
            <a:avLst/>
          </a:prstGeom>
          <a:solidFill>
            <a:srgbClr val="141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0584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0584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C9D0FF"/>
                </a:solidFill>
                <a:latin typeface="Segoe UI"/>
              </a:rPr>
              <a:t>Questions?  Try it live - upload a meeting and ask it anything.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46120"/>
            <a:ext cx="1463040" cy="45720"/>
          </a:xfrm>
          <a:prstGeom prst="rect">
            <a:avLst/>
          </a:prstGeom>
          <a:solidFill>
            <a:srgbClr val="6D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4747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8E99E0"/>
                </a:solidFill>
                <a:latin typeface="Segoe UI"/>
              </a:rPr>
              <a:t>LIVE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9039"/>
            <a:ext cx="8229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https://gd4n8x8sjkkxmdhfptkc9m.streamlit.app/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9768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8E99E0"/>
                </a:solidFill>
                <a:latin typeface="Segoe UI"/>
              </a:rPr>
              <a:t>SOURCE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72000"/>
            <a:ext cx="8229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https://github.com/nidhitiwari23/Meeting-AI-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8E99E0"/>
                </a:solidFill>
                <a:latin typeface="Segoe UI"/>
              </a:rPr>
              <a:t>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6400"/>
            <a:ext cx="329184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Nidhi Tiwari  </a:t>
            </a:r>
            <a:r>
              <a:rPr sz="1400" b="1" i="0">
                <a:solidFill>
                  <a:srgbClr val="A78BFA"/>
                </a:solidFill>
                <a:latin typeface="Segoe UI"/>
              </a:rPr>
              <a:t>A033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5486400"/>
            <a:ext cx="329184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Dhruvi Devalia  </a:t>
            </a:r>
            <a:r>
              <a:rPr sz="1400" b="1" i="0">
                <a:solidFill>
                  <a:srgbClr val="A78BFA"/>
                </a:solidFill>
                <a:latin typeface="Segoe UI"/>
              </a:rPr>
              <a:t>A044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33872"/>
            <a:ext cx="329184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Jivesh Gawde  </a:t>
            </a:r>
            <a:r>
              <a:rPr sz="1400" b="1" i="0">
                <a:solidFill>
                  <a:srgbClr val="A78BFA"/>
                </a:solidFill>
                <a:latin typeface="Segoe UI"/>
              </a:rPr>
              <a:t>A057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5833872"/>
            <a:ext cx="329184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Yashika Parmar  </a:t>
            </a:r>
            <a:r>
              <a:rPr sz="1400" b="1" i="0">
                <a:solidFill>
                  <a:srgbClr val="A78BFA"/>
                </a:solidFill>
                <a:latin typeface="Segoe UI"/>
              </a:rPr>
              <a:t>A061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